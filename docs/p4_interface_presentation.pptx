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31"/>
  </p:normalViewPr>
  <p:slideViewPr>
    <p:cSldViewPr snapToGrid="0">
      <p:cViewPr varScale="1">
        <p:scale>
          <a:sx n="122" d="100"/>
          <a:sy n="122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ro-shade">
            <a:extLst>
              <a:ext uri="{FF2B5EF4-FFF2-40B4-BE49-F238E27FC236}">
                <a16:creationId xmlns:a16="http://schemas.microsoft.com/office/drawing/2014/main" id="{9F0EFD43-4A14-4F80-8735-CA5430BF12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0">
            <a:noFill/>
            <a:prstDash val="solid"/>
          </a:ln>
        </p:spPr>
      </p:sp>
      <p:sp>
        <p:nvSpPr>
          <p:cNvPr id="3" name="accent-rule">
            <a:extLst>
              <a:ext uri="{FF2B5EF4-FFF2-40B4-BE49-F238E27FC236}">
                <a16:creationId xmlns:a16="http://schemas.microsoft.com/office/drawing/2014/main" id="{E281F096-B187-4D84-9F6E-2AC0ECE241D0}"/>
              </a:ext>
            </a:extLst>
          </p:cNvPr>
          <p:cNvSpPr>
            <a:spLocks noGrp="1"/>
          </p:cNvSpPr>
          <p:nvPr/>
        </p:nvSpPr>
        <p:spPr>
          <a:xfrm>
            <a:off x="552450" y="838200"/>
            <a:ext cx="1123950" cy="57150"/>
          </a:xfrm>
          <a:prstGeom prst="rect">
            <a:avLst/>
          </a:prstGeom>
          <a:solidFill>
            <a:srgbClr val="16B8C7"/>
          </a:solidFill>
          <a:ln w="0">
            <a:solidFill>
              <a:srgbClr val="16B8C7"/>
            </a:solidFill>
            <a:prstDash val="solid"/>
          </a:ln>
        </p:spPr>
      </p:sp>
      <p:sp>
        <p:nvSpPr>
          <p:cNvPr id="4" name="hero-kicker">
            <a:extLst>
              <a:ext uri="{FF2B5EF4-FFF2-40B4-BE49-F238E27FC236}">
                <a16:creationId xmlns:a16="http://schemas.microsoft.com/office/drawing/2014/main" id="{EF19432B-7AF9-40C4-99B6-53B8B46D86DD}"/>
              </a:ext>
            </a:extLst>
          </p:cNvPr>
          <p:cNvSpPr>
            <a:spLocks noGrp="1"/>
          </p:cNvSpPr>
          <p:nvPr/>
        </p:nvSpPr>
        <p:spPr>
          <a:xfrm>
            <a:off x="552450" y="1123950"/>
            <a:ext cx="419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9EE8F0"/>
                </a:solidFill>
              </a:defRPr>
            </a:pPr>
            <a:r>
              <a:rPr sz="1350" b="1">
                <a:solidFill>
                  <a:srgbClr val="9EE8F0"/>
                </a:solidFill>
              </a:rPr>
              <a:t>P1 + P2 + P3 + P4</a:t>
            </a:r>
          </a:p>
        </p:txBody>
      </p:sp>
      <p:sp>
        <p:nvSpPr>
          <p:cNvPr id="5" name="hero-title">
            <a:extLst>
              <a:ext uri="{FF2B5EF4-FFF2-40B4-BE49-F238E27FC236}">
                <a16:creationId xmlns:a16="http://schemas.microsoft.com/office/drawing/2014/main" id="{A8A0393F-0EE6-4365-917B-393356169448}"/>
              </a:ext>
            </a:extLst>
          </p:cNvPr>
          <p:cNvSpPr>
            <a:spLocks noGrp="1"/>
          </p:cNvSpPr>
          <p:nvPr/>
        </p:nvSpPr>
        <p:spPr>
          <a:xfrm>
            <a:off x="552450" y="1600200"/>
            <a:ext cx="72390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 err="1">
                <a:solidFill>
                  <a:srgbClr val="FFFFFF"/>
                </a:solidFill>
              </a:rPr>
              <a:t>Автоматическая</a:t>
            </a:r>
            <a:r>
              <a:rPr sz="4200" b="1" dirty="0">
                <a:solidFill>
                  <a:srgbClr val="FFFFFF"/>
                </a:solidFill>
              </a:rPr>
              <a:t> </a:t>
            </a:r>
            <a:r>
              <a:rPr sz="4200" b="1" dirty="0" err="1">
                <a:solidFill>
                  <a:srgbClr val="FFFFFF"/>
                </a:solidFill>
              </a:rPr>
              <a:t>сортировка</a:t>
            </a:r>
            <a:r>
              <a:rPr sz="4200" b="1" dirty="0">
                <a:solidFill>
                  <a:srgbClr val="FFFFFF"/>
                </a:solidFill>
              </a:rPr>
              <a:t> </a:t>
            </a:r>
            <a:r>
              <a:rPr sz="4200" b="1" dirty="0" err="1">
                <a:solidFill>
                  <a:srgbClr val="FFFFFF"/>
                </a:solidFill>
              </a:rPr>
              <a:t>руды</a:t>
            </a:r>
            <a:r>
              <a:rPr sz="4200" b="1" dirty="0">
                <a:solidFill>
                  <a:srgbClr val="FFFFFF"/>
                </a:solidFill>
              </a:rPr>
              <a:t> </a:t>
            </a:r>
            <a:r>
              <a:rPr sz="4200" b="1" dirty="0" err="1">
                <a:solidFill>
                  <a:srgbClr val="FFFFFF"/>
                </a:solidFill>
              </a:rPr>
              <a:t>по</a:t>
            </a:r>
            <a:r>
              <a:rPr sz="4200" b="1" dirty="0">
                <a:solidFill>
                  <a:srgbClr val="FFFFFF"/>
                </a:solidFill>
              </a:rPr>
              <a:t> </a:t>
            </a:r>
            <a:r>
              <a:rPr sz="4200" b="1" dirty="0" err="1">
                <a:solidFill>
                  <a:srgbClr val="FFFFFF"/>
                </a:solidFill>
              </a:rPr>
              <a:t>микрофото</a:t>
            </a:r>
            <a:endParaRPr sz="4200" b="1" dirty="0">
              <a:solidFill>
                <a:srgbClr val="FFFFFF"/>
              </a:solidFill>
            </a:endParaRPr>
          </a:p>
        </p:txBody>
      </p:sp>
      <p:sp>
        <p:nvSpPr>
          <p:cNvPr id="6" name="hero-sub">
            <a:extLst>
              <a:ext uri="{FF2B5EF4-FFF2-40B4-BE49-F238E27FC236}">
                <a16:creationId xmlns:a16="http://schemas.microsoft.com/office/drawing/2014/main" id="{2D335950-69EB-4E1D-841D-58C5E11FF962}"/>
              </a:ext>
            </a:extLst>
          </p:cNvPr>
          <p:cNvSpPr>
            <a:spLocks noGrp="1"/>
          </p:cNvSpPr>
          <p:nvPr/>
        </p:nvSpPr>
        <p:spPr>
          <a:xfrm>
            <a:off x="552450" y="3524250"/>
            <a:ext cx="685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>
                <a:solidFill>
                  <a:srgbClr val="D8E7F7"/>
                </a:solidFill>
              </a:defRPr>
            </a:pPr>
            <a:r>
              <a:rPr sz="1725">
                <a:solidFill>
                  <a:srgbClr val="D8E7F7"/>
                </a:solidFill>
              </a:rPr>
              <a:t>Программа принимает фото аншлифа, определяет сорт руды и показывает зоны талька синей маской с расчётом процента.</a:t>
            </a:r>
          </a:p>
        </p:txBody>
      </p:sp>
      <p:sp>
        <p:nvSpPr>
          <p:cNvPr id="7" name="pill">
            <a:extLst>
              <a:ext uri="{FF2B5EF4-FFF2-40B4-BE49-F238E27FC236}">
                <a16:creationId xmlns:a16="http://schemas.microsoft.com/office/drawing/2014/main" id="{A4838DB0-A10A-416E-82EE-86EC7A93BC53}"/>
              </a:ext>
            </a:extLst>
          </p:cNvPr>
          <p:cNvSpPr>
            <a:spLocks noGrp="1"/>
          </p:cNvSpPr>
          <p:nvPr/>
        </p:nvSpPr>
        <p:spPr>
          <a:xfrm>
            <a:off x="552450" y="4686300"/>
            <a:ext cx="1638300" cy="3810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16B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pill-text">
            <a:extLst>
              <a:ext uri="{FF2B5EF4-FFF2-40B4-BE49-F238E27FC236}">
                <a16:creationId xmlns:a16="http://schemas.microsoft.com/office/drawing/2014/main" id="{17F213B8-7337-497F-8C4A-B168F51B6AD9}"/>
              </a:ext>
            </a:extLst>
          </p:cNvPr>
          <p:cNvSpPr>
            <a:spLocks noGrp="1"/>
          </p:cNvSpPr>
          <p:nvPr/>
        </p:nvSpPr>
        <p:spPr>
          <a:xfrm>
            <a:off x="685800" y="4772025"/>
            <a:ext cx="1371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B8C7"/>
                </a:solidFill>
              </a:defRPr>
            </a:pPr>
            <a:r>
              <a:rPr sz="1125" b="1">
                <a:solidFill>
                  <a:srgbClr val="16B8C7"/>
                </a:solidFill>
              </a:rPr>
              <a:t>вердикт сорта</a:t>
            </a:r>
          </a:p>
        </p:txBody>
      </p:sp>
      <p:sp>
        <p:nvSpPr>
          <p:cNvPr id="9" name="pill">
            <a:extLst>
              <a:ext uri="{FF2B5EF4-FFF2-40B4-BE49-F238E27FC236}">
                <a16:creationId xmlns:a16="http://schemas.microsoft.com/office/drawing/2014/main" id="{4610A937-828A-4A09-BB8A-0834261CFF75}"/>
              </a:ext>
            </a:extLst>
          </p:cNvPr>
          <p:cNvSpPr>
            <a:spLocks noGrp="1"/>
          </p:cNvSpPr>
          <p:nvPr/>
        </p:nvSpPr>
        <p:spPr>
          <a:xfrm>
            <a:off x="2343150" y="4686300"/>
            <a:ext cx="1638300" cy="3810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16B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pill-text">
            <a:extLst>
              <a:ext uri="{FF2B5EF4-FFF2-40B4-BE49-F238E27FC236}">
                <a16:creationId xmlns:a16="http://schemas.microsoft.com/office/drawing/2014/main" id="{67AC3EF3-F85D-4E4C-BCF2-86A5DB66A76B}"/>
              </a:ext>
            </a:extLst>
          </p:cNvPr>
          <p:cNvSpPr>
            <a:spLocks noGrp="1"/>
          </p:cNvSpPr>
          <p:nvPr/>
        </p:nvSpPr>
        <p:spPr>
          <a:xfrm>
            <a:off x="2476500" y="4772025"/>
            <a:ext cx="1371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B8C7"/>
                </a:solidFill>
              </a:defRPr>
            </a:pPr>
            <a:r>
              <a:rPr sz="1125" b="1">
                <a:solidFill>
                  <a:srgbClr val="16B8C7"/>
                </a:solidFill>
              </a:rPr>
              <a:t>маска талька</a:t>
            </a:r>
          </a:p>
        </p:txBody>
      </p:sp>
      <p:sp>
        <p:nvSpPr>
          <p:cNvPr id="11" name="pill">
            <a:extLst>
              <a:ext uri="{FF2B5EF4-FFF2-40B4-BE49-F238E27FC236}">
                <a16:creationId xmlns:a16="http://schemas.microsoft.com/office/drawing/2014/main" id="{0D38BA80-1CAA-4EEE-ACC3-115D9E9AB369}"/>
              </a:ext>
            </a:extLst>
          </p:cNvPr>
          <p:cNvSpPr>
            <a:spLocks noGrp="1"/>
          </p:cNvSpPr>
          <p:nvPr/>
        </p:nvSpPr>
        <p:spPr>
          <a:xfrm>
            <a:off x="4133850" y="4686300"/>
            <a:ext cx="1695450" cy="3810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16B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pill-text">
            <a:extLst>
              <a:ext uri="{FF2B5EF4-FFF2-40B4-BE49-F238E27FC236}">
                <a16:creationId xmlns:a16="http://schemas.microsoft.com/office/drawing/2014/main" id="{30DD3F1C-FFA5-4234-9068-395EEF899874}"/>
              </a:ext>
            </a:extLst>
          </p:cNvPr>
          <p:cNvSpPr>
            <a:spLocks noGrp="1"/>
          </p:cNvSpPr>
          <p:nvPr/>
        </p:nvSpPr>
        <p:spPr>
          <a:xfrm>
            <a:off x="4267200" y="47720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B8C7"/>
                </a:solidFill>
              </a:defRPr>
            </a:pPr>
            <a:r>
              <a:rPr sz="1125" b="1">
                <a:solidFill>
                  <a:srgbClr val="16B8C7"/>
                </a:solidFill>
              </a:rPr>
              <a:t>отчёт для сдачи</a:t>
            </a:r>
          </a:p>
        </p:txBody>
      </p:sp>
      <p:sp>
        <p:nvSpPr>
          <p:cNvPr id="13" name="footer-left">
            <a:extLst>
              <a:ext uri="{FF2B5EF4-FFF2-40B4-BE49-F238E27FC236}">
                <a16:creationId xmlns:a16="http://schemas.microsoft.com/office/drawing/2014/main" id="{E952257C-3DB3-4C77-BC3B-7994290A7C88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14" name="footer-num">
            <a:extLst>
              <a:ext uri="{FF2B5EF4-FFF2-40B4-BE49-F238E27FC236}">
                <a16:creationId xmlns:a16="http://schemas.microsoft.com/office/drawing/2014/main" id="{360FBD9E-3B9D-4F9A-8E47-BB9BC4200F0C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84871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-title">
            <a:extLst>
              <a:ext uri="{FF2B5EF4-FFF2-40B4-BE49-F238E27FC236}">
                <a16:creationId xmlns:a16="http://schemas.microsoft.com/office/drawing/2014/main" id="{BF7F4BA1-F8BE-4700-B376-8C3F38A67B9B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Одна загрузка заменяет ручную первичную оценку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C099876F-F50D-4BC3-99CC-E89EAFE6BEF5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Геолог получает не только класс, но и объясняющую маску талька.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EDA265DC-E682-45C2-BEB6-DD711A232D11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35230F1F-5AAD-4A86-BAB2-4FD8EC16AF52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5" name="body-card">
            <a:extLst>
              <a:ext uri="{FF2B5EF4-FFF2-40B4-BE49-F238E27FC236}">
                <a16:creationId xmlns:a16="http://schemas.microsoft.com/office/drawing/2014/main" id="{6E9608EF-EF4F-42C3-AA5A-430BEAD1CF66}"/>
              </a:ext>
            </a:extLst>
          </p:cNvPr>
          <p:cNvSpPr>
            <a:spLocks noGrp="1"/>
          </p:cNvSpPr>
          <p:nvPr/>
        </p:nvSpPr>
        <p:spPr>
          <a:xfrm>
            <a:off x="666750" y="211455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accent-rule">
            <a:extLst>
              <a:ext uri="{FF2B5EF4-FFF2-40B4-BE49-F238E27FC236}">
                <a16:creationId xmlns:a16="http://schemas.microsoft.com/office/drawing/2014/main" id="{E7A6910F-8305-46CC-B9C8-F69BE5648482}"/>
              </a:ext>
            </a:extLst>
          </p:cNvPr>
          <p:cNvSpPr>
            <a:spLocks noGrp="1"/>
          </p:cNvSpPr>
          <p:nvPr/>
        </p:nvSpPr>
        <p:spPr>
          <a:xfrm>
            <a:off x="666750" y="2114550"/>
            <a:ext cx="66675" cy="2381250"/>
          </a:xfrm>
          <a:prstGeom prst="rect">
            <a:avLst/>
          </a:prstGeom>
          <a:solidFill>
            <a:srgbClr val="B23B3B"/>
          </a:solidFill>
          <a:ln w="0">
            <a:solidFill>
              <a:srgbClr val="B23B3B"/>
            </a:solidFill>
            <a:prstDash val="solid"/>
          </a:ln>
        </p:spPr>
      </p:sp>
      <p:sp>
        <p:nvSpPr>
          <p:cNvPr id="7" name="body-card-heading">
            <a:extLst>
              <a:ext uri="{FF2B5EF4-FFF2-40B4-BE49-F238E27FC236}">
                <a16:creationId xmlns:a16="http://schemas.microsoft.com/office/drawing/2014/main" id="{F4BCCAC4-4FF4-4028-B155-DBE504B1B20E}"/>
              </a:ext>
            </a:extLst>
          </p:cNvPr>
          <p:cNvSpPr>
            <a:spLocks noGrp="1"/>
          </p:cNvSpPr>
          <p:nvPr/>
        </p:nvSpPr>
        <p:spPr>
          <a:xfrm>
            <a:off x="895350" y="23241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B23B3B"/>
                </a:solidFill>
              </a:defRPr>
            </a:pPr>
            <a:r>
              <a:rPr sz="1725" b="1">
                <a:solidFill>
                  <a:srgbClr val="B23B3B"/>
                </a:solidFill>
              </a:rPr>
              <a:t>Проблема</a:t>
            </a:r>
          </a:p>
        </p:txBody>
      </p:sp>
      <p:sp>
        <p:nvSpPr>
          <p:cNvPr id="8" name="body-card-body">
            <a:extLst>
              <a:ext uri="{FF2B5EF4-FFF2-40B4-BE49-F238E27FC236}">
                <a16:creationId xmlns:a16="http://schemas.microsoft.com/office/drawing/2014/main" id="{55F6E572-F6C0-4C13-80E5-98919219D150}"/>
              </a:ext>
            </a:extLst>
          </p:cNvPr>
          <p:cNvSpPr>
            <a:spLocks noGrp="1"/>
          </p:cNvSpPr>
          <p:nvPr/>
        </p:nvSpPr>
        <p:spPr>
          <a:xfrm>
            <a:off x="895350" y="2762250"/>
            <a:ext cx="268605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Сорт руды часто определяется визуально. Это долго, зависит от эксперта и плохо масштабируется на поток снимков.</a:t>
            </a:r>
          </a:p>
        </p:txBody>
      </p:sp>
      <p:sp>
        <p:nvSpPr>
          <p:cNvPr id="9" name="arrow">
            <a:extLst>
              <a:ext uri="{FF2B5EF4-FFF2-40B4-BE49-F238E27FC236}">
                <a16:creationId xmlns:a16="http://schemas.microsoft.com/office/drawing/2014/main" id="{042FEF91-387B-4EE6-8403-B715EC799B7F}"/>
              </a:ext>
            </a:extLst>
          </p:cNvPr>
          <p:cNvSpPr>
            <a:spLocks noGrp="1"/>
          </p:cNvSpPr>
          <p:nvPr/>
        </p:nvSpPr>
        <p:spPr>
          <a:xfrm>
            <a:off x="4000500" y="3028950"/>
            <a:ext cx="457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94A3B8"/>
                </a:solidFill>
              </a:defRPr>
            </a:pPr>
            <a:r>
              <a:rPr sz="25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0" name="body-card">
            <a:extLst>
              <a:ext uri="{FF2B5EF4-FFF2-40B4-BE49-F238E27FC236}">
                <a16:creationId xmlns:a16="http://schemas.microsoft.com/office/drawing/2014/main" id="{6CB841E8-FAF2-4FB0-94BB-BB276F07DE59}"/>
              </a:ext>
            </a:extLst>
          </p:cNvPr>
          <p:cNvSpPr>
            <a:spLocks noGrp="1"/>
          </p:cNvSpPr>
          <p:nvPr/>
        </p:nvSpPr>
        <p:spPr>
          <a:xfrm>
            <a:off x="4495800" y="211455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accent-rule">
            <a:extLst>
              <a:ext uri="{FF2B5EF4-FFF2-40B4-BE49-F238E27FC236}">
                <a16:creationId xmlns:a16="http://schemas.microsoft.com/office/drawing/2014/main" id="{8D2583C6-3B22-440A-9B62-E7A5957F580D}"/>
              </a:ext>
            </a:extLst>
          </p:cNvPr>
          <p:cNvSpPr>
            <a:spLocks noGrp="1"/>
          </p:cNvSpPr>
          <p:nvPr/>
        </p:nvSpPr>
        <p:spPr>
          <a:xfrm>
            <a:off x="4495800" y="2114550"/>
            <a:ext cx="66675" cy="2381250"/>
          </a:xfrm>
          <a:prstGeom prst="rect">
            <a:avLst/>
          </a:prstGeom>
          <a:solidFill>
            <a:srgbClr val="1656C9"/>
          </a:solidFill>
          <a:ln w="0">
            <a:solidFill>
              <a:srgbClr val="1656C9"/>
            </a:solidFill>
            <a:prstDash val="solid"/>
          </a:ln>
        </p:spPr>
      </p:sp>
      <p:sp>
        <p:nvSpPr>
          <p:cNvPr id="12" name="body-card-heading">
            <a:extLst>
              <a:ext uri="{FF2B5EF4-FFF2-40B4-BE49-F238E27FC236}">
                <a16:creationId xmlns:a16="http://schemas.microsoft.com/office/drawing/2014/main" id="{D8B689DD-5B7C-476C-A4FB-87A58487BF1B}"/>
              </a:ext>
            </a:extLst>
          </p:cNvPr>
          <p:cNvSpPr>
            <a:spLocks noGrp="1"/>
          </p:cNvSpPr>
          <p:nvPr/>
        </p:nvSpPr>
        <p:spPr>
          <a:xfrm>
            <a:off x="4724400" y="23241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56C9"/>
                </a:solidFill>
              </a:defRPr>
            </a:pPr>
            <a:r>
              <a:rPr sz="1725" b="1">
                <a:solidFill>
                  <a:srgbClr val="1656C9"/>
                </a:solidFill>
              </a:rPr>
              <a:t>Автоматизация</a:t>
            </a:r>
          </a:p>
        </p:txBody>
      </p:sp>
      <p:sp>
        <p:nvSpPr>
          <p:cNvPr id="13" name="body-card-body">
            <a:extLst>
              <a:ext uri="{FF2B5EF4-FFF2-40B4-BE49-F238E27FC236}">
                <a16:creationId xmlns:a16="http://schemas.microsoft.com/office/drawing/2014/main" id="{4C2AD194-CCC9-4B62-A19F-FB12185169FF}"/>
              </a:ext>
            </a:extLst>
          </p:cNvPr>
          <p:cNvSpPr>
            <a:spLocks noGrp="1"/>
          </p:cNvSpPr>
          <p:nvPr/>
        </p:nvSpPr>
        <p:spPr>
          <a:xfrm>
            <a:off x="4724400" y="2762250"/>
            <a:ext cx="268605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Нейросеть оценивает сорт по снимку целиком, а алгоритм сегментации отдельно выделяет тальк на изображении.</a:t>
            </a:r>
          </a:p>
        </p:txBody>
      </p:sp>
      <p:sp>
        <p:nvSpPr>
          <p:cNvPr id="14" name="arrow">
            <a:extLst>
              <a:ext uri="{FF2B5EF4-FFF2-40B4-BE49-F238E27FC236}">
                <a16:creationId xmlns:a16="http://schemas.microsoft.com/office/drawing/2014/main" id="{805883BE-DB0F-4DFB-B71D-472DFF79EAC3}"/>
              </a:ext>
            </a:extLst>
          </p:cNvPr>
          <p:cNvSpPr>
            <a:spLocks noGrp="1"/>
          </p:cNvSpPr>
          <p:nvPr/>
        </p:nvSpPr>
        <p:spPr>
          <a:xfrm>
            <a:off x="7829550" y="3028950"/>
            <a:ext cx="457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94A3B8"/>
                </a:solidFill>
              </a:defRPr>
            </a:pPr>
            <a:r>
              <a:rPr sz="25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5" name="body-card">
            <a:extLst>
              <a:ext uri="{FF2B5EF4-FFF2-40B4-BE49-F238E27FC236}">
                <a16:creationId xmlns:a16="http://schemas.microsoft.com/office/drawing/2014/main" id="{F1DB64AC-A5BD-4F46-A8C5-D1E4BFA26ABB}"/>
              </a:ext>
            </a:extLst>
          </p:cNvPr>
          <p:cNvSpPr>
            <a:spLocks noGrp="1"/>
          </p:cNvSpPr>
          <p:nvPr/>
        </p:nvSpPr>
        <p:spPr>
          <a:xfrm>
            <a:off x="8324850" y="211455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accent-rule">
            <a:extLst>
              <a:ext uri="{FF2B5EF4-FFF2-40B4-BE49-F238E27FC236}">
                <a16:creationId xmlns:a16="http://schemas.microsoft.com/office/drawing/2014/main" id="{6776062F-5CFB-4859-A83D-BC0691F8AECC}"/>
              </a:ext>
            </a:extLst>
          </p:cNvPr>
          <p:cNvSpPr>
            <a:spLocks noGrp="1"/>
          </p:cNvSpPr>
          <p:nvPr/>
        </p:nvSpPr>
        <p:spPr>
          <a:xfrm>
            <a:off x="8324850" y="2114550"/>
            <a:ext cx="66675" cy="238125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17" name="body-card-heading">
            <a:extLst>
              <a:ext uri="{FF2B5EF4-FFF2-40B4-BE49-F238E27FC236}">
                <a16:creationId xmlns:a16="http://schemas.microsoft.com/office/drawing/2014/main" id="{1E4CC7F1-49C7-4A48-9A78-00177283F7D9}"/>
              </a:ext>
            </a:extLst>
          </p:cNvPr>
          <p:cNvSpPr>
            <a:spLocks noGrp="1"/>
          </p:cNvSpPr>
          <p:nvPr/>
        </p:nvSpPr>
        <p:spPr>
          <a:xfrm>
            <a:off x="8553450" y="23241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9653"/>
                </a:solidFill>
              </a:defRPr>
            </a:pPr>
            <a:r>
              <a:rPr sz="1725" b="1">
                <a:solidFill>
                  <a:srgbClr val="169653"/>
                </a:solidFill>
              </a:rPr>
              <a:t>Результат</a:t>
            </a:r>
          </a:p>
        </p:txBody>
      </p:sp>
      <p:sp>
        <p:nvSpPr>
          <p:cNvPr id="18" name="body-card-body">
            <a:extLst>
              <a:ext uri="{FF2B5EF4-FFF2-40B4-BE49-F238E27FC236}">
                <a16:creationId xmlns:a16="http://schemas.microsoft.com/office/drawing/2014/main" id="{D02DD2ED-D4FF-47A3-B9E3-1524F70FEBF6}"/>
              </a:ext>
            </a:extLst>
          </p:cNvPr>
          <p:cNvSpPr>
            <a:spLocks noGrp="1"/>
          </p:cNvSpPr>
          <p:nvPr/>
        </p:nvSpPr>
        <p:spPr>
          <a:xfrm>
            <a:off x="8553450" y="2762250"/>
            <a:ext cx="268605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На экране видны вердикт, процент талька, маска, метрики обработки и кнопка выгрузки отчёта.</a:t>
            </a:r>
          </a:p>
        </p:txBody>
      </p:sp>
      <p:sp>
        <p:nvSpPr>
          <p:cNvPr id="19" name="footer-left">
            <a:extLst>
              <a:ext uri="{FF2B5EF4-FFF2-40B4-BE49-F238E27FC236}">
                <a16:creationId xmlns:a16="http://schemas.microsoft.com/office/drawing/2014/main" id="{54CE26F6-8BEB-40DF-9F20-B5B26408340B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20" name="footer-num">
            <a:extLst>
              <a:ext uri="{FF2B5EF4-FFF2-40B4-BE49-F238E27FC236}">
                <a16:creationId xmlns:a16="http://schemas.microsoft.com/office/drawing/2014/main" id="{36052512-FF3D-453F-964C-967CC9480288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91565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lide-title">
            <a:extLst>
              <a:ext uri="{FF2B5EF4-FFF2-40B4-BE49-F238E27FC236}">
                <a16:creationId xmlns:a16="http://schemas.microsoft.com/office/drawing/2014/main" id="{3F2FE824-DE79-4606-927B-5CE35AC05F14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Четыре модуля собираются в один рабочий контур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265ED578-0BA0-4219-986E-1CE6401D7D3B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P1 и P2 дают сигналы, P3 объединяет их, P4 показывает результат геологу.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D9E96590-9F48-4B0F-A2CD-146ECF4B4CF2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AEE762E5-A972-472E-9183-A187AE04BF4D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5" name="process-step">
            <a:extLst>
              <a:ext uri="{FF2B5EF4-FFF2-40B4-BE49-F238E27FC236}">
                <a16:creationId xmlns:a16="http://schemas.microsoft.com/office/drawing/2014/main" id="{B3AD514F-06DD-4AE0-B088-184A866C36AA}"/>
              </a:ext>
            </a:extLst>
          </p:cNvPr>
          <p:cNvSpPr>
            <a:spLocks noGrp="1"/>
          </p:cNvSpPr>
          <p:nvPr/>
        </p:nvSpPr>
        <p:spPr>
          <a:xfrm>
            <a:off x="552450" y="2343150"/>
            <a:ext cx="2362200" cy="150495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pill">
            <a:extLst>
              <a:ext uri="{FF2B5EF4-FFF2-40B4-BE49-F238E27FC236}">
                <a16:creationId xmlns:a16="http://schemas.microsoft.com/office/drawing/2014/main" id="{5EBB52D5-A84C-4486-BB82-C9E40D78C0D1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42950" cy="38100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9525">
            <a:solidFill>
              <a:srgbClr val="1656C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pill-text">
            <a:extLst>
              <a:ext uri="{FF2B5EF4-FFF2-40B4-BE49-F238E27FC236}">
                <a16:creationId xmlns:a16="http://schemas.microsoft.com/office/drawing/2014/main" id="{A04DD465-982E-4619-970A-E8E11B43C34D}"/>
              </a:ext>
            </a:extLst>
          </p:cNvPr>
          <p:cNvSpPr>
            <a:spLocks noGrp="1"/>
          </p:cNvSpPr>
          <p:nvPr/>
        </p:nvSpPr>
        <p:spPr>
          <a:xfrm>
            <a:off x="895350" y="261937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56C9"/>
                </a:solidFill>
              </a:defRPr>
            </a:pPr>
            <a:r>
              <a:rPr sz="1125" b="1">
                <a:solidFill>
                  <a:srgbClr val="1656C9"/>
                </a:solidFill>
              </a:rPr>
              <a:t>P1</a:t>
            </a:r>
          </a:p>
        </p:txBody>
      </p:sp>
      <p:sp>
        <p:nvSpPr>
          <p:cNvPr id="8" name="process-heading">
            <a:extLst>
              <a:ext uri="{FF2B5EF4-FFF2-40B4-BE49-F238E27FC236}">
                <a16:creationId xmlns:a16="http://schemas.microsoft.com/office/drawing/2014/main" id="{79E16CB8-4171-431C-BA7C-100EAAB6BD3B}"/>
              </a:ext>
            </a:extLst>
          </p:cNvPr>
          <p:cNvSpPr>
            <a:spLocks noGrp="1"/>
          </p:cNvSpPr>
          <p:nvPr/>
        </p:nvSpPr>
        <p:spPr>
          <a:xfrm>
            <a:off x="762000" y="3009900"/>
            <a:ext cx="1943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Сегментация</a:t>
            </a:r>
          </a:p>
        </p:txBody>
      </p:sp>
      <p:sp>
        <p:nvSpPr>
          <p:cNvPr id="9" name="process-body">
            <a:extLst>
              <a:ext uri="{FF2B5EF4-FFF2-40B4-BE49-F238E27FC236}">
                <a16:creationId xmlns:a16="http://schemas.microsoft.com/office/drawing/2014/main" id="{699DCFBD-42AA-4161-823E-0F280134D62E}"/>
              </a:ext>
            </a:extLst>
          </p:cNvPr>
          <p:cNvSpPr>
            <a:spLocks noGrp="1"/>
          </p:cNvSpPr>
          <p:nvPr/>
        </p:nvSpPr>
        <p:spPr>
          <a:xfrm>
            <a:off x="762000" y="3352800"/>
            <a:ext cx="1943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Находит тальк и считает его долю на снимке.</a:t>
            </a:r>
          </a:p>
        </p:txBody>
      </p:sp>
      <p:sp>
        <p:nvSpPr>
          <p:cNvPr id="10" name="arrow">
            <a:extLst>
              <a:ext uri="{FF2B5EF4-FFF2-40B4-BE49-F238E27FC236}">
                <a16:creationId xmlns:a16="http://schemas.microsoft.com/office/drawing/2014/main" id="{49F6D0D4-4186-45D0-8455-D4150F00AF9A}"/>
              </a:ext>
            </a:extLst>
          </p:cNvPr>
          <p:cNvSpPr>
            <a:spLocks noGrp="1"/>
          </p:cNvSpPr>
          <p:nvPr/>
        </p:nvSpPr>
        <p:spPr>
          <a:xfrm>
            <a:off x="3048000" y="2876550"/>
            <a:ext cx="457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94A3B8"/>
                </a:solidFill>
              </a:defRPr>
            </a:pPr>
            <a:r>
              <a:rPr sz="25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1" name="process-step">
            <a:extLst>
              <a:ext uri="{FF2B5EF4-FFF2-40B4-BE49-F238E27FC236}">
                <a16:creationId xmlns:a16="http://schemas.microsoft.com/office/drawing/2014/main" id="{FC03A1FF-B5D1-4D3E-AAD8-C4C6E7C00D35}"/>
              </a:ext>
            </a:extLst>
          </p:cNvPr>
          <p:cNvSpPr>
            <a:spLocks noGrp="1"/>
          </p:cNvSpPr>
          <p:nvPr/>
        </p:nvSpPr>
        <p:spPr>
          <a:xfrm>
            <a:off x="3486150" y="2343150"/>
            <a:ext cx="2362200" cy="150495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pill">
            <a:extLst>
              <a:ext uri="{FF2B5EF4-FFF2-40B4-BE49-F238E27FC236}">
                <a16:creationId xmlns:a16="http://schemas.microsoft.com/office/drawing/2014/main" id="{E607B6DD-B824-4E96-B9E6-E4C8408B84A8}"/>
              </a:ext>
            </a:extLst>
          </p:cNvPr>
          <p:cNvSpPr>
            <a:spLocks noGrp="1"/>
          </p:cNvSpPr>
          <p:nvPr/>
        </p:nvSpPr>
        <p:spPr>
          <a:xfrm>
            <a:off x="3695700" y="2533650"/>
            <a:ext cx="742950" cy="38100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 w="9525">
            <a:solidFill>
              <a:srgbClr val="16965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pill-text">
            <a:extLst>
              <a:ext uri="{FF2B5EF4-FFF2-40B4-BE49-F238E27FC236}">
                <a16:creationId xmlns:a16="http://schemas.microsoft.com/office/drawing/2014/main" id="{D01FE105-0FBD-4D57-8C47-A9F6C7112ACA}"/>
              </a:ext>
            </a:extLst>
          </p:cNvPr>
          <p:cNvSpPr>
            <a:spLocks noGrp="1"/>
          </p:cNvSpPr>
          <p:nvPr/>
        </p:nvSpPr>
        <p:spPr>
          <a:xfrm>
            <a:off x="3829050" y="261937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9653"/>
                </a:solidFill>
              </a:defRPr>
            </a:pPr>
            <a:r>
              <a:rPr sz="1125" b="1">
                <a:solidFill>
                  <a:srgbClr val="169653"/>
                </a:solidFill>
              </a:rPr>
              <a:t>P2</a:t>
            </a:r>
          </a:p>
        </p:txBody>
      </p:sp>
      <p:sp>
        <p:nvSpPr>
          <p:cNvPr id="14" name="process-heading">
            <a:extLst>
              <a:ext uri="{FF2B5EF4-FFF2-40B4-BE49-F238E27FC236}">
                <a16:creationId xmlns:a16="http://schemas.microsoft.com/office/drawing/2014/main" id="{725E116B-FD71-4EDC-B968-8B4642E711C0}"/>
              </a:ext>
            </a:extLst>
          </p:cNvPr>
          <p:cNvSpPr>
            <a:spLocks noGrp="1"/>
          </p:cNvSpPr>
          <p:nvPr/>
        </p:nvSpPr>
        <p:spPr>
          <a:xfrm>
            <a:off x="3695700" y="3009900"/>
            <a:ext cx="1943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Классификация</a:t>
            </a:r>
          </a:p>
        </p:txBody>
      </p:sp>
      <p:sp>
        <p:nvSpPr>
          <p:cNvPr id="15" name="process-body">
            <a:extLst>
              <a:ext uri="{FF2B5EF4-FFF2-40B4-BE49-F238E27FC236}">
                <a16:creationId xmlns:a16="http://schemas.microsoft.com/office/drawing/2014/main" id="{18115CD8-70D7-4325-9E56-D58A46FF4EAA}"/>
              </a:ext>
            </a:extLst>
          </p:cNvPr>
          <p:cNvSpPr>
            <a:spLocks noGrp="1"/>
          </p:cNvSpPr>
          <p:nvPr/>
        </p:nvSpPr>
        <p:spPr>
          <a:xfrm>
            <a:off x="3695700" y="3352800"/>
            <a:ext cx="1943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Определяет сорт: рядовая, трудная, оталькованная.</a:t>
            </a:r>
          </a:p>
        </p:txBody>
      </p:sp>
      <p:sp>
        <p:nvSpPr>
          <p:cNvPr id="16" name="arrow">
            <a:extLst>
              <a:ext uri="{FF2B5EF4-FFF2-40B4-BE49-F238E27FC236}">
                <a16:creationId xmlns:a16="http://schemas.microsoft.com/office/drawing/2014/main" id="{91411F62-0727-4343-ACA1-35AB0C5BF08D}"/>
              </a:ext>
            </a:extLst>
          </p:cNvPr>
          <p:cNvSpPr>
            <a:spLocks noGrp="1"/>
          </p:cNvSpPr>
          <p:nvPr/>
        </p:nvSpPr>
        <p:spPr>
          <a:xfrm>
            <a:off x="5981700" y="2876550"/>
            <a:ext cx="457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94A3B8"/>
                </a:solidFill>
              </a:defRPr>
            </a:pPr>
            <a:r>
              <a:rPr sz="25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7" name="process-step">
            <a:extLst>
              <a:ext uri="{FF2B5EF4-FFF2-40B4-BE49-F238E27FC236}">
                <a16:creationId xmlns:a16="http://schemas.microsoft.com/office/drawing/2014/main" id="{34E3980C-8FDE-4B8A-A313-5C5928A3CA22}"/>
              </a:ext>
            </a:extLst>
          </p:cNvPr>
          <p:cNvSpPr>
            <a:spLocks noGrp="1"/>
          </p:cNvSpPr>
          <p:nvPr/>
        </p:nvSpPr>
        <p:spPr>
          <a:xfrm>
            <a:off x="6419850" y="2343150"/>
            <a:ext cx="2362200" cy="150495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pill">
            <a:extLst>
              <a:ext uri="{FF2B5EF4-FFF2-40B4-BE49-F238E27FC236}">
                <a16:creationId xmlns:a16="http://schemas.microsoft.com/office/drawing/2014/main" id="{4AED83A4-BB5E-433C-9B59-6D2A0AEC70F7}"/>
              </a:ext>
            </a:extLst>
          </p:cNvPr>
          <p:cNvSpPr>
            <a:spLocks noGrp="1"/>
          </p:cNvSpPr>
          <p:nvPr/>
        </p:nvSpPr>
        <p:spPr>
          <a:xfrm>
            <a:off x="6629400" y="2533650"/>
            <a:ext cx="742950" cy="381000"/>
          </a:xfrm>
          <a:prstGeom prst="roundRect">
            <a:avLst>
              <a:gd name="adj" fmla="val 50000"/>
            </a:avLst>
          </a:prstGeom>
          <a:solidFill>
            <a:srgbClr val="FFF3DF"/>
          </a:solidFill>
          <a:ln w="9525">
            <a:solidFill>
              <a:srgbClr val="D9770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pill-text">
            <a:extLst>
              <a:ext uri="{FF2B5EF4-FFF2-40B4-BE49-F238E27FC236}">
                <a16:creationId xmlns:a16="http://schemas.microsoft.com/office/drawing/2014/main" id="{E4D39B70-AD3C-42E0-A91C-3FB868A61AD4}"/>
              </a:ext>
            </a:extLst>
          </p:cNvPr>
          <p:cNvSpPr>
            <a:spLocks noGrp="1"/>
          </p:cNvSpPr>
          <p:nvPr/>
        </p:nvSpPr>
        <p:spPr>
          <a:xfrm>
            <a:off x="6762750" y="261937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P3</a:t>
            </a:r>
          </a:p>
        </p:txBody>
      </p:sp>
      <p:sp>
        <p:nvSpPr>
          <p:cNvPr id="20" name="process-heading">
            <a:extLst>
              <a:ext uri="{FF2B5EF4-FFF2-40B4-BE49-F238E27FC236}">
                <a16:creationId xmlns:a16="http://schemas.microsoft.com/office/drawing/2014/main" id="{82B0BF5C-28FD-4524-A4FD-27593D58FD3D}"/>
              </a:ext>
            </a:extLst>
          </p:cNvPr>
          <p:cNvSpPr>
            <a:spLocks noGrp="1"/>
          </p:cNvSpPr>
          <p:nvPr/>
        </p:nvSpPr>
        <p:spPr>
          <a:xfrm>
            <a:off x="6629400" y="3009900"/>
            <a:ext cx="1943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analyze()</a:t>
            </a:r>
          </a:p>
        </p:txBody>
      </p:sp>
      <p:sp>
        <p:nvSpPr>
          <p:cNvPr id="21" name="process-body">
            <a:extLst>
              <a:ext uri="{FF2B5EF4-FFF2-40B4-BE49-F238E27FC236}">
                <a16:creationId xmlns:a16="http://schemas.microsoft.com/office/drawing/2014/main" id="{0EA090F0-6D1A-4AF9-9F05-3760D423B99D}"/>
              </a:ext>
            </a:extLst>
          </p:cNvPr>
          <p:cNvSpPr>
            <a:spLocks noGrp="1"/>
          </p:cNvSpPr>
          <p:nvPr/>
        </p:nvSpPr>
        <p:spPr>
          <a:xfrm>
            <a:off x="6629400" y="3352800"/>
            <a:ext cx="1943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Собирает вердикт, маску, проценты и проверки.</a:t>
            </a:r>
          </a:p>
        </p:txBody>
      </p:sp>
      <p:sp>
        <p:nvSpPr>
          <p:cNvPr id="22" name="arrow">
            <a:extLst>
              <a:ext uri="{FF2B5EF4-FFF2-40B4-BE49-F238E27FC236}">
                <a16:creationId xmlns:a16="http://schemas.microsoft.com/office/drawing/2014/main" id="{83BAFF29-2C8A-430F-8A8C-B166469596CA}"/>
              </a:ext>
            </a:extLst>
          </p:cNvPr>
          <p:cNvSpPr>
            <a:spLocks noGrp="1"/>
          </p:cNvSpPr>
          <p:nvPr/>
        </p:nvSpPr>
        <p:spPr>
          <a:xfrm>
            <a:off x="8915400" y="2876550"/>
            <a:ext cx="457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94A3B8"/>
                </a:solidFill>
              </a:defRPr>
            </a:pPr>
            <a:r>
              <a:rPr sz="25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3" name="process-step">
            <a:extLst>
              <a:ext uri="{FF2B5EF4-FFF2-40B4-BE49-F238E27FC236}">
                <a16:creationId xmlns:a16="http://schemas.microsoft.com/office/drawing/2014/main" id="{D17F6BA4-36FC-46ED-BE58-5D1134C9C4C7}"/>
              </a:ext>
            </a:extLst>
          </p:cNvPr>
          <p:cNvSpPr>
            <a:spLocks noGrp="1"/>
          </p:cNvSpPr>
          <p:nvPr/>
        </p:nvSpPr>
        <p:spPr>
          <a:xfrm>
            <a:off x="9353550" y="2343150"/>
            <a:ext cx="2362200" cy="150495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4" name="pill">
            <a:extLst>
              <a:ext uri="{FF2B5EF4-FFF2-40B4-BE49-F238E27FC236}">
                <a16:creationId xmlns:a16="http://schemas.microsoft.com/office/drawing/2014/main" id="{875EFD76-5C6E-4DC7-A049-F58EE9A3803C}"/>
              </a:ext>
            </a:extLst>
          </p:cNvPr>
          <p:cNvSpPr>
            <a:spLocks noGrp="1"/>
          </p:cNvSpPr>
          <p:nvPr/>
        </p:nvSpPr>
        <p:spPr>
          <a:xfrm>
            <a:off x="9563100" y="2533650"/>
            <a:ext cx="742950" cy="381000"/>
          </a:xfrm>
          <a:prstGeom prst="roundRect">
            <a:avLst>
              <a:gd name="adj" fmla="val 50000"/>
            </a:avLst>
          </a:prstGeom>
          <a:solidFill>
            <a:srgbClr val="FFF3DF"/>
          </a:solidFill>
          <a:ln w="9525">
            <a:solidFill>
              <a:srgbClr val="16B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5" name="pill-text">
            <a:extLst>
              <a:ext uri="{FF2B5EF4-FFF2-40B4-BE49-F238E27FC236}">
                <a16:creationId xmlns:a16="http://schemas.microsoft.com/office/drawing/2014/main" id="{6C102AC6-A41B-4544-83A9-02BF01634FC4}"/>
              </a:ext>
            </a:extLst>
          </p:cNvPr>
          <p:cNvSpPr>
            <a:spLocks noGrp="1"/>
          </p:cNvSpPr>
          <p:nvPr/>
        </p:nvSpPr>
        <p:spPr>
          <a:xfrm>
            <a:off x="9696450" y="261937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B8C7"/>
                </a:solidFill>
              </a:defRPr>
            </a:pPr>
            <a:r>
              <a:rPr sz="1125" b="1">
                <a:solidFill>
                  <a:srgbClr val="16B8C7"/>
                </a:solidFill>
              </a:rPr>
              <a:t>P4</a:t>
            </a:r>
          </a:p>
        </p:txBody>
      </p:sp>
      <p:sp>
        <p:nvSpPr>
          <p:cNvPr id="26" name="process-heading">
            <a:extLst>
              <a:ext uri="{FF2B5EF4-FFF2-40B4-BE49-F238E27FC236}">
                <a16:creationId xmlns:a16="http://schemas.microsoft.com/office/drawing/2014/main" id="{D7F383A3-DC9C-467F-B110-39A4FAA6AD26}"/>
              </a:ext>
            </a:extLst>
          </p:cNvPr>
          <p:cNvSpPr>
            <a:spLocks noGrp="1"/>
          </p:cNvSpPr>
          <p:nvPr/>
        </p:nvSpPr>
        <p:spPr>
          <a:xfrm>
            <a:off x="9563100" y="3009900"/>
            <a:ext cx="1943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Интерфейс</a:t>
            </a:r>
          </a:p>
        </p:txBody>
      </p:sp>
      <p:sp>
        <p:nvSpPr>
          <p:cNvPr id="27" name="process-body">
            <a:extLst>
              <a:ext uri="{FF2B5EF4-FFF2-40B4-BE49-F238E27FC236}">
                <a16:creationId xmlns:a16="http://schemas.microsoft.com/office/drawing/2014/main" id="{A1D4ADFA-6A40-4B79-8488-310A59E718B6}"/>
              </a:ext>
            </a:extLst>
          </p:cNvPr>
          <p:cNvSpPr>
            <a:spLocks noGrp="1"/>
          </p:cNvSpPr>
          <p:nvPr/>
        </p:nvSpPr>
        <p:spPr>
          <a:xfrm>
            <a:off x="9563100" y="3352800"/>
            <a:ext cx="1943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Загрузка, просмотр, зум, подтверждение, отчёт.</a:t>
            </a:r>
          </a:p>
        </p:txBody>
      </p:sp>
      <p:sp>
        <p:nvSpPr>
          <p:cNvPr id="28" name="contract">
            <a:extLst>
              <a:ext uri="{FF2B5EF4-FFF2-40B4-BE49-F238E27FC236}">
                <a16:creationId xmlns:a16="http://schemas.microsoft.com/office/drawing/2014/main" id="{81806C46-19CB-4BFC-A033-93CB2C353519}"/>
              </a:ext>
            </a:extLst>
          </p:cNvPr>
          <p:cNvSpPr>
            <a:spLocks noGrp="1"/>
          </p:cNvSpPr>
          <p:nvPr/>
        </p:nvSpPr>
        <p:spPr>
          <a:xfrm>
            <a:off x="1104900" y="4552950"/>
            <a:ext cx="9982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>
                <a:solidFill>
                  <a:srgbClr val="243044"/>
                </a:solidFill>
              </a:defRPr>
            </a:pPr>
            <a:r>
              <a:rPr sz="1650">
                <a:solidFill>
                  <a:srgbClr val="243044"/>
                </a:solidFill>
              </a:rPr>
              <a:t>Контракт между треками простой: интерфейс не ждёт финального ядра и работает через тот же `analyze()`, а заглушка заменяется на боевой анализ без смены UI.</a:t>
            </a:r>
          </a:p>
        </p:txBody>
      </p:sp>
      <p:sp>
        <p:nvSpPr>
          <p:cNvPr id="29" name="footer-left">
            <a:extLst>
              <a:ext uri="{FF2B5EF4-FFF2-40B4-BE49-F238E27FC236}">
                <a16:creationId xmlns:a16="http://schemas.microsoft.com/office/drawing/2014/main" id="{9897DC04-4F21-4CFE-A236-7A86DCF1ABC5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30" name="footer-num">
            <a:extLst>
              <a:ext uri="{FF2B5EF4-FFF2-40B4-BE49-F238E27FC236}">
                <a16:creationId xmlns:a16="http://schemas.microsoft.com/office/drawing/2014/main" id="{565E3D2A-69F2-40C2-8A12-CB0213B50780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48841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-title">
            <a:extLst>
              <a:ext uri="{FF2B5EF4-FFF2-40B4-BE49-F238E27FC236}">
                <a16:creationId xmlns:a16="http://schemas.microsoft.com/office/drawing/2014/main" id="{7856826A-7179-4B8C-A58C-5AE539D358F4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Система различает три технологических сорта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4B23040A-A64A-40AA-849C-51005FEB680D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Классы сформулированы так, чтобы результат был понятен геологу и технологу.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28295D03-9AC1-4363-80C4-075F482BAD31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E327905C-C534-4C48-B2CC-9E377B383018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5" name="body-card">
            <a:extLst>
              <a:ext uri="{FF2B5EF4-FFF2-40B4-BE49-F238E27FC236}">
                <a16:creationId xmlns:a16="http://schemas.microsoft.com/office/drawing/2014/main" id="{B7D7A0E3-570D-43E3-AF0C-AAC72403A786}"/>
              </a:ext>
            </a:extLst>
          </p:cNvPr>
          <p:cNvSpPr>
            <a:spLocks noGrp="1"/>
          </p:cNvSpPr>
          <p:nvPr/>
        </p:nvSpPr>
        <p:spPr>
          <a:xfrm>
            <a:off x="723900" y="2133600"/>
            <a:ext cx="3143250" cy="2419350"/>
          </a:xfrm>
          <a:prstGeom prst="roundRect">
            <a:avLst>
              <a:gd name="adj" fmla="val 4724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accent-rule">
            <a:extLst>
              <a:ext uri="{FF2B5EF4-FFF2-40B4-BE49-F238E27FC236}">
                <a16:creationId xmlns:a16="http://schemas.microsoft.com/office/drawing/2014/main" id="{FD456893-59E6-4E9D-8901-4AE157DD0C47}"/>
              </a:ext>
            </a:extLst>
          </p:cNvPr>
          <p:cNvSpPr>
            <a:spLocks noGrp="1"/>
          </p:cNvSpPr>
          <p:nvPr/>
        </p:nvSpPr>
        <p:spPr>
          <a:xfrm>
            <a:off x="723900" y="2133600"/>
            <a:ext cx="66675" cy="241935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7" name="body-card-heading">
            <a:extLst>
              <a:ext uri="{FF2B5EF4-FFF2-40B4-BE49-F238E27FC236}">
                <a16:creationId xmlns:a16="http://schemas.microsoft.com/office/drawing/2014/main" id="{86EAD048-063A-4E8F-B501-BD4B713C219C}"/>
              </a:ext>
            </a:extLst>
          </p:cNvPr>
          <p:cNvSpPr>
            <a:spLocks noGrp="1"/>
          </p:cNvSpPr>
          <p:nvPr/>
        </p:nvSpPr>
        <p:spPr>
          <a:xfrm>
            <a:off x="952500" y="23431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9653"/>
                </a:solidFill>
              </a:defRPr>
            </a:pPr>
            <a:r>
              <a:rPr sz="1725" b="1">
                <a:solidFill>
                  <a:srgbClr val="169653"/>
                </a:solidFill>
              </a:rPr>
              <a:t>Рядовая</a:t>
            </a:r>
          </a:p>
        </p:txBody>
      </p:sp>
      <p:sp>
        <p:nvSpPr>
          <p:cNvPr id="8" name="body-card-body">
            <a:extLst>
              <a:ext uri="{FF2B5EF4-FFF2-40B4-BE49-F238E27FC236}">
                <a16:creationId xmlns:a16="http://schemas.microsoft.com/office/drawing/2014/main" id="{40FCBAE3-EEB6-4E46-AF6A-0EF38A9366EE}"/>
              </a:ext>
            </a:extLst>
          </p:cNvPr>
          <p:cNvSpPr>
            <a:spLocks noGrp="1"/>
          </p:cNvSpPr>
          <p:nvPr/>
        </p:nvSpPr>
        <p:spPr>
          <a:xfrm>
            <a:off x="952500" y="2781300"/>
            <a:ext cx="268605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Обычная руда, которая нормально обогащается. Низкая доля талька не должна давать ложный оталькованный вердикт.</a:t>
            </a:r>
          </a:p>
        </p:txBody>
      </p:sp>
      <p:sp>
        <p:nvSpPr>
          <p:cNvPr id="9" name="body-card">
            <a:extLst>
              <a:ext uri="{FF2B5EF4-FFF2-40B4-BE49-F238E27FC236}">
                <a16:creationId xmlns:a16="http://schemas.microsoft.com/office/drawing/2014/main" id="{CC2BEDB1-ED1A-4BC3-878E-B4B3EB558A2E}"/>
              </a:ext>
            </a:extLst>
          </p:cNvPr>
          <p:cNvSpPr>
            <a:spLocks noGrp="1"/>
          </p:cNvSpPr>
          <p:nvPr/>
        </p:nvSpPr>
        <p:spPr>
          <a:xfrm>
            <a:off x="4524375" y="2133600"/>
            <a:ext cx="3143250" cy="2419350"/>
          </a:xfrm>
          <a:prstGeom prst="roundRect">
            <a:avLst>
              <a:gd name="adj" fmla="val 4724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accent-rule">
            <a:extLst>
              <a:ext uri="{FF2B5EF4-FFF2-40B4-BE49-F238E27FC236}">
                <a16:creationId xmlns:a16="http://schemas.microsoft.com/office/drawing/2014/main" id="{F41DDF8D-6680-4200-8B22-3BE388B9C0B9}"/>
              </a:ext>
            </a:extLst>
          </p:cNvPr>
          <p:cNvSpPr>
            <a:spLocks noGrp="1"/>
          </p:cNvSpPr>
          <p:nvPr/>
        </p:nvSpPr>
        <p:spPr>
          <a:xfrm>
            <a:off x="4524375" y="2133600"/>
            <a:ext cx="66675" cy="2419350"/>
          </a:xfrm>
          <a:prstGeom prst="rect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</p:sp>
      <p:sp>
        <p:nvSpPr>
          <p:cNvPr id="11" name="body-card-heading">
            <a:extLst>
              <a:ext uri="{FF2B5EF4-FFF2-40B4-BE49-F238E27FC236}">
                <a16:creationId xmlns:a16="http://schemas.microsoft.com/office/drawing/2014/main" id="{86D10BEF-B66A-436F-8211-2B2D76398015}"/>
              </a:ext>
            </a:extLst>
          </p:cNvPr>
          <p:cNvSpPr>
            <a:spLocks noGrp="1"/>
          </p:cNvSpPr>
          <p:nvPr/>
        </p:nvSpPr>
        <p:spPr>
          <a:xfrm>
            <a:off x="4752975" y="23431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D97706"/>
                </a:solidFill>
              </a:defRPr>
            </a:pPr>
            <a:r>
              <a:rPr sz="1725" b="1">
                <a:solidFill>
                  <a:srgbClr val="D97706"/>
                </a:solidFill>
              </a:rPr>
              <a:t>Труднообогатимая</a:t>
            </a:r>
          </a:p>
        </p:txBody>
      </p:sp>
      <p:sp>
        <p:nvSpPr>
          <p:cNvPr id="12" name="body-card-body">
            <a:extLst>
              <a:ext uri="{FF2B5EF4-FFF2-40B4-BE49-F238E27FC236}">
                <a16:creationId xmlns:a16="http://schemas.microsoft.com/office/drawing/2014/main" id="{196CBD2D-26F7-493C-B256-D52EDC873D8C}"/>
              </a:ext>
            </a:extLst>
          </p:cNvPr>
          <p:cNvSpPr>
            <a:spLocks noGrp="1"/>
          </p:cNvSpPr>
          <p:nvPr/>
        </p:nvSpPr>
        <p:spPr>
          <a:xfrm>
            <a:off x="4752975" y="2781300"/>
            <a:ext cx="268605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Металл извлекается сложнее. Этот класс должен отделяться от рядовой по признакам всего снимка, а не только по тальку.</a:t>
            </a:r>
          </a:p>
        </p:txBody>
      </p:sp>
      <p:sp>
        <p:nvSpPr>
          <p:cNvPr id="13" name="body-card">
            <a:extLst>
              <a:ext uri="{FF2B5EF4-FFF2-40B4-BE49-F238E27FC236}">
                <a16:creationId xmlns:a16="http://schemas.microsoft.com/office/drawing/2014/main" id="{EC218A78-14D3-478B-B478-CF831CE4FE4A}"/>
              </a:ext>
            </a:extLst>
          </p:cNvPr>
          <p:cNvSpPr>
            <a:spLocks noGrp="1"/>
          </p:cNvSpPr>
          <p:nvPr/>
        </p:nvSpPr>
        <p:spPr>
          <a:xfrm>
            <a:off x="8324850" y="2133600"/>
            <a:ext cx="3143250" cy="2419350"/>
          </a:xfrm>
          <a:prstGeom prst="roundRect">
            <a:avLst>
              <a:gd name="adj" fmla="val 4724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accent-rule">
            <a:extLst>
              <a:ext uri="{FF2B5EF4-FFF2-40B4-BE49-F238E27FC236}">
                <a16:creationId xmlns:a16="http://schemas.microsoft.com/office/drawing/2014/main" id="{68D01A55-BBFB-41D9-A14B-B7C229D5C5A8}"/>
              </a:ext>
            </a:extLst>
          </p:cNvPr>
          <p:cNvSpPr>
            <a:spLocks noGrp="1"/>
          </p:cNvSpPr>
          <p:nvPr/>
        </p:nvSpPr>
        <p:spPr>
          <a:xfrm>
            <a:off x="8324850" y="2133600"/>
            <a:ext cx="66675" cy="2419350"/>
          </a:xfrm>
          <a:prstGeom prst="rect">
            <a:avLst/>
          </a:prstGeom>
          <a:solidFill>
            <a:srgbClr val="1656C9"/>
          </a:solidFill>
          <a:ln w="0">
            <a:solidFill>
              <a:srgbClr val="1656C9"/>
            </a:solidFill>
            <a:prstDash val="solid"/>
          </a:ln>
        </p:spPr>
      </p:sp>
      <p:sp>
        <p:nvSpPr>
          <p:cNvPr id="15" name="body-card-heading">
            <a:extLst>
              <a:ext uri="{FF2B5EF4-FFF2-40B4-BE49-F238E27FC236}">
                <a16:creationId xmlns:a16="http://schemas.microsoft.com/office/drawing/2014/main" id="{D87EE075-E1A2-4B0D-96FC-71E1957A4025}"/>
              </a:ext>
            </a:extLst>
          </p:cNvPr>
          <p:cNvSpPr>
            <a:spLocks noGrp="1"/>
          </p:cNvSpPr>
          <p:nvPr/>
        </p:nvSpPr>
        <p:spPr>
          <a:xfrm>
            <a:off x="8553450" y="23431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56C9"/>
                </a:solidFill>
              </a:defRPr>
            </a:pPr>
            <a:r>
              <a:rPr sz="1725" b="1">
                <a:solidFill>
                  <a:srgbClr val="1656C9"/>
                </a:solidFill>
              </a:rPr>
              <a:t>Оталькованная</a:t>
            </a:r>
          </a:p>
        </p:txBody>
      </p:sp>
      <p:sp>
        <p:nvSpPr>
          <p:cNvPr id="16" name="body-card-body">
            <a:extLst>
              <a:ext uri="{FF2B5EF4-FFF2-40B4-BE49-F238E27FC236}">
                <a16:creationId xmlns:a16="http://schemas.microsoft.com/office/drawing/2014/main" id="{8804B603-484E-4166-B009-9EDCD77E9DE8}"/>
              </a:ext>
            </a:extLst>
          </p:cNvPr>
          <p:cNvSpPr>
            <a:spLocks noGrp="1"/>
          </p:cNvSpPr>
          <p:nvPr/>
        </p:nvSpPr>
        <p:spPr>
          <a:xfrm>
            <a:off x="8553450" y="2781300"/>
            <a:ext cx="268605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В породе много талька. Интерфейс обязан не просто назвать сорт, но и показать где именно расположен тальк.</a:t>
            </a:r>
          </a:p>
        </p:txBody>
      </p:sp>
      <p:sp>
        <p:nvSpPr>
          <p:cNvPr id="17" name="footer-left">
            <a:extLst>
              <a:ext uri="{FF2B5EF4-FFF2-40B4-BE49-F238E27FC236}">
                <a16:creationId xmlns:a16="http://schemas.microsoft.com/office/drawing/2014/main" id="{8D05E4F6-B22A-4CB5-8DB3-0105A09B1F23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18" name="footer-num">
            <a:extLst>
              <a:ext uri="{FF2B5EF4-FFF2-40B4-BE49-F238E27FC236}">
                <a16:creationId xmlns:a16="http://schemas.microsoft.com/office/drawing/2014/main" id="{70E47CA4-1B19-49C6-91FC-D415C0EC9D60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23840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-title">
            <a:extLst>
              <a:ext uri="{FF2B5EF4-FFF2-40B4-BE49-F238E27FC236}">
                <a16:creationId xmlns:a16="http://schemas.microsoft.com/office/drawing/2014/main" id="{6F51902A-ADBC-46D5-8E87-1C571D9932E4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F8FAFC"/>
                </a:solidFill>
              </a:defRPr>
            </a:pPr>
            <a:r>
              <a:rPr sz="2925" b="1">
                <a:solidFill>
                  <a:srgbClr val="F8FAFC"/>
                </a:solidFill>
              </a:rPr>
              <a:t>P2 оценивает сорт по всему кадру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1928ADF2-1F78-45F1-9504-6B81888E9D28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B8C6D8"/>
                </a:solidFill>
              </a:defRPr>
            </a:pPr>
            <a:r>
              <a:rPr sz="1575">
                <a:solidFill>
                  <a:srgbClr val="B8C6D8"/>
                </a:solidFill>
              </a:rPr>
              <a:t>Классификатор отвечает за главный вердикт, а не за подсветку отдельных минералов.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D0976DD8-DC84-4C3D-8787-285B5706CE25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16F4890D-450F-4F08-81E7-FF8C77648926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05</a:t>
            </a:r>
          </a:p>
        </p:txBody>
      </p:sp>
      <p:sp>
        <p:nvSpPr>
          <p:cNvPr id="5" name="body-card">
            <a:extLst>
              <a:ext uri="{FF2B5EF4-FFF2-40B4-BE49-F238E27FC236}">
                <a16:creationId xmlns:a16="http://schemas.microsoft.com/office/drawing/2014/main" id="{77D35E1B-21DC-4D6D-A07E-33FF9940F7D9}"/>
              </a:ext>
            </a:extLst>
          </p:cNvPr>
          <p:cNvSpPr>
            <a:spLocks noGrp="1"/>
          </p:cNvSpPr>
          <p:nvPr/>
        </p:nvSpPr>
        <p:spPr>
          <a:xfrm>
            <a:off x="666750" y="2152650"/>
            <a:ext cx="3352800" cy="2381250"/>
          </a:xfrm>
          <a:prstGeom prst="roundRect">
            <a:avLst>
              <a:gd name="adj" fmla="val 4800"/>
            </a:avLst>
          </a:prstGeom>
          <a:solidFill>
            <a:srgbClr val="141C2B"/>
          </a:solidFill>
          <a:ln w="9525">
            <a:solidFill>
              <a:srgbClr val="2E3A5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accent-rule">
            <a:extLst>
              <a:ext uri="{FF2B5EF4-FFF2-40B4-BE49-F238E27FC236}">
                <a16:creationId xmlns:a16="http://schemas.microsoft.com/office/drawing/2014/main" id="{038C6592-FE5F-436F-926C-BBCFFC154CBB}"/>
              </a:ext>
            </a:extLst>
          </p:cNvPr>
          <p:cNvSpPr>
            <a:spLocks noGrp="1"/>
          </p:cNvSpPr>
          <p:nvPr/>
        </p:nvSpPr>
        <p:spPr>
          <a:xfrm>
            <a:off x="666750" y="2152650"/>
            <a:ext cx="66675" cy="2381250"/>
          </a:xfrm>
          <a:prstGeom prst="rect">
            <a:avLst/>
          </a:prstGeom>
          <a:solidFill>
            <a:srgbClr val="16B8C7"/>
          </a:solidFill>
          <a:ln w="0">
            <a:solidFill>
              <a:srgbClr val="16B8C7"/>
            </a:solidFill>
            <a:prstDash val="solid"/>
          </a:ln>
        </p:spPr>
      </p:sp>
      <p:sp>
        <p:nvSpPr>
          <p:cNvPr id="7" name="body-card-heading">
            <a:extLst>
              <a:ext uri="{FF2B5EF4-FFF2-40B4-BE49-F238E27FC236}">
                <a16:creationId xmlns:a16="http://schemas.microsoft.com/office/drawing/2014/main" id="{AACD11D9-B1FC-47C8-A642-60F4788BC201}"/>
              </a:ext>
            </a:extLst>
          </p:cNvPr>
          <p:cNvSpPr>
            <a:spLocks noGrp="1"/>
          </p:cNvSpPr>
          <p:nvPr/>
        </p:nvSpPr>
        <p:spPr>
          <a:xfrm>
            <a:off x="895350" y="23622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B8C7"/>
                </a:solidFill>
              </a:defRPr>
            </a:pPr>
            <a:r>
              <a:rPr sz="1725" b="1">
                <a:solidFill>
                  <a:srgbClr val="16B8C7"/>
                </a:solidFill>
              </a:rPr>
              <a:t>Архитектура</a:t>
            </a:r>
          </a:p>
        </p:txBody>
      </p:sp>
      <p:sp>
        <p:nvSpPr>
          <p:cNvPr id="8" name="body-card-body">
            <a:extLst>
              <a:ext uri="{FF2B5EF4-FFF2-40B4-BE49-F238E27FC236}">
                <a16:creationId xmlns:a16="http://schemas.microsoft.com/office/drawing/2014/main" id="{C7149325-F63A-418F-A14D-14DAD64E9FAE}"/>
              </a:ext>
            </a:extLst>
          </p:cNvPr>
          <p:cNvSpPr>
            <a:spLocks noGrp="1"/>
          </p:cNvSpPr>
          <p:nvPr/>
        </p:nvSpPr>
        <p:spPr>
          <a:xfrm>
            <a:off x="895350" y="2800350"/>
            <a:ext cx="28956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D8E7F7"/>
                </a:solidFill>
              </a:defRPr>
            </a:pPr>
            <a:r>
              <a:rPr sz="1275">
                <a:solidFill>
                  <a:srgbClr val="D8E7F7"/>
                </a:solidFill>
              </a:rPr>
              <a:t>EfficientNet-B0 используется как основной backbone с ImageNet-весами. ResNet50 оставлен как альтернативный backbone для сравнения.</a:t>
            </a:r>
          </a:p>
        </p:txBody>
      </p:sp>
      <p:sp>
        <p:nvSpPr>
          <p:cNvPr id="9" name="body-card">
            <a:extLst>
              <a:ext uri="{FF2B5EF4-FFF2-40B4-BE49-F238E27FC236}">
                <a16:creationId xmlns:a16="http://schemas.microsoft.com/office/drawing/2014/main" id="{392BF101-746C-45AD-A7C1-0902AC8571D2}"/>
              </a:ext>
            </a:extLst>
          </p:cNvPr>
          <p:cNvSpPr>
            <a:spLocks noGrp="1"/>
          </p:cNvSpPr>
          <p:nvPr/>
        </p:nvSpPr>
        <p:spPr>
          <a:xfrm>
            <a:off x="4419600" y="2152650"/>
            <a:ext cx="3352800" cy="2381250"/>
          </a:xfrm>
          <a:prstGeom prst="roundRect">
            <a:avLst>
              <a:gd name="adj" fmla="val 4800"/>
            </a:avLst>
          </a:prstGeom>
          <a:solidFill>
            <a:srgbClr val="141C2B"/>
          </a:solidFill>
          <a:ln w="9525">
            <a:solidFill>
              <a:srgbClr val="2E3A5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accent-rule">
            <a:extLst>
              <a:ext uri="{FF2B5EF4-FFF2-40B4-BE49-F238E27FC236}">
                <a16:creationId xmlns:a16="http://schemas.microsoft.com/office/drawing/2014/main" id="{72B6472B-DC33-45D2-B633-5A668A23A22B}"/>
              </a:ext>
            </a:extLst>
          </p:cNvPr>
          <p:cNvSpPr>
            <a:spLocks noGrp="1"/>
          </p:cNvSpPr>
          <p:nvPr/>
        </p:nvSpPr>
        <p:spPr>
          <a:xfrm>
            <a:off x="4419600" y="2152650"/>
            <a:ext cx="66675" cy="238125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11" name="body-card-heading">
            <a:extLst>
              <a:ext uri="{FF2B5EF4-FFF2-40B4-BE49-F238E27FC236}">
                <a16:creationId xmlns:a16="http://schemas.microsoft.com/office/drawing/2014/main" id="{631C50D6-EEAD-46F9-AD8B-276DB1705B09}"/>
              </a:ext>
            </a:extLst>
          </p:cNvPr>
          <p:cNvSpPr>
            <a:spLocks noGrp="1"/>
          </p:cNvSpPr>
          <p:nvPr/>
        </p:nvSpPr>
        <p:spPr>
          <a:xfrm>
            <a:off x="4648200" y="23622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9653"/>
                </a:solidFill>
              </a:defRPr>
            </a:pPr>
            <a:r>
              <a:rPr sz="1725" b="1">
                <a:solidFill>
                  <a:srgbClr val="169653"/>
                </a:solidFill>
              </a:rPr>
              <a:t>Обучение</a:t>
            </a:r>
          </a:p>
        </p:txBody>
      </p:sp>
      <p:sp>
        <p:nvSpPr>
          <p:cNvPr id="12" name="body-card-body">
            <a:extLst>
              <a:ext uri="{FF2B5EF4-FFF2-40B4-BE49-F238E27FC236}">
                <a16:creationId xmlns:a16="http://schemas.microsoft.com/office/drawing/2014/main" id="{05CDB299-BF31-41DB-ABB9-FF0B1A4EE1DE}"/>
              </a:ext>
            </a:extLst>
          </p:cNvPr>
          <p:cNvSpPr>
            <a:spLocks noGrp="1"/>
          </p:cNvSpPr>
          <p:nvPr/>
        </p:nvSpPr>
        <p:spPr>
          <a:xfrm>
            <a:off x="4648200" y="2800350"/>
            <a:ext cx="28956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D8E7F7"/>
                </a:solidFill>
              </a:defRPr>
            </a:pPr>
            <a:r>
              <a:rPr sz="1275">
                <a:solidFill>
                  <a:srgbClr val="D8E7F7"/>
                </a:solidFill>
              </a:rPr>
              <a:t>15 эпох, batch 16, размер входа 320 px, AdamW, CosineAnnealingLR, аугментации цвета и поворотов.</a:t>
            </a:r>
          </a:p>
        </p:txBody>
      </p:sp>
      <p:sp>
        <p:nvSpPr>
          <p:cNvPr id="13" name="body-card">
            <a:extLst>
              <a:ext uri="{FF2B5EF4-FFF2-40B4-BE49-F238E27FC236}">
                <a16:creationId xmlns:a16="http://schemas.microsoft.com/office/drawing/2014/main" id="{65DA3CE0-1041-42AE-A1C9-0F602A5DF957}"/>
              </a:ext>
            </a:extLst>
          </p:cNvPr>
          <p:cNvSpPr>
            <a:spLocks noGrp="1"/>
          </p:cNvSpPr>
          <p:nvPr/>
        </p:nvSpPr>
        <p:spPr>
          <a:xfrm>
            <a:off x="8172450" y="2152650"/>
            <a:ext cx="3352800" cy="2381250"/>
          </a:xfrm>
          <a:prstGeom prst="roundRect">
            <a:avLst>
              <a:gd name="adj" fmla="val 4800"/>
            </a:avLst>
          </a:prstGeom>
          <a:solidFill>
            <a:srgbClr val="141C2B"/>
          </a:solidFill>
          <a:ln w="9525">
            <a:solidFill>
              <a:srgbClr val="2E3A5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accent-rule">
            <a:extLst>
              <a:ext uri="{FF2B5EF4-FFF2-40B4-BE49-F238E27FC236}">
                <a16:creationId xmlns:a16="http://schemas.microsoft.com/office/drawing/2014/main" id="{384A0A9B-1B3D-4370-BE69-21CA3B3633E8}"/>
              </a:ext>
            </a:extLst>
          </p:cNvPr>
          <p:cNvSpPr>
            <a:spLocks noGrp="1"/>
          </p:cNvSpPr>
          <p:nvPr/>
        </p:nvSpPr>
        <p:spPr>
          <a:xfrm>
            <a:off x="8172450" y="2152650"/>
            <a:ext cx="66675" cy="2381250"/>
          </a:xfrm>
          <a:prstGeom prst="rect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</p:sp>
      <p:sp>
        <p:nvSpPr>
          <p:cNvPr id="15" name="body-card-heading">
            <a:extLst>
              <a:ext uri="{FF2B5EF4-FFF2-40B4-BE49-F238E27FC236}">
                <a16:creationId xmlns:a16="http://schemas.microsoft.com/office/drawing/2014/main" id="{245F7918-661E-4C27-9AD2-A34727F15585}"/>
              </a:ext>
            </a:extLst>
          </p:cNvPr>
          <p:cNvSpPr>
            <a:spLocks noGrp="1"/>
          </p:cNvSpPr>
          <p:nvPr/>
        </p:nvSpPr>
        <p:spPr>
          <a:xfrm>
            <a:off x="8401050" y="23622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D97706"/>
                </a:solidFill>
              </a:defRPr>
            </a:pPr>
            <a:r>
              <a:rPr sz="1725" b="1">
                <a:solidFill>
                  <a:srgbClr val="D97706"/>
                </a:solidFill>
              </a:rPr>
              <a:t>Баланс классов</a:t>
            </a:r>
          </a:p>
        </p:txBody>
      </p:sp>
      <p:sp>
        <p:nvSpPr>
          <p:cNvPr id="16" name="body-card-body">
            <a:extLst>
              <a:ext uri="{FF2B5EF4-FFF2-40B4-BE49-F238E27FC236}">
                <a16:creationId xmlns:a16="http://schemas.microsoft.com/office/drawing/2014/main" id="{17C28BFC-CCE5-4C31-A1BA-6A169AECD898}"/>
              </a:ext>
            </a:extLst>
          </p:cNvPr>
          <p:cNvSpPr>
            <a:spLocks noGrp="1"/>
          </p:cNvSpPr>
          <p:nvPr/>
        </p:nvSpPr>
        <p:spPr>
          <a:xfrm>
            <a:off x="8401050" y="2800350"/>
            <a:ext cx="28956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D8E7F7"/>
                </a:solidFill>
              </a:defRPr>
            </a:pPr>
            <a:r>
              <a:rPr sz="1275">
                <a:solidFill>
                  <a:srgbClr val="D8E7F7"/>
                </a:solidFill>
              </a:rPr>
              <a:t>Редкий класс talc усиливается через class weights и WeightedRandomSampler, чтобы модель не игнорировала оталькованную руду.</a:t>
            </a:r>
          </a:p>
        </p:txBody>
      </p:sp>
      <p:sp>
        <p:nvSpPr>
          <p:cNvPr id="17" name="dark-note">
            <a:extLst>
              <a:ext uri="{FF2B5EF4-FFF2-40B4-BE49-F238E27FC236}">
                <a16:creationId xmlns:a16="http://schemas.microsoft.com/office/drawing/2014/main" id="{A781359A-212A-488C-93FA-506200FE1E43}"/>
              </a:ext>
            </a:extLst>
          </p:cNvPr>
          <p:cNvSpPr>
            <a:spLocks noGrp="1"/>
          </p:cNvSpPr>
          <p:nvPr/>
        </p:nvSpPr>
        <p:spPr>
          <a:xfrm>
            <a:off x="952500" y="5105400"/>
            <a:ext cx="10287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>
                <a:solidFill>
                  <a:srgbClr val="D8E7F7"/>
                </a:solidFill>
              </a:defRPr>
            </a:pPr>
            <a:r>
              <a:rPr sz="1575">
                <a:solidFill>
                  <a:srgbClr val="D8E7F7"/>
                </a:solidFill>
              </a:rPr>
              <a:t>Checkpoint `weights/classifier.pt` содержит backbone `efficientnet_b0`, классы `ordinary / hard_to_process / talc` и размер входа модели.</a:t>
            </a:r>
          </a:p>
        </p:txBody>
      </p:sp>
      <p:sp>
        <p:nvSpPr>
          <p:cNvPr id="18" name="footer-left">
            <a:extLst>
              <a:ext uri="{FF2B5EF4-FFF2-40B4-BE49-F238E27FC236}">
                <a16:creationId xmlns:a16="http://schemas.microsoft.com/office/drawing/2014/main" id="{AB1B2A8E-3DB8-41C2-8424-D0AD8CBB00C8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19" name="footer-num">
            <a:extLst>
              <a:ext uri="{FF2B5EF4-FFF2-40B4-BE49-F238E27FC236}">
                <a16:creationId xmlns:a16="http://schemas.microsoft.com/office/drawing/2014/main" id="{5B548AFC-F3D6-4195-9AC6-E47BD348A5C1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50878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lide-title">
            <a:extLst>
              <a:ext uri="{FF2B5EF4-FFF2-40B4-BE49-F238E27FC236}">
                <a16:creationId xmlns:a16="http://schemas.microsoft.com/office/drawing/2014/main" id="{3040C65D-CFF3-49AE-8A3D-F28693EA4566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P2 закрывает качество через F1, accuracy и матрицу ошибок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E4D30A0B-A32C-4181-B7F0-83D6446D8DCF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Эти метрики показывают, насколько стабильно модель различает все три сорта.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89C5E758-2409-4F77-B056-75945F8BE808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3BA7256C-7B5D-4967-B298-87E983179ACD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5" name="metric-card">
            <a:extLst>
              <a:ext uri="{FF2B5EF4-FFF2-40B4-BE49-F238E27FC236}">
                <a16:creationId xmlns:a16="http://schemas.microsoft.com/office/drawing/2014/main" id="{A19164D3-59E0-4C61-A6AA-25E59FEB784C}"/>
              </a:ext>
            </a:extLst>
          </p:cNvPr>
          <p:cNvSpPr>
            <a:spLocks noGrp="1"/>
          </p:cNvSpPr>
          <p:nvPr/>
        </p:nvSpPr>
        <p:spPr>
          <a:xfrm>
            <a:off x="704850" y="2038350"/>
            <a:ext cx="240030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accent-rule">
            <a:extLst>
              <a:ext uri="{FF2B5EF4-FFF2-40B4-BE49-F238E27FC236}">
                <a16:creationId xmlns:a16="http://schemas.microsoft.com/office/drawing/2014/main" id="{43D092FF-E818-44B6-8A4A-FD66752FDBDE}"/>
              </a:ext>
            </a:extLst>
          </p:cNvPr>
          <p:cNvSpPr>
            <a:spLocks noGrp="1"/>
          </p:cNvSpPr>
          <p:nvPr/>
        </p:nvSpPr>
        <p:spPr>
          <a:xfrm>
            <a:off x="704850" y="2038350"/>
            <a:ext cx="2400300" cy="57150"/>
          </a:xfrm>
          <a:prstGeom prst="rect">
            <a:avLst/>
          </a:prstGeom>
          <a:solidFill>
            <a:srgbClr val="1656C9"/>
          </a:solidFill>
          <a:ln w="0">
            <a:solidFill>
              <a:srgbClr val="1656C9"/>
            </a:solidFill>
            <a:prstDash val="solid"/>
          </a:ln>
        </p:spPr>
      </p:sp>
      <p:sp>
        <p:nvSpPr>
          <p:cNvPr id="7" name="metric-label">
            <a:extLst>
              <a:ext uri="{FF2B5EF4-FFF2-40B4-BE49-F238E27FC236}">
                <a16:creationId xmlns:a16="http://schemas.microsoft.com/office/drawing/2014/main" id="{1DB003A4-85C4-41B3-8B81-C23F6721B1CC}"/>
              </a:ext>
            </a:extLst>
          </p:cNvPr>
          <p:cNvSpPr>
            <a:spLocks noGrp="1"/>
          </p:cNvSpPr>
          <p:nvPr/>
        </p:nvSpPr>
        <p:spPr>
          <a:xfrm>
            <a:off x="914400" y="2266950"/>
            <a:ext cx="1981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Основная метрика</a:t>
            </a:r>
          </a:p>
        </p:txBody>
      </p:sp>
      <p:sp>
        <p:nvSpPr>
          <p:cNvPr id="8" name="metric-value">
            <a:extLst>
              <a:ext uri="{FF2B5EF4-FFF2-40B4-BE49-F238E27FC236}">
                <a16:creationId xmlns:a16="http://schemas.microsoft.com/office/drawing/2014/main" id="{1B846FEE-6C27-4CC7-8396-A3FC5D8B6B68}"/>
              </a:ext>
            </a:extLst>
          </p:cNvPr>
          <p:cNvSpPr>
            <a:spLocks noGrp="1"/>
          </p:cNvSpPr>
          <p:nvPr/>
        </p:nvSpPr>
        <p:spPr>
          <a:xfrm>
            <a:off x="914400" y="2590800"/>
            <a:ext cx="1981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656C9"/>
                </a:solidFill>
              </a:defRPr>
            </a:pPr>
            <a:r>
              <a:rPr sz="2700" b="1">
                <a:solidFill>
                  <a:srgbClr val="1656C9"/>
                </a:solidFill>
              </a:rPr>
              <a:t>macro-F1</a:t>
            </a:r>
          </a:p>
        </p:txBody>
      </p:sp>
      <p:sp>
        <p:nvSpPr>
          <p:cNvPr id="9" name="metric-note">
            <a:extLst>
              <a:ext uri="{FF2B5EF4-FFF2-40B4-BE49-F238E27FC236}">
                <a16:creationId xmlns:a16="http://schemas.microsoft.com/office/drawing/2014/main" id="{DFA541D4-223D-4C62-8BF7-B8E1E3C820E9}"/>
              </a:ext>
            </a:extLst>
          </p:cNvPr>
          <p:cNvSpPr>
            <a:spLocks noGrp="1"/>
          </p:cNvSpPr>
          <p:nvPr/>
        </p:nvSpPr>
        <p:spPr>
          <a:xfrm>
            <a:off x="914400" y="3143250"/>
            <a:ext cx="1981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Усредняет качество по трём классам и не даёт редкому talc потеряться за общей accuracy.</a:t>
            </a:r>
          </a:p>
        </p:txBody>
      </p:sp>
      <p:sp>
        <p:nvSpPr>
          <p:cNvPr id="10" name="metric-card">
            <a:extLst>
              <a:ext uri="{FF2B5EF4-FFF2-40B4-BE49-F238E27FC236}">
                <a16:creationId xmlns:a16="http://schemas.microsoft.com/office/drawing/2014/main" id="{C6C9219B-8DD3-4E30-863F-7ECDA0234E3C}"/>
              </a:ext>
            </a:extLst>
          </p:cNvPr>
          <p:cNvSpPr>
            <a:spLocks noGrp="1"/>
          </p:cNvSpPr>
          <p:nvPr/>
        </p:nvSpPr>
        <p:spPr>
          <a:xfrm>
            <a:off x="3371850" y="2038350"/>
            <a:ext cx="240030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accent-rule">
            <a:extLst>
              <a:ext uri="{FF2B5EF4-FFF2-40B4-BE49-F238E27FC236}">
                <a16:creationId xmlns:a16="http://schemas.microsoft.com/office/drawing/2014/main" id="{169BD0F3-A387-48F1-B421-80F4466D4647}"/>
              </a:ext>
            </a:extLst>
          </p:cNvPr>
          <p:cNvSpPr>
            <a:spLocks noGrp="1"/>
          </p:cNvSpPr>
          <p:nvPr/>
        </p:nvSpPr>
        <p:spPr>
          <a:xfrm>
            <a:off x="3371850" y="2038350"/>
            <a:ext cx="2400300" cy="5715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12" name="metric-label">
            <a:extLst>
              <a:ext uri="{FF2B5EF4-FFF2-40B4-BE49-F238E27FC236}">
                <a16:creationId xmlns:a16="http://schemas.microsoft.com/office/drawing/2014/main" id="{CF1F6800-E0E6-47B0-A61A-D40863EE856E}"/>
              </a:ext>
            </a:extLst>
          </p:cNvPr>
          <p:cNvSpPr>
            <a:spLocks noGrp="1"/>
          </p:cNvSpPr>
          <p:nvPr/>
        </p:nvSpPr>
        <p:spPr>
          <a:xfrm>
            <a:off x="3581400" y="2266950"/>
            <a:ext cx="1981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Быстрая метрика</a:t>
            </a:r>
          </a:p>
        </p:txBody>
      </p:sp>
      <p:sp>
        <p:nvSpPr>
          <p:cNvPr id="13" name="metric-value">
            <a:extLst>
              <a:ext uri="{FF2B5EF4-FFF2-40B4-BE49-F238E27FC236}">
                <a16:creationId xmlns:a16="http://schemas.microsoft.com/office/drawing/2014/main" id="{042677C4-805B-4530-A1BF-1F4C5EBD11E2}"/>
              </a:ext>
            </a:extLst>
          </p:cNvPr>
          <p:cNvSpPr>
            <a:spLocks noGrp="1"/>
          </p:cNvSpPr>
          <p:nvPr/>
        </p:nvSpPr>
        <p:spPr>
          <a:xfrm>
            <a:off x="3581400" y="2590800"/>
            <a:ext cx="1981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69653"/>
                </a:solidFill>
              </a:defRPr>
            </a:pPr>
            <a:r>
              <a:rPr sz="2700" b="1">
                <a:solidFill>
                  <a:srgbClr val="169653"/>
                </a:solidFill>
              </a:rPr>
              <a:t>accuracy</a:t>
            </a:r>
          </a:p>
        </p:txBody>
      </p:sp>
      <p:sp>
        <p:nvSpPr>
          <p:cNvPr id="14" name="metric-note">
            <a:extLst>
              <a:ext uri="{FF2B5EF4-FFF2-40B4-BE49-F238E27FC236}">
                <a16:creationId xmlns:a16="http://schemas.microsoft.com/office/drawing/2014/main" id="{9A24990E-585B-42CA-B5A5-2E7D252C3463}"/>
              </a:ext>
            </a:extLst>
          </p:cNvPr>
          <p:cNvSpPr>
            <a:spLocks noGrp="1"/>
          </p:cNvSpPr>
          <p:nvPr/>
        </p:nvSpPr>
        <p:spPr>
          <a:xfrm>
            <a:off x="3581400" y="3143250"/>
            <a:ext cx="1981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Показывает долю верных ответов на validation split и удобна для общей оценки демо.</a:t>
            </a:r>
          </a:p>
        </p:txBody>
      </p:sp>
      <p:sp>
        <p:nvSpPr>
          <p:cNvPr id="15" name="metric-card">
            <a:extLst>
              <a:ext uri="{FF2B5EF4-FFF2-40B4-BE49-F238E27FC236}">
                <a16:creationId xmlns:a16="http://schemas.microsoft.com/office/drawing/2014/main" id="{21317CF8-6B4D-4CAC-8FFF-977840304357}"/>
              </a:ext>
            </a:extLst>
          </p:cNvPr>
          <p:cNvSpPr>
            <a:spLocks noGrp="1"/>
          </p:cNvSpPr>
          <p:nvPr/>
        </p:nvSpPr>
        <p:spPr>
          <a:xfrm>
            <a:off x="6038850" y="2038350"/>
            <a:ext cx="240030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accent-rule">
            <a:extLst>
              <a:ext uri="{FF2B5EF4-FFF2-40B4-BE49-F238E27FC236}">
                <a16:creationId xmlns:a16="http://schemas.microsoft.com/office/drawing/2014/main" id="{F0AAABB5-7AA1-479F-85A0-34E41EA3E4C3}"/>
              </a:ext>
            </a:extLst>
          </p:cNvPr>
          <p:cNvSpPr>
            <a:spLocks noGrp="1"/>
          </p:cNvSpPr>
          <p:nvPr/>
        </p:nvSpPr>
        <p:spPr>
          <a:xfrm>
            <a:off x="6038850" y="2038350"/>
            <a:ext cx="2400300" cy="57150"/>
          </a:xfrm>
          <a:prstGeom prst="rect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</p:sp>
      <p:sp>
        <p:nvSpPr>
          <p:cNvPr id="17" name="metric-label">
            <a:extLst>
              <a:ext uri="{FF2B5EF4-FFF2-40B4-BE49-F238E27FC236}">
                <a16:creationId xmlns:a16="http://schemas.microsoft.com/office/drawing/2014/main" id="{82B33CE4-DDF3-486E-B8E5-B289E2A5B16B}"/>
              </a:ext>
            </a:extLst>
          </p:cNvPr>
          <p:cNvSpPr>
            <a:spLocks noGrp="1"/>
          </p:cNvSpPr>
          <p:nvPr/>
        </p:nvSpPr>
        <p:spPr>
          <a:xfrm>
            <a:off x="6248400" y="2266950"/>
            <a:ext cx="1981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Разбор ошибок</a:t>
            </a:r>
          </a:p>
        </p:txBody>
      </p:sp>
      <p:sp>
        <p:nvSpPr>
          <p:cNvPr id="18" name="metric-value">
            <a:extLst>
              <a:ext uri="{FF2B5EF4-FFF2-40B4-BE49-F238E27FC236}">
                <a16:creationId xmlns:a16="http://schemas.microsoft.com/office/drawing/2014/main" id="{B895B011-B003-49C1-8DC1-30420C45D451}"/>
              </a:ext>
            </a:extLst>
          </p:cNvPr>
          <p:cNvSpPr>
            <a:spLocks noGrp="1"/>
          </p:cNvSpPr>
          <p:nvPr/>
        </p:nvSpPr>
        <p:spPr>
          <a:xfrm>
            <a:off x="6248400" y="2590800"/>
            <a:ext cx="1981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D97706"/>
                </a:solidFill>
              </a:defRPr>
            </a:pPr>
            <a:r>
              <a:rPr sz="2700" b="1">
                <a:solidFill>
                  <a:srgbClr val="D97706"/>
                </a:solidFill>
              </a:rPr>
              <a:t>per-class</a:t>
            </a:r>
          </a:p>
        </p:txBody>
      </p:sp>
      <p:sp>
        <p:nvSpPr>
          <p:cNvPr id="19" name="metric-note">
            <a:extLst>
              <a:ext uri="{FF2B5EF4-FFF2-40B4-BE49-F238E27FC236}">
                <a16:creationId xmlns:a16="http://schemas.microsoft.com/office/drawing/2014/main" id="{591986C3-F10B-4FE9-9DBC-1876E3E39BF8}"/>
              </a:ext>
            </a:extLst>
          </p:cNvPr>
          <p:cNvSpPr>
            <a:spLocks noGrp="1"/>
          </p:cNvSpPr>
          <p:nvPr/>
        </p:nvSpPr>
        <p:spPr>
          <a:xfrm>
            <a:off x="6248400" y="3143250"/>
            <a:ext cx="1981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Precision / recall / F1 по каждому сорту показывают, какой сорт определяется хуже.</a:t>
            </a:r>
          </a:p>
        </p:txBody>
      </p:sp>
      <p:sp>
        <p:nvSpPr>
          <p:cNvPr id="20" name="matrix-panel">
            <a:extLst>
              <a:ext uri="{FF2B5EF4-FFF2-40B4-BE49-F238E27FC236}">
                <a16:creationId xmlns:a16="http://schemas.microsoft.com/office/drawing/2014/main" id="{3B1B07AE-31C2-4DB4-95F5-9B8F4675B9B3}"/>
              </a:ext>
            </a:extLst>
          </p:cNvPr>
          <p:cNvSpPr>
            <a:spLocks noGrp="1"/>
          </p:cNvSpPr>
          <p:nvPr/>
        </p:nvSpPr>
        <p:spPr>
          <a:xfrm>
            <a:off x="8979118" y="2400300"/>
            <a:ext cx="2897571" cy="2819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row-label-0">
            <a:extLst>
              <a:ext uri="{FF2B5EF4-FFF2-40B4-BE49-F238E27FC236}">
                <a16:creationId xmlns:a16="http://schemas.microsoft.com/office/drawing/2014/main" id="{B6A18942-0906-466C-940E-2FB9E0DF03DE}"/>
              </a:ext>
            </a:extLst>
          </p:cNvPr>
          <p:cNvSpPr>
            <a:spLocks noGrp="1"/>
          </p:cNvSpPr>
          <p:nvPr/>
        </p:nvSpPr>
        <p:spPr>
          <a:xfrm>
            <a:off x="8743950" y="2971800"/>
            <a:ext cx="800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88">
                <a:solidFill>
                  <a:srgbClr val="64748B"/>
                </a:solidFill>
              </a:defRPr>
            </a:pPr>
            <a:r>
              <a:rPr sz="1088">
                <a:solidFill>
                  <a:srgbClr val="64748B"/>
                </a:solidFill>
              </a:rPr>
              <a:t>Рядовая</a:t>
            </a:r>
          </a:p>
        </p:txBody>
      </p:sp>
      <p:sp>
        <p:nvSpPr>
          <p:cNvPr id="22" name="col-label-0">
            <a:extLst>
              <a:ext uri="{FF2B5EF4-FFF2-40B4-BE49-F238E27FC236}">
                <a16:creationId xmlns:a16="http://schemas.microsoft.com/office/drawing/2014/main" id="{EBA7F81B-E54A-4F1D-AA4B-2A8D9F914A76}"/>
              </a:ext>
            </a:extLst>
          </p:cNvPr>
          <p:cNvSpPr>
            <a:spLocks noGrp="1"/>
          </p:cNvSpPr>
          <p:nvPr/>
        </p:nvSpPr>
        <p:spPr>
          <a:xfrm>
            <a:off x="9620250" y="2571750"/>
            <a:ext cx="68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Рядовая</a:t>
            </a:r>
          </a:p>
        </p:txBody>
      </p:sp>
      <p:sp>
        <p:nvSpPr>
          <p:cNvPr id="23" name="matrix-cell">
            <a:extLst>
              <a:ext uri="{FF2B5EF4-FFF2-40B4-BE49-F238E27FC236}">
                <a16:creationId xmlns:a16="http://schemas.microsoft.com/office/drawing/2014/main" id="{ABF0A799-00AE-429C-9546-070BC16B7669}"/>
              </a:ext>
            </a:extLst>
          </p:cNvPr>
          <p:cNvSpPr>
            <a:spLocks noGrp="1"/>
          </p:cNvSpPr>
          <p:nvPr/>
        </p:nvSpPr>
        <p:spPr>
          <a:xfrm>
            <a:off x="9620250" y="2800350"/>
            <a:ext cx="638175" cy="638175"/>
          </a:xfrm>
          <a:prstGeom prst="roundRect">
            <a:avLst>
              <a:gd name="adj" fmla="val 8955"/>
            </a:avLst>
          </a:prstGeom>
          <a:solidFill>
            <a:srgbClr val="DDEBFF"/>
          </a:solidFill>
          <a:ln w="9525">
            <a:solidFill>
              <a:srgbClr val="1656C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4" name="matrix-cell-text">
            <a:extLst>
              <a:ext uri="{FF2B5EF4-FFF2-40B4-BE49-F238E27FC236}">
                <a16:creationId xmlns:a16="http://schemas.microsoft.com/office/drawing/2014/main" id="{A4B8BA43-0143-47F9-8895-545A6FEA7132}"/>
              </a:ext>
            </a:extLst>
          </p:cNvPr>
          <p:cNvSpPr>
            <a:spLocks noGrp="1"/>
          </p:cNvSpPr>
          <p:nvPr/>
        </p:nvSpPr>
        <p:spPr>
          <a:xfrm>
            <a:off x="9620250" y="3009900"/>
            <a:ext cx="6381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656C9"/>
                </a:solidFill>
              </a:defRPr>
            </a:pPr>
            <a:r>
              <a:rPr sz="1350" b="1">
                <a:solidFill>
                  <a:srgbClr val="1656C9"/>
                </a:solidFill>
              </a:rPr>
              <a:t>TP</a:t>
            </a:r>
          </a:p>
        </p:txBody>
      </p:sp>
      <p:sp>
        <p:nvSpPr>
          <p:cNvPr id="25" name="matrix-cell">
            <a:extLst>
              <a:ext uri="{FF2B5EF4-FFF2-40B4-BE49-F238E27FC236}">
                <a16:creationId xmlns:a16="http://schemas.microsoft.com/office/drawing/2014/main" id="{AE73541C-FEA5-4D65-9649-248D882A9DB0}"/>
              </a:ext>
            </a:extLst>
          </p:cNvPr>
          <p:cNvSpPr>
            <a:spLocks noGrp="1"/>
          </p:cNvSpPr>
          <p:nvPr/>
        </p:nvSpPr>
        <p:spPr>
          <a:xfrm>
            <a:off x="10306050" y="2800350"/>
            <a:ext cx="638175" cy="638175"/>
          </a:xfrm>
          <a:prstGeom prst="roundRect">
            <a:avLst>
              <a:gd name="adj" fmla="val 8955"/>
            </a:avLst>
          </a:prstGeom>
          <a:solidFill>
            <a:srgbClr val="F5F8FC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6" name="matrix-cell-text">
            <a:extLst>
              <a:ext uri="{FF2B5EF4-FFF2-40B4-BE49-F238E27FC236}">
                <a16:creationId xmlns:a16="http://schemas.microsoft.com/office/drawing/2014/main" id="{CDC75758-12C8-4E4D-A3F1-0A27AA922981}"/>
              </a:ext>
            </a:extLst>
          </p:cNvPr>
          <p:cNvSpPr>
            <a:spLocks noGrp="1"/>
          </p:cNvSpPr>
          <p:nvPr/>
        </p:nvSpPr>
        <p:spPr>
          <a:xfrm>
            <a:off x="10306050" y="3009900"/>
            <a:ext cx="6381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FP/FN</a:t>
            </a:r>
          </a:p>
        </p:txBody>
      </p:sp>
      <p:sp>
        <p:nvSpPr>
          <p:cNvPr id="27" name="matrix-cell">
            <a:extLst>
              <a:ext uri="{FF2B5EF4-FFF2-40B4-BE49-F238E27FC236}">
                <a16:creationId xmlns:a16="http://schemas.microsoft.com/office/drawing/2014/main" id="{1AEBB07B-B7D5-408D-B5DC-238F462C279C}"/>
              </a:ext>
            </a:extLst>
          </p:cNvPr>
          <p:cNvSpPr>
            <a:spLocks noGrp="1"/>
          </p:cNvSpPr>
          <p:nvPr/>
        </p:nvSpPr>
        <p:spPr>
          <a:xfrm>
            <a:off x="10991850" y="2800350"/>
            <a:ext cx="638175" cy="638175"/>
          </a:xfrm>
          <a:prstGeom prst="roundRect">
            <a:avLst>
              <a:gd name="adj" fmla="val 8955"/>
            </a:avLst>
          </a:prstGeom>
          <a:solidFill>
            <a:srgbClr val="F5F8FC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8" name="matrix-cell-text">
            <a:extLst>
              <a:ext uri="{FF2B5EF4-FFF2-40B4-BE49-F238E27FC236}">
                <a16:creationId xmlns:a16="http://schemas.microsoft.com/office/drawing/2014/main" id="{60B30951-2311-4891-AFFF-2626DDB70B51}"/>
              </a:ext>
            </a:extLst>
          </p:cNvPr>
          <p:cNvSpPr>
            <a:spLocks noGrp="1"/>
          </p:cNvSpPr>
          <p:nvPr/>
        </p:nvSpPr>
        <p:spPr>
          <a:xfrm>
            <a:off x="10991850" y="3009900"/>
            <a:ext cx="6381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FP/FN</a:t>
            </a:r>
          </a:p>
        </p:txBody>
      </p:sp>
      <p:sp>
        <p:nvSpPr>
          <p:cNvPr id="29" name="row-label-1">
            <a:extLst>
              <a:ext uri="{FF2B5EF4-FFF2-40B4-BE49-F238E27FC236}">
                <a16:creationId xmlns:a16="http://schemas.microsoft.com/office/drawing/2014/main" id="{729130DB-B80C-4F93-B809-0AED63F14FD8}"/>
              </a:ext>
            </a:extLst>
          </p:cNvPr>
          <p:cNvSpPr>
            <a:spLocks noGrp="1"/>
          </p:cNvSpPr>
          <p:nvPr/>
        </p:nvSpPr>
        <p:spPr>
          <a:xfrm>
            <a:off x="8743950" y="3657600"/>
            <a:ext cx="800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88">
                <a:solidFill>
                  <a:srgbClr val="64748B"/>
                </a:solidFill>
              </a:defRPr>
            </a:pPr>
            <a:r>
              <a:rPr sz="1088">
                <a:solidFill>
                  <a:srgbClr val="64748B"/>
                </a:solidFill>
              </a:rPr>
              <a:t>Трудная</a:t>
            </a:r>
          </a:p>
        </p:txBody>
      </p:sp>
      <p:sp>
        <p:nvSpPr>
          <p:cNvPr id="30" name="col-label-1">
            <a:extLst>
              <a:ext uri="{FF2B5EF4-FFF2-40B4-BE49-F238E27FC236}">
                <a16:creationId xmlns:a16="http://schemas.microsoft.com/office/drawing/2014/main" id="{159B899A-1E07-425A-B372-9173831D33FA}"/>
              </a:ext>
            </a:extLst>
          </p:cNvPr>
          <p:cNvSpPr>
            <a:spLocks noGrp="1"/>
          </p:cNvSpPr>
          <p:nvPr/>
        </p:nvSpPr>
        <p:spPr>
          <a:xfrm>
            <a:off x="10306050" y="2571750"/>
            <a:ext cx="68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Трудная</a:t>
            </a:r>
          </a:p>
        </p:txBody>
      </p:sp>
      <p:sp>
        <p:nvSpPr>
          <p:cNvPr id="31" name="matrix-cell">
            <a:extLst>
              <a:ext uri="{FF2B5EF4-FFF2-40B4-BE49-F238E27FC236}">
                <a16:creationId xmlns:a16="http://schemas.microsoft.com/office/drawing/2014/main" id="{FCACDD67-58AC-4A30-885C-4E7D33745688}"/>
              </a:ext>
            </a:extLst>
          </p:cNvPr>
          <p:cNvSpPr>
            <a:spLocks noGrp="1"/>
          </p:cNvSpPr>
          <p:nvPr/>
        </p:nvSpPr>
        <p:spPr>
          <a:xfrm>
            <a:off x="9620250" y="3486150"/>
            <a:ext cx="638175" cy="638175"/>
          </a:xfrm>
          <a:prstGeom prst="roundRect">
            <a:avLst>
              <a:gd name="adj" fmla="val 8955"/>
            </a:avLst>
          </a:prstGeom>
          <a:solidFill>
            <a:srgbClr val="F5F8FC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2" name="matrix-cell-text">
            <a:extLst>
              <a:ext uri="{FF2B5EF4-FFF2-40B4-BE49-F238E27FC236}">
                <a16:creationId xmlns:a16="http://schemas.microsoft.com/office/drawing/2014/main" id="{93D43F57-09B5-411D-8C94-26775D58D58D}"/>
              </a:ext>
            </a:extLst>
          </p:cNvPr>
          <p:cNvSpPr>
            <a:spLocks noGrp="1"/>
          </p:cNvSpPr>
          <p:nvPr/>
        </p:nvSpPr>
        <p:spPr>
          <a:xfrm>
            <a:off x="9620250" y="3695700"/>
            <a:ext cx="6381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FP/FN</a:t>
            </a:r>
          </a:p>
        </p:txBody>
      </p:sp>
      <p:sp>
        <p:nvSpPr>
          <p:cNvPr id="33" name="matrix-cell">
            <a:extLst>
              <a:ext uri="{FF2B5EF4-FFF2-40B4-BE49-F238E27FC236}">
                <a16:creationId xmlns:a16="http://schemas.microsoft.com/office/drawing/2014/main" id="{3B9CCE72-E930-463E-9585-93DA2EEE8D21}"/>
              </a:ext>
            </a:extLst>
          </p:cNvPr>
          <p:cNvSpPr>
            <a:spLocks noGrp="1"/>
          </p:cNvSpPr>
          <p:nvPr/>
        </p:nvSpPr>
        <p:spPr>
          <a:xfrm>
            <a:off x="10306050" y="3486150"/>
            <a:ext cx="638175" cy="638175"/>
          </a:xfrm>
          <a:prstGeom prst="roundRect">
            <a:avLst>
              <a:gd name="adj" fmla="val 8955"/>
            </a:avLst>
          </a:prstGeom>
          <a:solidFill>
            <a:srgbClr val="DDEBFF"/>
          </a:solidFill>
          <a:ln w="9525">
            <a:solidFill>
              <a:srgbClr val="1656C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4" name="matrix-cell-text">
            <a:extLst>
              <a:ext uri="{FF2B5EF4-FFF2-40B4-BE49-F238E27FC236}">
                <a16:creationId xmlns:a16="http://schemas.microsoft.com/office/drawing/2014/main" id="{AC30CE8E-3323-44C1-96E9-20D354DD0988}"/>
              </a:ext>
            </a:extLst>
          </p:cNvPr>
          <p:cNvSpPr>
            <a:spLocks noGrp="1"/>
          </p:cNvSpPr>
          <p:nvPr/>
        </p:nvSpPr>
        <p:spPr>
          <a:xfrm>
            <a:off x="10306050" y="3695700"/>
            <a:ext cx="6381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656C9"/>
                </a:solidFill>
              </a:defRPr>
            </a:pPr>
            <a:r>
              <a:rPr sz="1350" b="1">
                <a:solidFill>
                  <a:srgbClr val="1656C9"/>
                </a:solidFill>
              </a:rPr>
              <a:t>TP</a:t>
            </a:r>
          </a:p>
        </p:txBody>
      </p:sp>
      <p:sp>
        <p:nvSpPr>
          <p:cNvPr id="35" name="matrix-cell">
            <a:extLst>
              <a:ext uri="{FF2B5EF4-FFF2-40B4-BE49-F238E27FC236}">
                <a16:creationId xmlns:a16="http://schemas.microsoft.com/office/drawing/2014/main" id="{B674EC6E-A2B7-4EA2-A049-9F39E52176A6}"/>
              </a:ext>
            </a:extLst>
          </p:cNvPr>
          <p:cNvSpPr>
            <a:spLocks noGrp="1"/>
          </p:cNvSpPr>
          <p:nvPr/>
        </p:nvSpPr>
        <p:spPr>
          <a:xfrm>
            <a:off x="10991850" y="3486150"/>
            <a:ext cx="638175" cy="638175"/>
          </a:xfrm>
          <a:prstGeom prst="roundRect">
            <a:avLst>
              <a:gd name="adj" fmla="val 8955"/>
            </a:avLst>
          </a:prstGeom>
          <a:solidFill>
            <a:srgbClr val="F5F8FC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6" name="matrix-cell-text">
            <a:extLst>
              <a:ext uri="{FF2B5EF4-FFF2-40B4-BE49-F238E27FC236}">
                <a16:creationId xmlns:a16="http://schemas.microsoft.com/office/drawing/2014/main" id="{C5B06466-E416-47B2-B121-A76B7189A3A3}"/>
              </a:ext>
            </a:extLst>
          </p:cNvPr>
          <p:cNvSpPr>
            <a:spLocks noGrp="1"/>
          </p:cNvSpPr>
          <p:nvPr/>
        </p:nvSpPr>
        <p:spPr>
          <a:xfrm>
            <a:off x="10991850" y="3695700"/>
            <a:ext cx="6381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FP/FN</a:t>
            </a:r>
          </a:p>
        </p:txBody>
      </p:sp>
      <p:sp>
        <p:nvSpPr>
          <p:cNvPr id="37" name="row-label-2">
            <a:extLst>
              <a:ext uri="{FF2B5EF4-FFF2-40B4-BE49-F238E27FC236}">
                <a16:creationId xmlns:a16="http://schemas.microsoft.com/office/drawing/2014/main" id="{0F09FBD7-5D75-4CBE-9AA3-1D7627BBA9A9}"/>
              </a:ext>
            </a:extLst>
          </p:cNvPr>
          <p:cNvSpPr>
            <a:spLocks noGrp="1"/>
          </p:cNvSpPr>
          <p:nvPr/>
        </p:nvSpPr>
        <p:spPr>
          <a:xfrm>
            <a:off x="8743950" y="4343400"/>
            <a:ext cx="800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88">
                <a:solidFill>
                  <a:srgbClr val="64748B"/>
                </a:solidFill>
              </a:defRPr>
            </a:pPr>
            <a:r>
              <a:rPr sz="1088">
                <a:solidFill>
                  <a:srgbClr val="64748B"/>
                </a:solidFill>
              </a:rPr>
              <a:t>Отальк.</a:t>
            </a:r>
          </a:p>
        </p:txBody>
      </p:sp>
      <p:sp>
        <p:nvSpPr>
          <p:cNvPr id="38" name="col-label-2">
            <a:extLst>
              <a:ext uri="{FF2B5EF4-FFF2-40B4-BE49-F238E27FC236}">
                <a16:creationId xmlns:a16="http://schemas.microsoft.com/office/drawing/2014/main" id="{0E762764-7198-4465-90A7-93770D0091E3}"/>
              </a:ext>
            </a:extLst>
          </p:cNvPr>
          <p:cNvSpPr>
            <a:spLocks noGrp="1"/>
          </p:cNvSpPr>
          <p:nvPr/>
        </p:nvSpPr>
        <p:spPr>
          <a:xfrm>
            <a:off x="10991850" y="2571750"/>
            <a:ext cx="68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Отальк.</a:t>
            </a:r>
          </a:p>
        </p:txBody>
      </p:sp>
      <p:sp>
        <p:nvSpPr>
          <p:cNvPr id="39" name="matrix-cell">
            <a:extLst>
              <a:ext uri="{FF2B5EF4-FFF2-40B4-BE49-F238E27FC236}">
                <a16:creationId xmlns:a16="http://schemas.microsoft.com/office/drawing/2014/main" id="{778B4A76-2788-4A2D-9998-4E82B30A18CC}"/>
              </a:ext>
            </a:extLst>
          </p:cNvPr>
          <p:cNvSpPr>
            <a:spLocks noGrp="1"/>
          </p:cNvSpPr>
          <p:nvPr/>
        </p:nvSpPr>
        <p:spPr>
          <a:xfrm>
            <a:off x="9620250" y="4171950"/>
            <a:ext cx="638175" cy="638175"/>
          </a:xfrm>
          <a:prstGeom prst="roundRect">
            <a:avLst>
              <a:gd name="adj" fmla="val 8955"/>
            </a:avLst>
          </a:prstGeom>
          <a:solidFill>
            <a:srgbClr val="F5F8FC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0" name="matrix-cell-text">
            <a:extLst>
              <a:ext uri="{FF2B5EF4-FFF2-40B4-BE49-F238E27FC236}">
                <a16:creationId xmlns:a16="http://schemas.microsoft.com/office/drawing/2014/main" id="{40EB8A7B-02BD-41C8-B4D4-F3D2B10027CD}"/>
              </a:ext>
            </a:extLst>
          </p:cNvPr>
          <p:cNvSpPr>
            <a:spLocks noGrp="1"/>
          </p:cNvSpPr>
          <p:nvPr/>
        </p:nvSpPr>
        <p:spPr>
          <a:xfrm>
            <a:off x="9620250" y="4381500"/>
            <a:ext cx="6381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FP/FN</a:t>
            </a:r>
          </a:p>
        </p:txBody>
      </p:sp>
      <p:sp>
        <p:nvSpPr>
          <p:cNvPr id="41" name="matrix-cell">
            <a:extLst>
              <a:ext uri="{FF2B5EF4-FFF2-40B4-BE49-F238E27FC236}">
                <a16:creationId xmlns:a16="http://schemas.microsoft.com/office/drawing/2014/main" id="{49DDA5C9-E2E4-402D-B0A7-8FBE3742DD42}"/>
              </a:ext>
            </a:extLst>
          </p:cNvPr>
          <p:cNvSpPr>
            <a:spLocks noGrp="1"/>
          </p:cNvSpPr>
          <p:nvPr/>
        </p:nvSpPr>
        <p:spPr>
          <a:xfrm>
            <a:off x="10306050" y="4171950"/>
            <a:ext cx="638175" cy="638175"/>
          </a:xfrm>
          <a:prstGeom prst="roundRect">
            <a:avLst>
              <a:gd name="adj" fmla="val 8955"/>
            </a:avLst>
          </a:prstGeom>
          <a:solidFill>
            <a:srgbClr val="F5F8FC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2" name="matrix-cell-text">
            <a:extLst>
              <a:ext uri="{FF2B5EF4-FFF2-40B4-BE49-F238E27FC236}">
                <a16:creationId xmlns:a16="http://schemas.microsoft.com/office/drawing/2014/main" id="{F6A9F0D1-4392-4700-8CDC-C42EFA89B225}"/>
              </a:ext>
            </a:extLst>
          </p:cNvPr>
          <p:cNvSpPr>
            <a:spLocks noGrp="1"/>
          </p:cNvSpPr>
          <p:nvPr/>
        </p:nvSpPr>
        <p:spPr>
          <a:xfrm>
            <a:off x="10306050" y="4381500"/>
            <a:ext cx="6381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FP/FN</a:t>
            </a:r>
          </a:p>
        </p:txBody>
      </p:sp>
      <p:sp>
        <p:nvSpPr>
          <p:cNvPr id="43" name="matrix-cell">
            <a:extLst>
              <a:ext uri="{FF2B5EF4-FFF2-40B4-BE49-F238E27FC236}">
                <a16:creationId xmlns:a16="http://schemas.microsoft.com/office/drawing/2014/main" id="{48CACB90-6257-4DB5-A06B-81C8EF0E15F0}"/>
              </a:ext>
            </a:extLst>
          </p:cNvPr>
          <p:cNvSpPr>
            <a:spLocks noGrp="1"/>
          </p:cNvSpPr>
          <p:nvPr/>
        </p:nvSpPr>
        <p:spPr>
          <a:xfrm>
            <a:off x="10991850" y="4171950"/>
            <a:ext cx="638175" cy="638175"/>
          </a:xfrm>
          <a:prstGeom prst="roundRect">
            <a:avLst>
              <a:gd name="adj" fmla="val 8955"/>
            </a:avLst>
          </a:prstGeom>
          <a:solidFill>
            <a:srgbClr val="DDEBFF"/>
          </a:solidFill>
          <a:ln w="9525">
            <a:solidFill>
              <a:srgbClr val="1656C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4" name="matrix-cell-text">
            <a:extLst>
              <a:ext uri="{FF2B5EF4-FFF2-40B4-BE49-F238E27FC236}">
                <a16:creationId xmlns:a16="http://schemas.microsoft.com/office/drawing/2014/main" id="{1A2AB8C2-0826-4EF1-9E22-FF04FFF21617}"/>
              </a:ext>
            </a:extLst>
          </p:cNvPr>
          <p:cNvSpPr>
            <a:spLocks noGrp="1"/>
          </p:cNvSpPr>
          <p:nvPr/>
        </p:nvSpPr>
        <p:spPr>
          <a:xfrm>
            <a:off x="10991850" y="4381500"/>
            <a:ext cx="6381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656C9"/>
                </a:solidFill>
              </a:defRPr>
            </a:pPr>
            <a:r>
              <a:rPr sz="1350" b="1">
                <a:solidFill>
                  <a:srgbClr val="1656C9"/>
                </a:solidFill>
              </a:rPr>
              <a:t>TP</a:t>
            </a:r>
          </a:p>
        </p:txBody>
      </p:sp>
      <p:sp>
        <p:nvSpPr>
          <p:cNvPr id="45" name="matrix-caption">
            <a:extLst>
              <a:ext uri="{FF2B5EF4-FFF2-40B4-BE49-F238E27FC236}">
                <a16:creationId xmlns:a16="http://schemas.microsoft.com/office/drawing/2014/main" id="{CC3EFA50-1317-429B-B452-A033366C7125}"/>
              </a:ext>
            </a:extLst>
          </p:cNvPr>
          <p:cNvSpPr>
            <a:spLocks noGrp="1"/>
          </p:cNvSpPr>
          <p:nvPr/>
        </p:nvSpPr>
        <p:spPr>
          <a:xfrm>
            <a:off x="8972550" y="4762500"/>
            <a:ext cx="2457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Confusion matrix: строки — факт, столбцы — прогноз</a:t>
            </a:r>
          </a:p>
        </p:txBody>
      </p:sp>
      <p:sp>
        <p:nvSpPr>
          <p:cNvPr id="46" name="p2-foot">
            <a:extLst>
              <a:ext uri="{FF2B5EF4-FFF2-40B4-BE49-F238E27FC236}">
                <a16:creationId xmlns:a16="http://schemas.microsoft.com/office/drawing/2014/main" id="{3ACE7ED1-3ABA-4A78-94CA-22AC0B742984}"/>
              </a:ext>
            </a:extLst>
          </p:cNvPr>
          <p:cNvSpPr>
            <a:spLocks noGrp="1"/>
          </p:cNvSpPr>
          <p:nvPr/>
        </p:nvSpPr>
        <p:spPr>
          <a:xfrm>
            <a:off x="876300" y="5219700"/>
            <a:ext cx="10439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>
                <a:solidFill>
                  <a:srgbClr val="243044"/>
                </a:solidFill>
              </a:defRPr>
            </a:pPr>
            <a:r>
              <a:rPr sz="1500">
                <a:solidFill>
                  <a:srgbClr val="243044"/>
                </a:solidFill>
              </a:rPr>
              <a:t>В отчёт P2 входят: macro-F1, accuracy, confusion matrix, размеры train/val и точность по классам. Сплит выполняется по ID шлифа, чтобы поля одного шлифа не попадали одновременно в train и val.</a:t>
            </a:r>
          </a:p>
        </p:txBody>
      </p:sp>
      <p:sp>
        <p:nvSpPr>
          <p:cNvPr id="47" name="footer-left">
            <a:extLst>
              <a:ext uri="{FF2B5EF4-FFF2-40B4-BE49-F238E27FC236}">
                <a16:creationId xmlns:a16="http://schemas.microsoft.com/office/drawing/2014/main" id="{8BB4C8FE-86B0-40DA-9076-3E7A4CE4B110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8" name="footer-num">
            <a:extLst>
              <a:ext uri="{FF2B5EF4-FFF2-40B4-BE49-F238E27FC236}">
                <a16:creationId xmlns:a16="http://schemas.microsoft.com/office/drawing/2014/main" id="{F875EA2D-F946-4DCA-AC68-3897E8474159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06264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lide-title">
            <a:extLst>
              <a:ext uri="{FF2B5EF4-FFF2-40B4-BE49-F238E27FC236}">
                <a16:creationId xmlns:a16="http://schemas.microsoft.com/office/drawing/2014/main" id="{46CBB664-8100-4D4E-B9B3-C5086EA0B917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Сплит по ID шлифа защищает метрики от утечки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8AC4ECCF-0AA2-4E0B-AF59-317A8EA04234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Валидация считается по целым шлифам, а не по отдельным похожим полям зрения.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E1862A05-4190-4466-8AD5-ED7356ED34CB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7F2F2910-21E7-4908-B3AC-5D56F3CAC620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5" name="metric-card">
            <a:extLst>
              <a:ext uri="{FF2B5EF4-FFF2-40B4-BE49-F238E27FC236}">
                <a16:creationId xmlns:a16="http://schemas.microsoft.com/office/drawing/2014/main" id="{ECA6FC44-33EA-4DEC-95B6-DF7CB48F884A}"/>
              </a:ext>
            </a:extLst>
          </p:cNvPr>
          <p:cNvSpPr>
            <a:spLocks noGrp="1"/>
          </p:cNvSpPr>
          <p:nvPr/>
        </p:nvSpPr>
        <p:spPr>
          <a:xfrm>
            <a:off x="857250" y="2133600"/>
            <a:ext cx="22860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accent-rule">
            <a:extLst>
              <a:ext uri="{FF2B5EF4-FFF2-40B4-BE49-F238E27FC236}">
                <a16:creationId xmlns:a16="http://schemas.microsoft.com/office/drawing/2014/main" id="{661B4754-9D95-4952-AAD5-25B7F81B02FC}"/>
              </a:ext>
            </a:extLst>
          </p:cNvPr>
          <p:cNvSpPr>
            <a:spLocks noGrp="1"/>
          </p:cNvSpPr>
          <p:nvPr/>
        </p:nvSpPr>
        <p:spPr>
          <a:xfrm>
            <a:off x="857250" y="2133600"/>
            <a:ext cx="2286000" cy="57150"/>
          </a:xfrm>
          <a:prstGeom prst="rect">
            <a:avLst/>
          </a:prstGeom>
          <a:solidFill>
            <a:srgbClr val="1656C9"/>
          </a:solidFill>
          <a:ln w="0">
            <a:solidFill>
              <a:srgbClr val="1656C9"/>
            </a:solidFill>
            <a:prstDash val="solid"/>
          </a:ln>
        </p:spPr>
      </p:sp>
      <p:sp>
        <p:nvSpPr>
          <p:cNvPr id="7" name="metric-label">
            <a:extLst>
              <a:ext uri="{FF2B5EF4-FFF2-40B4-BE49-F238E27FC236}">
                <a16:creationId xmlns:a16="http://schemas.microsoft.com/office/drawing/2014/main" id="{4E5BF7F2-1B9E-4F86-897D-33730B3DF6B2}"/>
              </a:ext>
            </a:extLst>
          </p:cNvPr>
          <p:cNvSpPr>
            <a:spLocks noGrp="1"/>
          </p:cNvSpPr>
          <p:nvPr/>
        </p:nvSpPr>
        <p:spPr>
          <a:xfrm>
            <a:off x="1066800" y="236220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Разбиение</a:t>
            </a:r>
          </a:p>
        </p:txBody>
      </p:sp>
      <p:sp>
        <p:nvSpPr>
          <p:cNvPr id="8" name="metric-value">
            <a:extLst>
              <a:ext uri="{FF2B5EF4-FFF2-40B4-BE49-F238E27FC236}">
                <a16:creationId xmlns:a16="http://schemas.microsoft.com/office/drawing/2014/main" id="{D25795B3-A9D9-44A9-A8C5-926C71FEADD0}"/>
              </a:ext>
            </a:extLst>
          </p:cNvPr>
          <p:cNvSpPr>
            <a:spLocks noGrp="1"/>
          </p:cNvSpPr>
          <p:nvPr/>
        </p:nvSpPr>
        <p:spPr>
          <a:xfrm>
            <a:off x="1066800" y="2686050"/>
            <a:ext cx="1866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656C9"/>
                </a:solidFill>
              </a:defRPr>
            </a:pPr>
            <a:r>
              <a:rPr sz="2700" b="1">
                <a:solidFill>
                  <a:srgbClr val="1656C9"/>
                </a:solidFill>
              </a:rPr>
              <a:t>80 / 20</a:t>
            </a:r>
          </a:p>
        </p:txBody>
      </p:sp>
      <p:sp>
        <p:nvSpPr>
          <p:cNvPr id="9" name="metric-note">
            <a:extLst>
              <a:ext uri="{FF2B5EF4-FFF2-40B4-BE49-F238E27FC236}">
                <a16:creationId xmlns:a16="http://schemas.microsoft.com/office/drawing/2014/main" id="{8E5AD486-9F4C-4700-83B1-5F593F3F56F2}"/>
              </a:ext>
            </a:extLst>
          </p:cNvPr>
          <p:cNvSpPr>
            <a:spLocks noGrp="1"/>
          </p:cNvSpPr>
          <p:nvPr/>
        </p:nvSpPr>
        <p:spPr>
          <a:xfrm>
            <a:off x="1066800" y="3238500"/>
            <a:ext cx="1866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GroupShuffleSplit по slide_id, random seed 42.</a:t>
            </a:r>
          </a:p>
        </p:txBody>
      </p:sp>
      <p:sp>
        <p:nvSpPr>
          <p:cNvPr id="10" name="metric-card">
            <a:extLst>
              <a:ext uri="{FF2B5EF4-FFF2-40B4-BE49-F238E27FC236}">
                <a16:creationId xmlns:a16="http://schemas.microsoft.com/office/drawing/2014/main" id="{B5D30959-0031-4483-B738-DCE41CA63EFA}"/>
              </a:ext>
            </a:extLst>
          </p:cNvPr>
          <p:cNvSpPr>
            <a:spLocks noGrp="1"/>
          </p:cNvSpPr>
          <p:nvPr/>
        </p:nvSpPr>
        <p:spPr>
          <a:xfrm>
            <a:off x="3429000" y="2133600"/>
            <a:ext cx="22860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accent-rule">
            <a:extLst>
              <a:ext uri="{FF2B5EF4-FFF2-40B4-BE49-F238E27FC236}">
                <a16:creationId xmlns:a16="http://schemas.microsoft.com/office/drawing/2014/main" id="{43EFAF71-9CB5-4E05-B58E-CB61EC401324}"/>
              </a:ext>
            </a:extLst>
          </p:cNvPr>
          <p:cNvSpPr>
            <a:spLocks noGrp="1"/>
          </p:cNvSpPr>
          <p:nvPr/>
        </p:nvSpPr>
        <p:spPr>
          <a:xfrm>
            <a:off x="3429000" y="2133600"/>
            <a:ext cx="2286000" cy="5715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12" name="metric-label">
            <a:extLst>
              <a:ext uri="{FF2B5EF4-FFF2-40B4-BE49-F238E27FC236}">
                <a16:creationId xmlns:a16="http://schemas.microsoft.com/office/drawing/2014/main" id="{B9FAD7B7-D3B3-4F02-A37C-53D172DA29B5}"/>
              </a:ext>
            </a:extLst>
          </p:cNvPr>
          <p:cNvSpPr>
            <a:spLocks noGrp="1"/>
          </p:cNvSpPr>
          <p:nvPr/>
        </p:nvSpPr>
        <p:spPr>
          <a:xfrm>
            <a:off x="3638550" y="236220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Классы</a:t>
            </a:r>
          </a:p>
        </p:txBody>
      </p:sp>
      <p:sp>
        <p:nvSpPr>
          <p:cNvPr id="13" name="metric-value">
            <a:extLst>
              <a:ext uri="{FF2B5EF4-FFF2-40B4-BE49-F238E27FC236}">
                <a16:creationId xmlns:a16="http://schemas.microsoft.com/office/drawing/2014/main" id="{64890875-9474-4BEA-9302-F3BD38C4FC87}"/>
              </a:ext>
            </a:extLst>
          </p:cNvPr>
          <p:cNvSpPr>
            <a:spLocks noGrp="1"/>
          </p:cNvSpPr>
          <p:nvPr/>
        </p:nvSpPr>
        <p:spPr>
          <a:xfrm>
            <a:off x="3638550" y="2686050"/>
            <a:ext cx="1866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69653"/>
                </a:solidFill>
              </a:defRPr>
            </a:pPr>
            <a:r>
              <a:rPr sz="2700" b="1">
                <a:solidFill>
                  <a:srgbClr val="169653"/>
                </a:solidFill>
              </a:rPr>
              <a:t>3</a:t>
            </a:r>
          </a:p>
        </p:txBody>
      </p:sp>
      <p:sp>
        <p:nvSpPr>
          <p:cNvPr id="14" name="metric-note">
            <a:extLst>
              <a:ext uri="{FF2B5EF4-FFF2-40B4-BE49-F238E27FC236}">
                <a16:creationId xmlns:a16="http://schemas.microsoft.com/office/drawing/2014/main" id="{FACD6933-DFE9-4C2B-87F3-D261241107AA}"/>
              </a:ext>
            </a:extLst>
          </p:cNvPr>
          <p:cNvSpPr>
            <a:spLocks noGrp="1"/>
          </p:cNvSpPr>
          <p:nvPr/>
        </p:nvSpPr>
        <p:spPr>
          <a:xfrm>
            <a:off x="3638550" y="3238500"/>
            <a:ext cx="1866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ordinary, hard_to_process, talc.</a:t>
            </a:r>
          </a:p>
        </p:txBody>
      </p:sp>
      <p:sp>
        <p:nvSpPr>
          <p:cNvPr id="15" name="metric-card">
            <a:extLst>
              <a:ext uri="{FF2B5EF4-FFF2-40B4-BE49-F238E27FC236}">
                <a16:creationId xmlns:a16="http://schemas.microsoft.com/office/drawing/2014/main" id="{2FF3B79F-A58C-4BE6-B6D0-843E4C84E860}"/>
              </a:ext>
            </a:extLst>
          </p:cNvPr>
          <p:cNvSpPr>
            <a:spLocks noGrp="1"/>
          </p:cNvSpPr>
          <p:nvPr/>
        </p:nvSpPr>
        <p:spPr>
          <a:xfrm>
            <a:off x="6000749" y="2133600"/>
            <a:ext cx="2491609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accent-rule">
            <a:extLst>
              <a:ext uri="{FF2B5EF4-FFF2-40B4-BE49-F238E27FC236}">
                <a16:creationId xmlns:a16="http://schemas.microsoft.com/office/drawing/2014/main" id="{E3BA5FBE-1626-4493-AE57-98D29F0C1CF9}"/>
              </a:ext>
            </a:extLst>
          </p:cNvPr>
          <p:cNvSpPr>
            <a:spLocks noGrp="1"/>
          </p:cNvSpPr>
          <p:nvPr/>
        </p:nvSpPr>
        <p:spPr>
          <a:xfrm>
            <a:off x="6000750" y="2133600"/>
            <a:ext cx="2286000" cy="57150"/>
          </a:xfrm>
          <a:prstGeom prst="rect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</p:sp>
      <p:sp>
        <p:nvSpPr>
          <p:cNvPr id="17" name="metric-label">
            <a:extLst>
              <a:ext uri="{FF2B5EF4-FFF2-40B4-BE49-F238E27FC236}">
                <a16:creationId xmlns:a16="http://schemas.microsoft.com/office/drawing/2014/main" id="{CCF7AC6E-A764-4C4D-B390-587D8C1B620E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Баланс</a:t>
            </a:r>
          </a:p>
        </p:txBody>
      </p:sp>
      <p:sp>
        <p:nvSpPr>
          <p:cNvPr id="18" name="metric-value">
            <a:extLst>
              <a:ext uri="{FF2B5EF4-FFF2-40B4-BE49-F238E27FC236}">
                <a16:creationId xmlns:a16="http://schemas.microsoft.com/office/drawing/2014/main" id="{635FE40F-91D5-4089-BE8B-7868060CA84D}"/>
              </a:ext>
            </a:extLst>
          </p:cNvPr>
          <p:cNvSpPr>
            <a:spLocks noGrp="1"/>
          </p:cNvSpPr>
          <p:nvPr/>
        </p:nvSpPr>
        <p:spPr>
          <a:xfrm>
            <a:off x="6210300" y="2686050"/>
            <a:ext cx="2362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D97706"/>
                </a:solidFill>
              </a:defRPr>
            </a:pPr>
            <a:r>
              <a:rPr sz="2700" b="1" dirty="0">
                <a:solidFill>
                  <a:srgbClr val="D97706"/>
                </a:solidFill>
              </a:rPr>
              <a:t>565 / 486 / 171</a:t>
            </a:r>
          </a:p>
        </p:txBody>
      </p:sp>
      <p:sp>
        <p:nvSpPr>
          <p:cNvPr id="19" name="metric-note">
            <a:extLst>
              <a:ext uri="{FF2B5EF4-FFF2-40B4-BE49-F238E27FC236}">
                <a16:creationId xmlns:a16="http://schemas.microsoft.com/office/drawing/2014/main" id="{2F56B397-8CA2-4762-B7A3-D71CBF436D7D}"/>
              </a:ext>
            </a:extLst>
          </p:cNvPr>
          <p:cNvSpPr>
            <a:spLocks noGrp="1"/>
          </p:cNvSpPr>
          <p:nvPr/>
        </p:nvSpPr>
        <p:spPr>
          <a:xfrm>
            <a:off x="6210300" y="3238500"/>
            <a:ext cx="1866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Ориентир по классам из P2-комментариев к данным.</a:t>
            </a:r>
          </a:p>
        </p:txBody>
      </p:sp>
      <p:sp>
        <p:nvSpPr>
          <p:cNvPr id="20" name="metric-card">
            <a:extLst>
              <a:ext uri="{FF2B5EF4-FFF2-40B4-BE49-F238E27FC236}">
                <a16:creationId xmlns:a16="http://schemas.microsoft.com/office/drawing/2014/main" id="{E1D2B7CA-7D3A-4E08-9655-75238EFC7F2B}"/>
              </a:ext>
            </a:extLst>
          </p:cNvPr>
          <p:cNvSpPr>
            <a:spLocks noGrp="1"/>
          </p:cNvSpPr>
          <p:nvPr/>
        </p:nvSpPr>
        <p:spPr>
          <a:xfrm>
            <a:off x="8572500" y="2133600"/>
            <a:ext cx="22860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accent-rule">
            <a:extLst>
              <a:ext uri="{FF2B5EF4-FFF2-40B4-BE49-F238E27FC236}">
                <a16:creationId xmlns:a16="http://schemas.microsoft.com/office/drawing/2014/main" id="{D73CD830-627B-491B-BFA6-081BEEB7B18F}"/>
              </a:ext>
            </a:extLst>
          </p:cNvPr>
          <p:cNvSpPr>
            <a:spLocks noGrp="1"/>
          </p:cNvSpPr>
          <p:nvPr/>
        </p:nvSpPr>
        <p:spPr>
          <a:xfrm>
            <a:off x="8572500" y="2133600"/>
            <a:ext cx="2286000" cy="57150"/>
          </a:xfrm>
          <a:prstGeom prst="rect">
            <a:avLst/>
          </a:prstGeom>
          <a:solidFill>
            <a:srgbClr val="16B8C7"/>
          </a:solidFill>
          <a:ln w="0">
            <a:solidFill>
              <a:srgbClr val="16B8C7"/>
            </a:solidFill>
            <a:prstDash val="solid"/>
          </a:ln>
        </p:spPr>
      </p:sp>
      <p:sp>
        <p:nvSpPr>
          <p:cNvPr id="22" name="metric-label">
            <a:extLst>
              <a:ext uri="{FF2B5EF4-FFF2-40B4-BE49-F238E27FC236}">
                <a16:creationId xmlns:a16="http://schemas.microsoft.com/office/drawing/2014/main" id="{21A088AA-BF1D-47AD-81E8-EECD314DA49A}"/>
              </a:ext>
            </a:extLst>
          </p:cNvPr>
          <p:cNvSpPr>
            <a:spLocks noGrp="1"/>
          </p:cNvSpPr>
          <p:nvPr/>
        </p:nvSpPr>
        <p:spPr>
          <a:xfrm>
            <a:off x="8782050" y="236220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Вход</a:t>
            </a:r>
          </a:p>
        </p:txBody>
      </p:sp>
      <p:sp>
        <p:nvSpPr>
          <p:cNvPr id="23" name="metric-value">
            <a:extLst>
              <a:ext uri="{FF2B5EF4-FFF2-40B4-BE49-F238E27FC236}">
                <a16:creationId xmlns:a16="http://schemas.microsoft.com/office/drawing/2014/main" id="{1A370822-7636-4F03-9384-590F5C3FE143}"/>
              </a:ext>
            </a:extLst>
          </p:cNvPr>
          <p:cNvSpPr>
            <a:spLocks noGrp="1"/>
          </p:cNvSpPr>
          <p:nvPr/>
        </p:nvSpPr>
        <p:spPr>
          <a:xfrm>
            <a:off x="8782050" y="2686050"/>
            <a:ext cx="1866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6B8C7"/>
                </a:solidFill>
              </a:defRPr>
            </a:pPr>
            <a:r>
              <a:rPr sz="2700" b="1">
                <a:solidFill>
                  <a:srgbClr val="16B8C7"/>
                </a:solidFill>
              </a:rPr>
              <a:t>320 px</a:t>
            </a:r>
          </a:p>
        </p:txBody>
      </p:sp>
      <p:sp>
        <p:nvSpPr>
          <p:cNvPr id="24" name="metric-note">
            <a:extLst>
              <a:ext uri="{FF2B5EF4-FFF2-40B4-BE49-F238E27FC236}">
                <a16:creationId xmlns:a16="http://schemas.microsoft.com/office/drawing/2014/main" id="{11E9DA3C-6468-4126-88EC-C82C93C2A6CA}"/>
              </a:ext>
            </a:extLst>
          </p:cNvPr>
          <p:cNvSpPr>
            <a:spLocks noGrp="1"/>
          </p:cNvSpPr>
          <p:nvPr/>
        </p:nvSpPr>
        <p:spPr>
          <a:xfrm>
            <a:off x="8782050" y="3238500"/>
            <a:ext cx="1866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RandomResizedCrop при обучении и CenterCrop при инференсе.</a:t>
            </a:r>
          </a:p>
        </p:txBody>
      </p:sp>
      <p:sp>
        <p:nvSpPr>
          <p:cNvPr id="25" name="bullet-mark">
            <a:extLst>
              <a:ext uri="{FF2B5EF4-FFF2-40B4-BE49-F238E27FC236}">
                <a16:creationId xmlns:a16="http://schemas.microsoft.com/office/drawing/2014/main" id="{D6BB40FB-9BF7-4A9B-9BC9-605C3948069A}"/>
              </a:ext>
            </a:extLst>
          </p:cNvPr>
          <p:cNvSpPr>
            <a:spLocks noGrp="1"/>
          </p:cNvSpPr>
          <p:nvPr/>
        </p:nvSpPr>
        <p:spPr>
          <a:xfrm>
            <a:off x="1352550" y="4552950"/>
            <a:ext cx="133350" cy="133350"/>
          </a:xfrm>
          <a:prstGeom prst="rect">
            <a:avLst/>
          </a:prstGeom>
          <a:solidFill>
            <a:srgbClr val="1656C9"/>
          </a:solidFill>
          <a:ln w="0">
            <a:solidFill>
              <a:srgbClr val="1656C9"/>
            </a:solidFill>
            <a:prstDash val="solid"/>
          </a:ln>
        </p:spPr>
      </p:sp>
      <p:sp>
        <p:nvSpPr>
          <p:cNvPr id="26" name="bullet-text">
            <a:extLst>
              <a:ext uri="{FF2B5EF4-FFF2-40B4-BE49-F238E27FC236}">
                <a16:creationId xmlns:a16="http://schemas.microsoft.com/office/drawing/2014/main" id="{5947E7D2-A18B-4578-925B-ADAE2DD3B9BE}"/>
              </a:ext>
            </a:extLst>
          </p:cNvPr>
          <p:cNvSpPr>
            <a:spLocks noGrp="1"/>
          </p:cNvSpPr>
          <p:nvPr/>
        </p:nvSpPr>
        <p:spPr>
          <a:xfrm>
            <a:off x="1638300" y="4457700"/>
            <a:ext cx="495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243044"/>
                </a:solidFill>
              </a:defRPr>
            </a:pPr>
            <a:r>
              <a:rPr sz="1500">
                <a:solidFill>
                  <a:srgbClr val="243044"/>
                </a:solidFill>
              </a:rPr>
              <a:t>ColorJitter и RandomGrayscale снижают зависимость от освещения микроскопа.</a:t>
            </a:r>
          </a:p>
        </p:txBody>
      </p:sp>
      <p:sp>
        <p:nvSpPr>
          <p:cNvPr id="27" name="bullet-mark">
            <a:extLst>
              <a:ext uri="{FF2B5EF4-FFF2-40B4-BE49-F238E27FC236}">
                <a16:creationId xmlns:a16="http://schemas.microsoft.com/office/drawing/2014/main" id="{7FD73A8C-F25C-4C68-A68B-35218CED73A8}"/>
              </a:ext>
            </a:extLst>
          </p:cNvPr>
          <p:cNvSpPr>
            <a:spLocks noGrp="1"/>
          </p:cNvSpPr>
          <p:nvPr/>
        </p:nvSpPr>
        <p:spPr>
          <a:xfrm>
            <a:off x="1352550" y="5029200"/>
            <a:ext cx="133350" cy="13335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28" name="bullet-text">
            <a:extLst>
              <a:ext uri="{FF2B5EF4-FFF2-40B4-BE49-F238E27FC236}">
                <a16:creationId xmlns:a16="http://schemas.microsoft.com/office/drawing/2014/main" id="{C8E7945B-D0BA-4498-8D19-5094CEF7274C}"/>
              </a:ext>
            </a:extLst>
          </p:cNvPr>
          <p:cNvSpPr>
            <a:spLocks noGrp="1"/>
          </p:cNvSpPr>
          <p:nvPr/>
        </p:nvSpPr>
        <p:spPr>
          <a:xfrm>
            <a:off x="1638300" y="4933950"/>
            <a:ext cx="495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243044"/>
                </a:solidFill>
              </a:defRPr>
            </a:pPr>
            <a:r>
              <a:rPr sz="1500">
                <a:solidFill>
                  <a:srgbClr val="243044"/>
                </a:solidFill>
              </a:rPr>
              <a:t>Class weights и oversampling компенсируют редкость оталькованной руды.</a:t>
            </a:r>
          </a:p>
        </p:txBody>
      </p:sp>
      <p:sp>
        <p:nvSpPr>
          <p:cNvPr id="29" name="footer-left">
            <a:extLst>
              <a:ext uri="{FF2B5EF4-FFF2-40B4-BE49-F238E27FC236}">
                <a16:creationId xmlns:a16="http://schemas.microsoft.com/office/drawing/2014/main" id="{00350364-81A4-4B43-A17C-4C392E2473A2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30" name="footer-num">
            <a:extLst>
              <a:ext uri="{FF2B5EF4-FFF2-40B4-BE49-F238E27FC236}">
                <a16:creationId xmlns:a16="http://schemas.microsoft.com/office/drawing/2014/main" id="{9D277F28-31B9-4B4D-B61F-56396B973116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26791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-title">
            <a:extLst>
              <a:ext uri="{FF2B5EF4-FFF2-40B4-BE49-F238E27FC236}">
                <a16:creationId xmlns:a16="http://schemas.microsoft.com/office/drawing/2014/main" id="{82CB0B3B-699B-40E3-976C-A53422EFC781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F8FAFC"/>
                </a:solidFill>
              </a:defRPr>
            </a:pPr>
            <a:r>
              <a:rPr sz="2925" b="1">
                <a:solidFill>
                  <a:srgbClr val="F8FAFC"/>
                </a:solidFill>
              </a:rPr>
              <a:t>P1 после калибровки кратно снизил ошибку по тальку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2666C522-2801-464F-979C-1DDC757C7B1C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B8C6D8"/>
                </a:solidFill>
              </a:defRPr>
            </a:pPr>
            <a:r>
              <a:rPr sz="1575">
                <a:solidFill>
                  <a:srgbClr val="B8C6D8"/>
                </a:solidFill>
              </a:rPr>
              <a:t>Сегментация проверялась на парах: исходный снимок и экспертная обводка.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0E3C73AE-2A2D-4988-900B-A85E17CBFD20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E69BC35E-42F4-45D7-91E7-C9F97B25D953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08</a:t>
            </a:r>
          </a:p>
        </p:txBody>
      </p:sp>
      <p:sp>
        <p:nvSpPr>
          <p:cNvPr id="5" name="metric-card">
            <a:extLst>
              <a:ext uri="{FF2B5EF4-FFF2-40B4-BE49-F238E27FC236}">
                <a16:creationId xmlns:a16="http://schemas.microsoft.com/office/drawing/2014/main" id="{15E063E8-934F-45B4-B087-32E45B4B3018}"/>
              </a:ext>
            </a:extLst>
          </p:cNvPr>
          <p:cNvSpPr>
            <a:spLocks noGrp="1"/>
          </p:cNvSpPr>
          <p:nvPr/>
        </p:nvSpPr>
        <p:spPr>
          <a:xfrm>
            <a:off x="819150" y="2152650"/>
            <a:ext cx="245745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accent-rule">
            <a:extLst>
              <a:ext uri="{FF2B5EF4-FFF2-40B4-BE49-F238E27FC236}">
                <a16:creationId xmlns:a16="http://schemas.microsoft.com/office/drawing/2014/main" id="{7312515D-138E-458F-B793-8EC88FF3B94B}"/>
              </a:ext>
            </a:extLst>
          </p:cNvPr>
          <p:cNvSpPr>
            <a:spLocks noGrp="1"/>
          </p:cNvSpPr>
          <p:nvPr/>
        </p:nvSpPr>
        <p:spPr>
          <a:xfrm>
            <a:off x="819150" y="2152650"/>
            <a:ext cx="2457450" cy="57150"/>
          </a:xfrm>
          <a:prstGeom prst="rect">
            <a:avLst/>
          </a:prstGeom>
          <a:solidFill>
            <a:srgbClr val="16B8C7"/>
          </a:solidFill>
          <a:ln w="0">
            <a:solidFill>
              <a:srgbClr val="16B8C7"/>
            </a:solidFill>
            <a:prstDash val="solid"/>
          </a:ln>
        </p:spPr>
      </p:sp>
      <p:sp>
        <p:nvSpPr>
          <p:cNvPr id="7" name="metric-label">
            <a:extLst>
              <a:ext uri="{FF2B5EF4-FFF2-40B4-BE49-F238E27FC236}">
                <a16:creationId xmlns:a16="http://schemas.microsoft.com/office/drawing/2014/main" id="{FA20B95A-9339-4F4D-BFFF-1F42B08AB85C}"/>
              </a:ext>
            </a:extLst>
          </p:cNvPr>
          <p:cNvSpPr>
            <a:spLocks noGrp="1"/>
          </p:cNvSpPr>
          <p:nvPr/>
        </p:nvSpPr>
        <p:spPr>
          <a:xfrm>
            <a:off x="1028700" y="2381250"/>
            <a:ext cx="2038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Средняя ошибка</a:t>
            </a:r>
          </a:p>
        </p:txBody>
      </p:sp>
      <p:sp>
        <p:nvSpPr>
          <p:cNvPr id="8" name="metric-value">
            <a:extLst>
              <a:ext uri="{FF2B5EF4-FFF2-40B4-BE49-F238E27FC236}">
                <a16:creationId xmlns:a16="http://schemas.microsoft.com/office/drawing/2014/main" id="{02988D1D-7F89-444E-891A-A753324294BE}"/>
              </a:ext>
            </a:extLst>
          </p:cNvPr>
          <p:cNvSpPr>
            <a:spLocks noGrp="1"/>
          </p:cNvSpPr>
          <p:nvPr/>
        </p:nvSpPr>
        <p:spPr>
          <a:xfrm>
            <a:off x="1028700" y="2705100"/>
            <a:ext cx="2038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6B8C7"/>
                </a:solidFill>
              </a:defRPr>
            </a:pPr>
            <a:r>
              <a:rPr sz="2700" b="1">
                <a:solidFill>
                  <a:srgbClr val="16B8C7"/>
                </a:solidFill>
              </a:rPr>
              <a:t>5.5%</a:t>
            </a:r>
          </a:p>
        </p:txBody>
      </p:sp>
      <p:sp>
        <p:nvSpPr>
          <p:cNvPr id="9" name="metric-note">
            <a:extLst>
              <a:ext uri="{FF2B5EF4-FFF2-40B4-BE49-F238E27FC236}">
                <a16:creationId xmlns:a16="http://schemas.microsoft.com/office/drawing/2014/main" id="{29AD5504-94B1-49DF-8740-C16C501F1ACA}"/>
              </a:ext>
            </a:extLst>
          </p:cNvPr>
          <p:cNvSpPr>
            <a:spLocks noGrp="1"/>
          </p:cNvSpPr>
          <p:nvPr/>
        </p:nvSpPr>
        <p:spPr>
          <a:xfrm>
            <a:off x="1028700" y="3257550"/>
            <a:ext cx="2038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Абсолютное отклонение доли талька на 42 парах.</a:t>
            </a:r>
          </a:p>
        </p:txBody>
      </p:sp>
      <p:sp>
        <p:nvSpPr>
          <p:cNvPr id="10" name="metric-card">
            <a:extLst>
              <a:ext uri="{FF2B5EF4-FFF2-40B4-BE49-F238E27FC236}">
                <a16:creationId xmlns:a16="http://schemas.microsoft.com/office/drawing/2014/main" id="{FF394AB1-E3B8-4ED4-8CDA-44596DC4B214}"/>
              </a:ext>
            </a:extLst>
          </p:cNvPr>
          <p:cNvSpPr>
            <a:spLocks noGrp="1"/>
          </p:cNvSpPr>
          <p:nvPr/>
        </p:nvSpPr>
        <p:spPr>
          <a:xfrm>
            <a:off x="3638550" y="2152650"/>
            <a:ext cx="245745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accent-rule">
            <a:extLst>
              <a:ext uri="{FF2B5EF4-FFF2-40B4-BE49-F238E27FC236}">
                <a16:creationId xmlns:a16="http://schemas.microsoft.com/office/drawing/2014/main" id="{0BBEC1FA-8269-4D60-A3F0-001311085BE0}"/>
              </a:ext>
            </a:extLst>
          </p:cNvPr>
          <p:cNvSpPr>
            <a:spLocks noGrp="1"/>
          </p:cNvSpPr>
          <p:nvPr/>
        </p:nvSpPr>
        <p:spPr>
          <a:xfrm>
            <a:off x="3638550" y="2152650"/>
            <a:ext cx="2457450" cy="57150"/>
          </a:xfrm>
          <a:prstGeom prst="rect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</p:sp>
      <p:sp>
        <p:nvSpPr>
          <p:cNvPr id="12" name="metric-label">
            <a:extLst>
              <a:ext uri="{FF2B5EF4-FFF2-40B4-BE49-F238E27FC236}">
                <a16:creationId xmlns:a16="http://schemas.microsoft.com/office/drawing/2014/main" id="{C636C0F3-5733-40C1-9172-317B3768D95C}"/>
              </a:ext>
            </a:extLst>
          </p:cNvPr>
          <p:cNvSpPr>
            <a:spLocks noGrp="1"/>
          </p:cNvSpPr>
          <p:nvPr/>
        </p:nvSpPr>
        <p:spPr>
          <a:xfrm>
            <a:off x="3848100" y="2381250"/>
            <a:ext cx="2038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До калибровки</a:t>
            </a:r>
          </a:p>
        </p:txBody>
      </p:sp>
      <p:sp>
        <p:nvSpPr>
          <p:cNvPr id="13" name="metric-value">
            <a:extLst>
              <a:ext uri="{FF2B5EF4-FFF2-40B4-BE49-F238E27FC236}">
                <a16:creationId xmlns:a16="http://schemas.microsoft.com/office/drawing/2014/main" id="{392088C6-61B9-4D9E-8735-0799628E35CA}"/>
              </a:ext>
            </a:extLst>
          </p:cNvPr>
          <p:cNvSpPr>
            <a:spLocks noGrp="1"/>
          </p:cNvSpPr>
          <p:nvPr/>
        </p:nvSpPr>
        <p:spPr>
          <a:xfrm>
            <a:off x="3848100" y="2705100"/>
            <a:ext cx="2038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D97706"/>
                </a:solidFill>
              </a:defRPr>
            </a:pPr>
            <a:r>
              <a:rPr sz="2700" b="1">
                <a:solidFill>
                  <a:srgbClr val="D97706"/>
                </a:solidFill>
              </a:rPr>
              <a:t>14.83%</a:t>
            </a:r>
          </a:p>
        </p:txBody>
      </p:sp>
      <p:sp>
        <p:nvSpPr>
          <p:cNvPr id="14" name="metric-note">
            <a:extLst>
              <a:ext uri="{FF2B5EF4-FFF2-40B4-BE49-F238E27FC236}">
                <a16:creationId xmlns:a16="http://schemas.microsoft.com/office/drawing/2014/main" id="{B8CD263F-614D-44F5-B070-2667E5209FA0}"/>
              </a:ext>
            </a:extLst>
          </p:cNvPr>
          <p:cNvSpPr>
            <a:spLocks noGrp="1"/>
          </p:cNvSpPr>
          <p:nvPr/>
        </p:nvSpPr>
        <p:spPr>
          <a:xfrm>
            <a:off x="3848100" y="3257550"/>
            <a:ext cx="2038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Стартовый уровень на дефолтных порогах.</a:t>
            </a:r>
          </a:p>
        </p:txBody>
      </p:sp>
      <p:sp>
        <p:nvSpPr>
          <p:cNvPr id="15" name="metric-card">
            <a:extLst>
              <a:ext uri="{FF2B5EF4-FFF2-40B4-BE49-F238E27FC236}">
                <a16:creationId xmlns:a16="http://schemas.microsoft.com/office/drawing/2014/main" id="{A2FFAD03-C359-47EC-832D-0AAF069305CA}"/>
              </a:ext>
            </a:extLst>
          </p:cNvPr>
          <p:cNvSpPr>
            <a:spLocks noGrp="1"/>
          </p:cNvSpPr>
          <p:nvPr/>
        </p:nvSpPr>
        <p:spPr>
          <a:xfrm>
            <a:off x="6457950" y="2152650"/>
            <a:ext cx="245745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accent-rule">
            <a:extLst>
              <a:ext uri="{FF2B5EF4-FFF2-40B4-BE49-F238E27FC236}">
                <a16:creationId xmlns:a16="http://schemas.microsoft.com/office/drawing/2014/main" id="{2E9C702A-F7C2-45BF-9C12-5E7C90AC9D86}"/>
              </a:ext>
            </a:extLst>
          </p:cNvPr>
          <p:cNvSpPr>
            <a:spLocks noGrp="1"/>
          </p:cNvSpPr>
          <p:nvPr/>
        </p:nvSpPr>
        <p:spPr>
          <a:xfrm>
            <a:off x="6457950" y="2152650"/>
            <a:ext cx="2457450" cy="5715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17" name="metric-label">
            <a:extLst>
              <a:ext uri="{FF2B5EF4-FFF2-40B4-BE49-F238E27FC236}">
                <a16:creationId xmlns:a16="http://schemas.microsoft.com/office/drawing/2014/main" id="{6834C01D-60CE-4EE5-8EF4-42C02F2730B5}"/>
              </a:ext>
            </a:extLst>
          </p:cNvPr>
          <p:cNvSpPr>
            <a:spLocks noGrp="1"/>
          </p:cNvSpPr>
          <p:nvPr/>
        </p:nvSpPr>
        <p:spPr>
          <a:xfrm>
            <a:off x="6667500" y="2381250"/>
            <a:ext cx="2038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Улучшение</a:t>
            </a:r>
          </a:p>
        </p:txBody>
      </p:sp>
      <p:sp>
        <p:nvSpPr>
          <p:cNvPr id="18" name="metric-value">
            <a:extLst>
              <a:ext uri="{FF2B5EF4-FFF2-40B4-BE49-F238E27FC236}">
                <a16:creationId xmlns:a16="http://schemas.microsoft.com/office/drawing/2014/main" id="{B888986E-7EA7-42F2-BE13-ED4DF831BFA5}"/>
              </a:ext>
            </a:extLst>
          </p:cNvPr>
          <p:cNvSpPr>
            <a:spLocks noGrp="1"/>
          </p:cNvSpPr>
          <p:nvPr/>
        </p:nvSpPr>
        <p:spPr>
          <a:xfrm>
            <a:off x="6667500" y="2705100"/>
            <a:ext cx="2038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69653"/>
                </a:solidFill>
              </a:defRPr>
            </a:pPr>
            <a:r>
              <a:rPr sz="2700" b="1">
                <a:solidFill>
                  <a:srgbClr val="169653"/>
                </a:solidFill>
              </a:rPr>
              <a:t>2.7x</a:t>
            </a:r>
          </a:p>
        </p:txBody>
      </p:sp>
      <p:sp>
        <p:nvSpPr>
          <p:cNvPr id="19" name="metric-note">
            <a:extLst>
              <a:ext uri="{FF2B5EF4-FFF2-40B4-BE49-F238E27FC236}">
                <a16:creationId xmlns:a16="http://schemas.microsoft.com/office/drawing/2014/main" id="{1260EE41-EA3A-4765-AF8E-7A31344051A7}"/>
              </a:ext>
            </a:extLst>
          </p:cNvPr>
          <p:cNvSpPr>
            <a:spLocks noGrp="1"/>
          </p:cNvSpPr>
          <p:nvPr/>
        </p:nvSpPr>
        <p:spPr>
          <a:xfrm>
            <a:off x="6667500" y="3257550"/>
            <a:ext cx="2038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Падение средней ошибки после подбора порогов.</a:t>
            </a:r>
          </a:p>
        </p:txBody>
      </p:sp>
      <p:sp>
        <p:nvSpPr>
          <p:cNvPr id="20" name="metric-card">
            <a:extLst>
              <a:ext uri="{FF2B5EF4-FFF2-40B4-BE49-F238E27FC236}">
                <a16:creationId xmlns:a16="http://schemas.microsoft.com/office/drawing/2014/main" id="{CDC577E1-EA37-4CB9-A984-BE210379D167}"/>
              </a:ext>
            </a:extLst>
          </p:cNvPr>
          <p:cNvSpPr>
            <a:spLocks noGrp="1"/>
          </p:cNvSpPr>
          <p:nvPr/>
        </p:nvSpPr>
        <p:spPr>
          <a:xfrm>
            <a:off x="9277350" y="2152650"/>
            <a:ext cx="2095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accent-rule">
            <a:extLst>
              <a:ext uri="{FF2B5EF4-FFF2-40B4-BE49-F238E27FC236}">
                <a16:creationId xmlns:a16="http://schemas.microsoft.com/office/drawing/2014/main" id="{002CC780-0C58-4349-AD56-80DDF890A124}"/>
              </a:ext>
            </a:extLst>
          </p:cNvPr>
          <p:cNvSpPr>
            <a:spLocks noGrp="1"/>
          </p:cNvSpPr>
          <p:nvPr/>
        </p:nvSpPr>
        <p:spPr>
          <a:xfrm>
            <a:off x="9277350" y="2152650"/>
            <a:ext cx="2095500" cy="57150"/>
          </a:xfrm>
          <a:prstGeom prst="rect">
            <a:avLst/>
          </a:prstGeom>
          <a:solidFill>
            <a:srgbClr val="1656C9"/>
          </a:solidFill>
          <a:ln w="0">
            <a:solidFill>
              <a:srgbClr val="1656C9"/>
            </a:solidFill>
            <a:prstDash val="solid"/>
          </a:ln>
        </p:spPr>
      </p:sp>
      <p:sp>
        <p:nvSpPr>
          <p:cNvPr id="22" name="metric-label">
            <a:extLst>
              <a:ext uri="{FF2B5EF4-FFF2-40B4-BE49-F238E27FC236}">
                <a16:creationId xmlns:a16="http://schemas.microsoft.com/office/drawing/2014/main" id="{38651393-1194-40A8-A26E-5B3620D82A59}"/>
              </a:ext>
            </a:extLst>
          </p:cNvPr>
          <p:cNvSpPr>
            <a:spLocks noGrp="1"/>
          </p:cNvSpPr>
          <p:nvPr/>
        </p:nvSpPr>
        <p:spPr>
          <a:xfrm>
            <a:off x="9486900" y="23812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Контроль</a:t>
            </a:r>
          </a:p>
        </p:txBody>
      </p:sp>
      <p:sp>
        <p:nvSpPr>
          <p:cNvPr id="23" name="metric-value">
            <a:extLst>
              <a:ext uri="{FF2B5EF4-FFF2-40B4-BE49-F238E27FC236}">
                <a16:creationId xmlns:a16="http://schemas.microsoft.com/office/drawing/2014/main" id="{70BE8839-BCEB-463E-8862-72B7B51E808E}"/>
              </a:ext>
            </a:extLst>
          </p:cNvPr>
          <p:cNvSpPr>
            <a:spLocks noGrp="1"/>
          </p:cNvSpPr>
          <p:nvPr/>
        </p:nvSpPr>
        <p:spPr>
          <a:xfrm>
            <a:off x="9486900" y="2705100"/>
            <a:ext cx="1676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656C9"/>
                </a:solidFill>
              </a:defRPr>
            </a:pPr>
            <a:r>
              <a:rPr sz="2700" b="1">
                <a:solidFill>
                  <a:srgbClr val="1656C9"/>
                </a:solidFill>
              </a:rPr>
              <a:t>5/13 → 1/13</a:t>
            </a:r>
          </a:p>
        </p:txBody>
      </p:sp>
      <p:sp>
        <p:nvSpPr>
          <p:cNvPr id="24" name="metric-note">
            <a:extLst>
              <a:ext uri="{FF2B5EF4-FFF2-40B4-BE49-F238E27FC236}">
                <a16:creationId xmlns:a16="http://schemas.microsoft.com/office/drawing/2014/main" id="{0FE00DE6-D2B8-44B2-8365-FE95465B27FC}"/>
              </a:ext>
            </a:extLst>
          </p:cNvPr>
          <p:cNvSpPr>
            <a:spLocks noGrp="1"/>
          </p:cNvSpPr>
          <p:nvPr/>
        </p:nvSpPr>
        <p:spPr>
          <a:xfrm>
            <a:off x="9486900" y="3257550"/>
            <a:ext cx="1676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Меньше ложного талька на игольчатых сульфидах.</a:t>
            </a:r>
          </a:p>
        </p:txBody>
      </p:sp>
      <p:sp>
        <p:nvSpPr>
          <p:cNvPr id="25" name="p1-note">
            <a:extLst>
              <a:ext uri="{FF2B5EF4-FFF2-40B4-BE49-F238E27FC236}">
                <a16:creationId xmlns:a16="http://schemas.microsoft.com/office/drawing/2014/main" id="{09C3ACBB-354C-48C8-81FD-1CD3DECB88A1}"/>
              </a:ext>
            </a:extLst>
          </p:cNvPr>
          <p:cNvSpPr>
            <a:spLocks noGrp="1"/>
          </p:cNvSpPr>
          <p:nvPr/>
        </p:nvSpPr>
        <p:spPr>
          <a:xfrm>
            <a:off x="895350" y="4686300"/>
            <a:ext cx="10382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>
                <a:solidFill>
                  <a:srgbClr val="D8E7F7"/>
                </a:solidFill>
              </a:defRPr>
            </a:pPr>
            <a:r>
              <a:rPr sz="1650">
                <a:solidFill>
                  <a:srgbClr val="D8E7F7"/>
                </a:solidFill>
              </a:rPr>
              <a:t>Цель ±3% остаётся ориентиром для следующего раунда, но текущая версия уже даёт рабочую подсветку зон талька и понятный численный сигнал для геолога.</a:t>
            </a:r>
          </a:p>
        </p:txBody>
      </p:sp>
      <p:sp>
        <p:nvSpPr>
          <p:cNvPr id="26" name="footer-left">
            <a:extLst>
              <a:ext uri="{FF2B5EF4-FFF2-40B4-BE49-F238E27FC236}">
                <a16:creationId xmlns:a16="http://schemas.microsoft.com/office/drawing/2014/main" id="{9E62EF36-F998-457D-B2C5-E4AC814EA88D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27" name="footer-num">
            <a:extLst>
              <a:ext uri="{FF2B5EF4-FFF2-40B4-BE49-F238E27FC236}">
                <a16:creationId xmlns:a16="http://schemas.microsoft.com/office/drawing/2014/main" id="{69CEBA17-8083-43B5-9C81-02550E9374E1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39774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F7E079FC-5F17-45D9-B9D8-D292BC22463F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Точность P1 упакована как доказательный слайд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4062DA2C-E0F2-44C3-BFC1-7DA207FD3710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Таблица показывает не только среднюю ошибку, но и характерные ложные срабатывания.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96925CC7-CA3E-4E6F-93E9-BEAF6960DE30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4286AB03-E155-4B74-AD46-00EFFD0EE1C8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5" name="image-frame">
            <a:extLst>
              <a:ext uri="{FF2B5EF4-FFF2-40B4-BE49-F238E27FC236}">
                <a16:creationId xmlns:a16="http://schemas.microsoft.com/office/drawing/2014/main" id="{E6765AE9-D59D-47A8-8116-26B8F7B7C031}"/>
              </a:ext>
            </a:extLst>
          </p:cNvPr>
          <p:cNvSpPr>
            <a:spLocks noGrp="1"/>
          </p:cNvSpPr>
          <p:nvPr/>
        </p:nvSpPr>
        <p:spPr>
          <a:xfrm>
            <a:off x="552450" y="1790700"/>
            <a:ext cx="6858000" cy="3714750"/>
          </a:xfrm>
          <a:prstGeom prst="roundRect">
            <a:avLst>
              <a:gd name="adj" fmla="val 3077"/>
            </a:avLst>
          </a:prstGeom>
          <a:solidFill>
            <a:srgbClr val="0B111B"/>
          </a:solidFill>
          <a:ln w="9525">
            <a:solidFill>
              <a:srgbClr val="26344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47700" y="2157693"/>
            <a:ext cx="6667500" cy="2980765"/>
          </a:xfrm>
          <a:prstGeom prst="roundRect">
            <a:avLst>
              <a:gd name="adj" fmla="val 2162"/>
            </a:avLst>
          </a:prstGeom>
        </p:spPr>
      </p:pic>
      <p:sp>
        <p:nvSpPr>
          <p:cNvPr id="7" name="body-card">
            <a:extLst>
              <a:ext uri="{FF2B5EF4-FFF2-40B4-BE49-F238E27FC236}">
                <a16:creationId xmlns:a16="http://schemas.microsoft.com/office/drawing/2014/main" id="{81659610-5F31-403B-87BC-B7BB704ACC73}"/>
              </a:ext>
            </a:extLst>
          </p:cNvPr>
          <p:cNvSpPr>
            <a:spLocks noGrp="1"/>
          </p:cNvSpPr>
          <p:nvPr/>
        </p:nvSpPr>
        <p:spPr>
          <a:xfrm>
            <a:off x="7810500" y="1962150"/>
            <a:ext cx="32766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accent-rule">
            <a:extLst>
              <a:ext uri="{FF2B5EF4-FFF2-40B4-BE49-F238E27FC236}">
                <a16:creationId xmlns:a16="http://schemas.microsoft.com/office/drawing/2014/main" id="{4F7CF5F2-21B0-430A-BA65-51770BBF13AD}"/>
              </a:ext>
            </a:extLst>
          </p:cNvPr>
          <p:cNvSpPr>
            <a:spLocks noGrp="1"/>
          </p:cNvSpPr>
          <p:nvPr/>
        </p:nvSpPr>
        <p:spPr>
          <a:xfrm>
            <a:off x="7810500" y="1962150"/>
            <a:ext cx="66675" cy="1200150"/>
          </a:xfrm>
          <a:prstGeom prst="rect">
            <a:avLst/>
          </a:prstGeom>
          <a:solidFill>
            <a:srgbClr val="1656C9"/>
          </a:solidFill>
          <a:ln w="0">
            <a:solidFill>
              <a:srgbClr val="1656C9"/>
            </a:solidFill>
            <a:prstDash val="solid"/>
          </a:ln>
        </p:spPr>
      </p:sp>
      <p:sp>
        <p:nvSpPr>
          <p:cNvPr id="9" name="body-card-heading">
            <a:extLst>
              <a:ext uri="{FF2B5EF4-FFF2-40B4-BE49-F238E27FC236}">
                <a16:creationId xmlns:a16="http://schemas.microsoft.com/office/drawing/2014/main" id="{4F1C999C-234E-4543-B09F-46CDDD1FC1FC}"/>
              </a:ext>
            </a:extLst>
          </p:cNvPr>
          <p:cNvSpPr>
            <a:spLocks noGrp="1"/>
          </p:cNvSpPr>
          <p:nvPr/>
        </p:nvSpPr>
        <p:spPr>
          <a:xfrm>
            <a:off x="8039100" y="2171700"/>
            <a:ext cx="2819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56C9"/>
                </a:solidFill>
              </a:defRPr>
            </a:pPr>
            <a:r>
              <a:rPr sz="1725" b="1">
                <a:solidFill>
                  <a:srgbClr val="1656C9"/>
                </a:solidFill>
              </a:rPr>
              <a:t>42 пары</a:t>
            </a:r>
          </a:p>
        </p:txBody>
      </p:sp>
      <p:sp>
        <p:nvSpPr>
          <p:cNvPr id="10" name="body-card-body">
            <a:extLst>
              <a:ext uri="{FF2B5EF4-FFF2-40B4-BE49-F238E27FC236}">
                <a16:creationId xmlns:a16="http://schemas.microsoft.com/office/drawing/2014/main" id="{D7ADEC1C-FE31-488C-84E5-4C78286F8246}"/>
              </a:ext>
            </a:extLst>
          </p:cNvPr>
          <p:cNvSpPr>
            <a:spLocks noGrp="1"/>
          </p:cNvSpPr>
          <p:nvPr/>
        </p:nvSpPr>
        <p:spPr>
          <a:xfrm>
            <a:off x="8039100" y="26098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Проверка на исходниках и экспертной обводке талька.</a:t>
            </a:r>
          </a:p>
        </p:txBody>
      </p:sp>
      <p:sp>
        <p:nvSpPr>
          <p:cNvPr id="11" name="body-card">
            <a:extLst>
              <a:ext uri="{FF2B5EF4-FFF2-40B4-BE49-F238E27FC236}">
                <a16:creationId xmlns:a16="http://schemas.microsoft.com/office/drawing/2014/main" id="{B6D5A34F-A227-44A9-94AE-BAC6FEA4FD39}"/>
              </a:ext>
            </a:extLst>
          </p:cNvPr>
          <p:cNvSpPr>
            <a:spLocks noGrp="1"/>
          </p:cNvSpPr>
          <p:nvPr/>
        </p:nvSpPr>
        <p:spPr>
          <a:xfrm>
            <a:off x="7810500" y="3390900"/>
            <a:ext cx="32766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accent-rule">
            <a:extLst>
              <a:ext uri="{FF2B5EF4-FFF2-40B4-BE49-F238E27FC236}">
                <a16:creationId xmlns:a16="http://schemas.microsoft.com/office/drawing/2014/main" id="{CC52B429-E5DB-48C7-B7A1-1C175A5EB5F7}"/>
              </a:ext>
            </a:extLst>
          </p:cNvPr>
          <p:cNvSpPr>
            <a:spLocks noGrp="1"/>
          </p:cNvSpPr>
          <p:nvPr/>
        </p:nvSpPr>
        <p:spPr>
          <a:xfrm>
            <a:off x="7810500" y="3390900"/>
            <a:ext cx="66675" cy="1200150"/>
          </a:xfrm>
          <a:prstGeom prst="rect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</p:sp>
      <p:sp>
        <p:nvSpPr>
          <p:cNvPr id="13" name="body-card-heading">
            <a:extLst>
              <a:ext uri="{FF2B5EF4-FFF2-40B4-BE49-F238E27FC236}">
                <a16:creationId xmlns:a16="http://schemas.microsoft.com/office/drawing/2014/main" id="{B8F3CC37-B388-4B97-99E6-A57AB49D4FAF}"/>
              </a:ext>
            </a:extLst>
          </p:cNvPr>
          <p:cNvSpPr>
            <a:spLocks noGrp="1"/>
          </p:cNvSpPr>
          <p:nvPr/>
        </p:nvSpPr>
        <p:spPr>
          <a:xfrm>
            <a:off x="8039100" y="3600450"/>
            <a:ext cx="2819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D97706"/>
                </a:solidFill>
              </a:defRPr>
            </a:pPr>
            <a:r>
              <a:rPr sz="1725" b="1">
                <a:solidFill>
                  <a:srgbClr val="D97706"/>
                </a:solidFill>
              </a:rPr>
              <a:t>14.8%</a:t>
            </a:r>
          </a:p>
        </p:txBody>
      </p:sp>
      <p:sp>
        <p:nvSpPr>
          <p:cNvPr id="14" name="body-card-body">
            <a:extLst>
              <a:ext uri="{FF2B5EF4-FFF2-40B4-BE49-F238E27FC236}">
                <a16:creationId xmlns:a16="http://schemas.microsoft.com/office/drawing/2014/main" id="{E964AC3A-6CB9-48F1-989D-D11FDD9C1FC1}"/>
              </a:ext>
            </a:extLst>
          </p:cNvPr>
          <p:cNvSpPr>
            <a:spLocks noGrp="1"/>
          </p:cNvSpPr>
          <p:nvPr/>
        </p:nvSpPr>
        <p:spPr>
          <a:xfrm>
            <a:off x="8039100" y="403860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Максимальная ошибка на одном снимке в текущем наборе.</a:t>
            </a:r>
          </a:p>
        </p:txBody>
      </p:sp>
      <p:sp>
        <p:nvSpPr>
          <p:cNvPr id="15" name="body-card">
            <a:extLst>
              <a:ext uri="{FF2B5EF4-FFF2-40B4-BE49-F238E27FC236}">
                <a16:creationId xmlns:a16="http://schemas.microsoft.com/office/drawing/2014/main" id="{3061E88B-A385-4DD7-B191-5E90F75A4799}"/>
              </a:ext>
            </a:extLst>
          </p:cNvPr>
          <p:cNvSpPr>
            <a:spLocks noGrp="1"/>
          </p:cNvSpPr>
          <p:nvPr/>
        </p:nvSpPr>
        <p:spPr>
          <a:xfrm>
            <a:off x="7810500" y="4819650"/>
            <a:ext cx="3276600" cy="93345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accent-rule">
            <a:extLst>
              <a:ext uri="{FF2B5EF4-FFF2-40B4-BE49-F238E27FC236}">
                <a16:creationId xmlns:a16="http://schemas.microsoft.com/office/drawing/2014/main" id="{36AEA892-B42D-47E8-9D0F-D35508097700}"/>
              </a:ext>
            </a:extLst>
          </p:cNvPr>
          <p:cNvSpPr>
            <a:spLocks noGrp="1"/>
          </p:cNvSpPr>
          <p:nvPr/>
        </p:nvSpPr>
        <p:spPr>
          <a:xfrm>
            <a:off x="7810500" y="4819650"/>
            <a:ext cx="66675" cy="93345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17" name="body-card-heading">
            <a:extLst>
              <a:ext uri="{FF2B5EF4-FFF2-40B4-BE49-F238E27FC236}">
                <a16:creationId xmlns:a16="http://schemas.microsoft.com/office/drawing/2014/main" id="{E87CFAA4-9212-48DA-A633-DBFC5D49E60B}"/>
              </a:ext>
            </a:extLst>
          </p:cNvPr>
          <p:cNvSpPr>
            <a:spLocks noGrp="1"/>
          </p:cNvSpPr>
          <p:nvPr/>
        </p:nvSpPr>
        <p:spPr>
          <a:xfrm>
            <a:off x="8039100" y="5029200"/>
            <a:ext cx="2819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9653"/>
                </a:solidFill>
              </a:defRPr>
            </a:pPr>
            <a:r>
              <a:rPr sz="1725" b="1">
                <a:solidFill>
                  <a:srgbClr val="169653"/>
                </a:solidFill>
              </a:rPr>
              <a:t>Фокус качества</a:t>
            </a:r>
          </a:p>
        </p:txBody>
      </p:sp>
      <p:sp>
        <p:nvSpPr>
          <p:cNvPr id="18" name="body-card-body">
            <a:extLst>
              <a:ext uri="{FF2B5EF4-FFF2-40B4-BE49-F238E27FC236}">
                <a16:creationId xmlns:a16="http://schemas.microsoft.com/office/drawing/2014/main" id="{403CA55C-B7DB-4A39-A46A-AFCA580ECD8E}"/>
              </a:ext>
            </a:extLst>
          </p:cNvPr>
          <p:cNvSpPr>
            <a:spLocks noGrp="1"/>
          </p:cNvSpPr>
          <p:nvPr/>
        </p:nvSpPr>
        <p:spPr>
          <a:xfrm>
            <a:off x="8039100" y="5467350"/>
            <a:ext cx="28194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Меньше ложных зон на игольчатых сульфидах.</a:t>
            </a:r>
          </a:p>
        </p:txBody>
      </p:sp>
      <p:sp>
        <p:nvSpPr>
          <p:cNvPr id="19" name="footer-left">
            <a:extLst>
              <a:ext uri="{FF2B5EF4-FFF2-40B4-BE49-F238E27FC236}">
                <a16:creationId xmlns:a16="http://schemas.microsoft.com/office/drawing/2014/main" id="{EEF62777-8DA4-421A-A340-8E48B017DC1F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20" name="footer-num">
            <a:extLst>
              <a:ext uri="{FF2B5EF4-FFF2-40B4-BE49-F238E27FC236}">
                <a16:creationId xmlns:a16="http://schemas.microsoft.com/office/drawing/2014/main" id="{3F9107DE-B8A7-484E-8881-BF73DCF22BEE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530411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069866C6-EAFC-43E6-A2DD-1FB1230EFE1C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F8FAFC"/>
                </a:solidFill>
              </a:defRPr>
            </a:pPr>
            <a:r>
              <a:rPr sz="2925" b="1">
                <a:solidFill>
                  <a:srgbClr val="F8FAFC"/>
                </a:solidFill>
              </a:rPr>
              <a:t>Пример P1: модель почти совпала с экспертной долей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FC8EFD88-F56B-4A91-804A-5D098B998A51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B8C6D8"/>
                </a:solidFill>
              </a:defRPr>
            </a:pPr>
            <a:r>
              <a:rPr sz="1575">
                <a:solidFill>
                  <a:srgbClr val="B8C6D8"/>
                </a:solidFill>
              </a:rPr>
              <a:t>Синяя маска показывает зоны талька поверх исходного микрофото.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C2E3B862-1FEB-4C5F-9D5F-AB25509F687C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D3C76265-7DC8-44F2-AB28-11FA19F3351E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10</a:t>
            </a: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rcRect t="123" b="123"/>
          <a:stretch>
            <a:fillRect/>
          </a:stretch>
        </p:blipFill>
        <p:spPr>
          <a:xfrm>
            <a:off x="476250" y="1600200"/>
            <a:ext cx="11239500" cy="4495800"/>
          </a:xfrm>
          <a:prstGeom prst="roundRect">
            <a:avLst>
              <a:gd name="adj" fmla="val 2542"/>
            </a:avLst>
          </a:prstGeom>
        </p:spPr>
      </p:pic>
      <p:sp>
        <p:nvSpPr>
          <p:cNvPr id="6" name="pill">
            <a:extLst>
              <a:ext uri="{FF2B5EF4-FFF2-40B4-BE49-F238E27FC236}">
                <a16:creationId xmlns:a16="http://schemas.microsoft.com/office/drawing/2014/main" id="{C8405CE3-6E13-47D3-AA51-C70D19E02D5D}"/>
              </a:ext>
            </a:extLst>
          </p:cNvPr>
          <p:cNvSpPr>
            <a:spLocks noGrp="1"/>
          </p:cNvSpPr>
          <p:nvPr/>
        </p:nvSpPr>
        <p:spPr>
          <a:xfrm>
            <a:off x="7715250" y="5734050"/>
            <a:ext cx="1524000" cy="381000"/>
          </a:xfrm>
          <a:prstGeom prst="roundRect">
            <a:avLst>
              <a:gd name="adj" fmla="val 50000"/>
            </a:avLst>
          </a:prstGeom>
          <a:solidFill>
            <a:srgbClr val="101E31"/>
          </a:solidFill>
          <a:ln w="9525">
            <a:solidFill>
              <a:srgbClr val="16B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pill-text">
            <a:extLst>
              <a:ext uri="{FF2B5EF4-FFF2-40B4-BE49-F238E27FC236}">
                <a16:creationId xmlns:a16="http://schemas.microsoft.com/office/drawing/2014/main" id="{55E853EC-1574-43CC-BC62-0FB785B5EFBC}"/>
              </a:ext>
            </a:extLst>
          </p:cNvPr>
          <p:cNvSpPr>
            <a:spLocks noGrp="1"/>
          </p:cNvSpPr>
          <p:nvPr/>
        </p:nvSpPr>
        <p:spPr>
          <a:xfrm>
            <a:off x="7848600" y="5819775"/>
            <a:ext cx="1257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B8C7"/>
                </a:solidFill>
              </a:defRPr>
            </a:pPr>
            <a:r>
              <a:rPr sz="1125" b="1">
                <a:solidFill>
                  <a:srgbClr val="16B8C7"/>
                </a:solidFill>
              </a:rPr>
              <a:t>модель 10.1%</a:t>
            </a:r>
          </a:p>
        </p:txBody>
      </p:sp>
      <p:sp>
        <p:nvSpPr>
          <p:cNvPr id="8" name="pill">
            <a:extLst>
              <a:ext uri="{FF2B5EF4-FFF2-40B4-BE49-F238E27FC236}">
                <a16:creationId xmlns:a16="http://schemas.microsoft.com/office/drawing/2014/main" id="{B7E59D5B-FA11-429A-B025-60235E471D0F}"/>
              </a:ext>
            </a:extLst>
          </p:cNvPr>
          <p:cNvSpPr>
            <a:spLocks noGrp="1"/>
          </p:cNvSpPr>
          <p:nvPr/>
        </p:nvSpPr>
        <p:spPr>
          <a:xfrm>
            <a:off x="9410700" y="5734050"/>
            <a:ext cx="1619250" cy="381000"/>
          </a:xfrm>
          <a:prstGeom prst="roundRect">
            <a:avLst>
              <a:gd name="adj" fmla="val 50000"/>
            </a:avLst>
          </a:prstGeom>
          <a:solidFill>
            <a:srgbClr val="101E31"/>
          </a:solidFill>
          <a:ln w="9525">
            <a:solidFill>
              <a:srgbClr val="16965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pill-text">
            <a:extLst>
              <a:ext uri="{FF2B5EF4-FFF2-40B4-BE49-F238E27FC236}">
                <a16:creationId xmlns:a16="http://schemas.microsoft.com/office/drawing/2014/main" id="{D15F323D-4B5A-40AD-9A00-9ED84C7D4267}"/>
              </a:ext>
            </a:extLst>
          </p:cNvPr>
          <p:cNvSpPr>
            <a:spLocks noGrp="1"/>
          </p:cNvSpPr>
          <p:nvPr/>
        </p:nvSpPr>
        <p:spPr>
          <a:xfrm>
            <a:off x="9544050" y="5819775"/>
            <a:ext cx="1352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9653"/>
                </a:solidFill>
              </a:defRPr>
            </a:pPr>
            <a:r>
              <a:rPr sz="1125" b="1">
                <a:solidFill>
                  <a:srgbClr val="169653"/>
                </a:solidFill>
              </a:rPr>
              <a:t>эксперт 10.3%</a:t>
            </a:r>
          </a:p>
        </p:txBody>
      </p:sp>
      <p:sp>
        <p:nvSpPr>
          <p:cNvPr id="10" name="footer-left">
            <a:extLst>
              <a:ext uri="{FF2B5EF4-FFF2-40B4-BE49-F238E27FC236}">
                <a16:creationId xmlns:a16="http://schemas.microsoft.com/office/drawing/2014/main" id="{C00987A9-DEF6-4E32-BDA9-57919D6EAB62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11" name="footer-num">
            <a:extLst>
              <a:ext uri="{FF2B5EF4-FFF2-40B4-BE49-F238E27FC236}">
                <a16:creationId xmlns:a16="http://schemas.microsoft.com/office/drawing/2014/main" id="{790D9125-0A27-4566-9BA9-F3943906449A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502403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CD521C03-7AF0-47DC-9CCA-B41156F2F41B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F8FAFC"/>
                </a:solidFill>
              </a:defRPr>
            </a:pPr>
            <a:r>
              <a:rPr sz="2925" b="1">
                <a:solidFill>
                  <a:srgbClr val="F8FAFC"/>
                </a:solidFill>
              </a:rPr>
              <a:t>Пример P1: маска сохраняет форму крупных зон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1470E2C1-CDEB-4330-AA34-B0B06EC66BE8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B8C6D8"/>
                </a:solidFill>
              </a:defRPr>
            </a:pPr>
            <a:r>
              <a:rPr sz="1575">
                <a:solidFill>
                  <a:srgbClr val="B8C6D8"/>
                </a:solidFill>
              </a:rPr>
              <a:t>На более сложном снимке модель выделяет распределённые области талька.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A3FCC752-EA30-4D82-ABDD-D56077082771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A9F4A18F-97E6-4326-97A1-4C29093FC7A1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11</a:t>
            </a: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rcRect t="123" b="123"/>
          <a:stretch>
            <a:fillRect/>
          </a:stretch>
        </p:blipFill>
        <p:spPr>
          <a:xfrm>
            <a:off x="476250" y="1600200"/>
            <a:ext cx="11239500" cy="4495800"/>
          </a:xfrm>
          <a:prstGeom prst="roundRect">
            <a:avLst>
              <a:gd name="adj" fmla="val 2542"/>
            </a:avLst>
          </a:prstGeom>
        </p:spPr>
      </p:pic>
      <p:sp>
        <p:nvSpPr>
          <p:cNvPr id="6" name="pill">
            <a:extLst>
              <a:ext uri="{FF2B5EF4-FFF2-40B4-BE49-F238E27FC236}">
                <a16:creationId xmlns:a16="http://schemas.microsoft.com/office/drawing/2014/main" id="{4B3C1773-9205-4217-BE5B-31E0CF450AFD}"/>
              </a:ext>
            </a:extLst>
          </p:cNvPr>
          <p:cNvSpPr>
            <a:spLocks noGrp="1"/>
          </p:cNvSpPr>
          <p:nvPr/>
        </p:nvSpPr>
        <p:spPr>
          <a:xfrm>
            <a:off x="7715250" y="5734050"/>
            <a:ext cx="1524000" cy="381000"/>
          </a:xfrm>
          <a:prstGeom prst="roundRect">
            <a:avLst>
              <a:gd name="adj" fmla="val 50000"/>
            </a:avLst>
          </a:prstGeom>
          <a:solidFill>
            <a:srgbClr val="101E31"/>
          </a:solidFill>
          <a:ln w="9525">
            <a:solidFill>
              <a:srgbClr val="16B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pill-text">
            <a:extLst>
              <a:ext uri="{FF2B5EF4-FFF2-40B4-BE49-F238E27FC236}">
                <a16:creationId xmlns:a16="http://schemas.microsoft.com/office/drawing/2014/main" id="{7635C454-50AF-4D9F-AB4D-4328FD5871F9}"/>
              </a:ext>
            </a:extLst>
          </p:cNvPr>
          <p:cNvSpPr>
            <a:spLocks noGrp="1"/>
          </p:cNvSpPr>
          <p:nvPr/>
        </p:nvSpPr>
        <p:spPr>
          <a:xfrm>
            <a:off x="7848600" y="5819775"/>
            <a:ext cx="1257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B8C7"/>
                </a:solidFill>
              </a:defRPr>
            </a:pPr>
            <a:r>
              <a:rPr sz="1125" b="1">
                <a:solidFill>
                  <a:srgbClr val="16B8C7"/>
                </a:solidFill>
              </a:rPr>
              <a:t>модель 14.5%</a:t>
            </a:r>
          </a:p>
        </p:txBody>
      </p:sp>
      <p:sp>
        <p:nvSpPr>
          <p:cNvPr id="8" name="pill">
            <a:extLst>
              <a:ext uri="{FF2B5EF4-FFF2-40B4-BE49-F238E27FC236}">
                <a16:creationId xmlns:a16="http://schemas.microsoft.com/office/drawing/2014/main" id="{9DC40157-EB33-4030-B5AD-AD9A6CDAFC0D}"/>
              </a:ext>
            </a:extLst>
          </p:cNvPr>
          <p:cNvSpPr>
            <a:spLocks noGrp="1"/>
          </p:cNvSpPr>
          <p:nvPr/>
        </p:nvSpPr>
        <p:spPr>
          <a:xfrm>
            <a:off x="9410700" y="5734050"/>
            <a:ext cx="1619250" cy="381000"/>
          </a:xfrm>
          <a:prstGeom prst="roundRect">
            <a:avLst>
              <a:gd name="adj" fmla="val 50000"/>
            </a:avLst>
          </a:prstGeom>
          <a:solidFill>
            <a:srgbClr val="101E31"/>
          </a:solidFill>
          <a:ln w="9525">
            <a:solidFill>
              <a:srgbClr val="16965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pill-text">
            <a:extLst>
              <a:ext uri="{FF2B5EF4-FFF2-40B4-BE49-F238E27FC236}">
                <a16:creationId xmlns:a16="http://schemas.microsoft.com/office/drawing/2014/main" id="{540437FD-9705-4CA4-AE33-674178456BAA}"/>
              </a:ext>
            </a:extLst>
          </p:cNvPr>
          <p:cNvSpPr>
            <a:spLocks noGrp="1"/>
          </p:cNvSpPr>
          <p:nvPr/>
        </p:nvSpPr>
        <p:spPr>
          <a:xfrm>
            <a:off x="9544050" y="5819775"/>
            <a:ext cx="1352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9653"/>
                </a:solidFill>
              </a:defRPr>
            </a:pPr>
            <a:r>
              <a:rPr sz="1125" b="1">
                <a:solidFill>
                  <a:srgbClr val="169653"/>
                </a:solidFill>
              </a:rPr>
              <a:t>эксперт 13.2%</a:t>
            </a:r>
          </a:p>
        </p:txBody>
      </p:sp>
      <p:sp>
        <p:nvSpPr>
          <p:cNvPr id="10" name="footer-left">
            <a:extLst>
              <a:ext uri="{FF2B5EF4-FFF2-40B4-BE49-F238E27FC236}">
                <a16:creationId xmlns:a16="http://schemas.microsoft.com/office/drawing/2014/main" id="{D262BAA3-03EF-4C2A-8ED2-9B1C1246B4FE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11" name="footer-num">
            <a:extLst>
              <a:ext uri="{FF2B5EF4-FFF2-40B4-BE49-F238E27FC236}">
                <a16:creationId xmlns:a16="http://schemas.microsoft.com/office/drawing/2014/main" id="{7E0064BD-ACA7-4281-AD08-014795B63061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98644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-title">
            <a:extLst>
              <a:ext uri="{FF2B5EF4-FFF2-40B4-BE49-F238E27FC236}">
                <a16:creationId xmlns:a16="http://schemas.microsoft.com/office/drawing/2014/main" id="{58D84294-BD5F-4104-91B4-1F91C9C14253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P3 превращает два алгоритма в единый результат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FE5947A0-85F9-4A45-839D-ECB5A80FD45E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`analyze()` возвращает структуру, которую одинаково используют интерфейс, отчёт и демо.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197A706D-37A8-49AE-9BB9-D02877DD5F86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458038C4-297D-46FF-B73E-99E6228617A0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12</a:t>
            </a:r>
          </a:p>
        </p:txBody>
      </p:sp>
      <p:sp>
        <p:nvSpPr>
          <p:cNvPr id="5" name="body-card">
            <a:extLst>
              <a:ext uri="{FF2B5EF4-FFF2-40B4-BE49-F238E27FC236}">
                <a16:creationId xmlns:a16="http://schemas.microsoft.com/office/drawing/2014/main" id="{52DB4126-FD97-47B6-98DA-9D7A02BAE456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3105150" cy="270510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accent-rule">
            <a:extLst>
              <a:ext uri="{FF2B5EF4-FFF2-40B4-BE49-F238E27FC236}">
                <a16:creationId xmlns:a16="http://schemas.microsoft.com/office/drawing/2014/main" id="{AF451EA9-1591-45C9-80C0-6A3FACE2E923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66675" cy="2705100"/>
          </a:xfrm>
          <a:prstGeom prst="rect">
            <a:avLst/>
          </a:prstGeom>
          <a:solidFill>
            <a:srgbClr val="1656C9"/>
          </a:solidFill>
          <a:ln w="0">
            <a:solidFill>
              <a:srgbClr val="1656C9"/>
            </a:solidFill>
            <a:prstDash val="solid"/>
          </a:ln>
        </p:spPr>
      </p:sp>
      <p:sp>
        <p:nvSpPr>
          <p:cNvPr id="7" name="body-card-heading">
            <a:extLst>
              <a:ext uri="{FF2B5EF4-FFF2-40B4-BE49-F238E27FC236}">
                <a16:creationId xmlns:a16="http://schemas.microsoft.com/office/drawing/2014/main" id="{6CCCCFB2-9A8B-467D-9D1F-AF9AC90F7F87}"/>
              </a:ext>
            </a:extLst>
          </p:cNvPr>
          <p:cNvSpPr>
            <a:spLocks noGrp="1"/>
          </p:cNvSpPr>
          <p:nvPr/>
        </p:nvSpPr>
        <p:spPr>
          <a:xfrm>
            <a:off x="971550" y="2286000"/>
            <a:ext cx="2647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56C9"/>
                </a:solidFill>
              </a:defRPr>
            </a:pPr>
            <a:r>
              <a:rPr sz="1725" b="1">
                <a:solidFill>
                  <a:srgbClr val="1656C9"/>
                </a:solidFill>
              </a:rPr>
              <a:t>Вход</a:t>
            </a:r>
          </a:p>
        </p:txBody>
      </p:sp>
      <p:sp>
        <p:nvSpPr>
          <p:cNvPr id="8" name="body-card-body">
            <a:extLst>
              <a:ext uri="{FF2B5EF4-FFF2-40B4-BE49-F238E27FC236}">
                <a16:creationId xmlns:a16="http://schemas.microsoft.com/office/drawing/2014/main" id="{8CDFB0D2-AFFA-4AB3-9F00-EE92A3085B38}"/>
              </a:ext>
            </a:extLst>
          </p:cNvPr>
          <p:cNvSpPr>
            <a:spLocks noGrp="1"/>
          </p:cNvSpPr>
          <p:nvPr/>
        </p:nvSpPr>
        <p:spPr>
          <a:xfrm>
            <a:off x="971550" y="2724150"/>
            <a:ext cx="2647950" cy="1924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Фото аншлифа или панорама в формате TIFF, PNG, JPG, JPEG, BMP. Интерфейс передаёт байты и идентификатор снимка.</a:t>
            </a:r>
          </a:p>
        </p:txBody>
      </p:sp>
      <p:sp>
        <p:nvSpPr>
          <p:cNvPr id="9" name="body-card">
            <a:extLst>
              <a:ext uri="{FF2B5EF4-FFF2-40B4-BE49-F238E27FC236}">
                <a16:creationId xmlns:a16="http://schemas.microsoft.com/office/drawing/2014/main" id="{8BAF6641-FE10-4C5C-9948-B9B1F41D812C}"/>
              </a:ext>
            </a:extLst>
          </p:cNvPr>
          <p:cNvSpPr>
            <a:spLocks noGrp="1"/>
          </p:cNvSpPr>
          <p:nvPr/>
        </p:nvSpPr>
        <p:spPr>
          <a:xfrm>
            <a:off x="4533900" y="2076450"/>
            <a:ext cx="3105150" cy="270510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accent-rule">
            <a:extLst>
              <a:ext uri="{FF2B5EF4-FFF2-40B4-BE49-F238E27FC236}">
                <a16:creationId xmlns:a16="http://schemas.microsoft.com/office/drawing/2014/main" id="{3C5CE3D1-563B-418F-91FA-AD7A440C7DE9}"/>
              </a:ext>
            </a:extLst>
          </p:cNvPr>
          <p:cNvSpPr>
            <a:spLocks noGrp="1"/>
          </p:cNvSpPr>
          <p:nvPr/>
        </p:nvSpPr>
        <p:spPr>
          <a:xfrm>
            <a:off x="4533900" y="2076450"/>
            <a:ext cx="66675" cy="2705100"/>
          </a:xfrm>
          <a:prstGeom prst="rect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</p:sp>
      <p:sp>
        <p:nvSpPr>
          <p:cNvPr id="11" name="body-card-heading">
            <a:extLst>
              <a:ext uri="{FF2B5EF4-FFF2-40B4-BE49-F238E27FC236}">
                <a16:creationId xmlns:a16="http://schemas.microsoft.com/office/drawing/2014/main" id="{442C8D13-96AF-44A0-9CCD-F4A65F1C6F68}"/>
              </a:ext>
            </a:extLst>
          </p:cNvPr>
          <p:cNvSpPr>
            <a:spLocks noGrp="1"/>
          </p:cNvSpPr>
          <p:nvPr/>
        </p:nvSpPr>
        <p:spPr>
          <a:xfrm>
            <a:off x="4762500" y="2286000"/>
            <a:ext cx="2647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D97706"/>
                </a:solidFill>
              </a:defRPr>
            </a:pPr>
            <a:r>
              <a:rPr sz="1725" b="1">
                <a:solidFill>
                  <a:srgbClr val="D97706"/>
                </a:solidFill>
              </a:rPr>
              <a:t>Ядро</a:t>
            </a:r>
          </a:p>
        </p:txBody>
      </p:sp>
      <p:sp>
        <p:nvSpPr>
          <p:cNvPr id="12" name="body-card-body">
            <a:extLst>
              <a:ext uri="{FF2B5EF4-FFF2-40B4-BE49-F238E27FC236}">
                <a16:creationId xmlns:a16="http://schemas.microsoft.com/office/drawing/2014/main" id="{F6C51E26-D02F-4909-A2AF-307E1FBDADFD}"/>
              </a:ext>
            </a:extLst>
          </p:cNvPr>
          <p:cNvSpPr>
            <a:spLocks noGrp="1"/>
          </p:cNvSpPr>
          <p:nvPr/>
        </p:nvSpPr>
        <p:spPr>
          <a:xfrm>
            <a:off x="4762500" y="2724150"/>
            <a:ext cx="2647950" cy="1924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P2 даёт сорт, P1 считает talc_pct и маску, P3 добавляет согласованность, время и метаданные.</a:t>
            </a:r>
          </a:p>
        </p:txBody>
      </p:sp>
      <p:sp>
        <p:nvSpPr>
          <p:cNvPr id="13" name="body-card">
            <a:extLst>
              <a:ext uri="{FF2B5EF4-FFF2-40B4-BE49-F238E27FC236}">
                <a16:creationId xmlns:a16="http://schemas.microsoft.com/office/drawing/2014/main" id="{502B966A-85C9-4C20-BB40-C25447FFF191}"/>
              </a:ext>
            </a:extLst>
          </p:cNvPr>
          <p:cNvSpPr>
            <a:spLocks noGrp="1"/>
          </p:cNvSpPr>
          <p:nvPr/>
        </p:nvSpPr>
        <p:spPr>
          <a:xfrm>
            <a:off x="8324850" y="2076450"/>
            <a:ext cx="3105150" cy="270510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accent-rule">
            <a:extLst>
              <a:ext uri="{FF2B5EF4-FFF2-40B4-BE49-F238E27FC236}">
                <a16:creationId xmlns:a16="http://schemas.microsoft.com/office/drawing/2014/main" id="{1779E6D8-E54F-414B-8896-08A313218FB6}"/>
              </a:ext>
            </a:extLst>
          </p:cNvPr>
          <p:cNvSpPr>
            <a:spLocks noGrp="1"/>
          </p:cNvSpPr>
          <p:nvPr/>
        </p:nvSpPr>
        <p:spPr>
          <a:xfrm>
            <a:off x="8324850" y="2076450"/>
            <a:ext cx="66675" cy="270510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15" name="body-card-heading">
            <a:extLst>
              <a:ext uri="{FF2B5EF4-FFF2-40B4-BE49-F238E27FC236}">
                <a16:creationId xmlns:a16="http://schemas.microsoft.com/office/drawing/2014/main" id="{2C71C8F4-1A04-48D3-B10C-2913253E9984}"/>
              </a:ext>
            </a:extLst>
          </p:cNvPr>
          <p:cNvSpPr>
            <a:spLocks noGrp="1"/>
          </p:cNvSpPr>
          <p:nvPr/>
        </p:nvSpPr>
        <p:spPr>
          <a:xfrm>
            <a:off x="8553450" y="2286000"/>
            <a:ext cx="2647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9653"/>
                </a:solidFill>
              </a:defRPr>
            </a:pPr>
            <a:r>
              <a:rPr sz="1725" b="1">
                <a:solidFill>
                  <a:srgbClr val="169653"/>
                </a:solidFill>
              </a:rPr>
              <a:t>Выход</a:t>
            </a:r>
          </a:p>
        </p:txBody>
      </p:sp>
      <p:sp>
        <p:nvSpPr>
          <p:cNvPr id="16" name="body-card-body">
            <a:extLst>
              <a:ext uri="{FF2B5EF4-FFF2-40B4-BE49-F238E27FC236}">
                <a16:creationId xmlns:a16="http://schemas.microsoft.com/office/drawing/2014/main" id="{2BC5BCB5-E467-4494-9DF4-1BB318D382A8}"/>
              </a:ext>
            </a:extLst>
          </p:cNvPr>
          <p:cNvSpPr>
            <a:spLocks noGrp="1"/>
          </p:cNvSpPr>
          <p:nvPr/>
        </p:nvSpPr>
        <p:spPr>
          <a:xfrm>
            <a:off x="8553450" y="2724150"/>
            <a:ext cx="2647950" cy="1924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verdict, confidence, talc_pct, overlay_png, source, processing_time_sec, consistency_check.</a:t>
            </a:r>
          </a:p>
        </p:txBody>
      </p:sp>
      <p:sp>
        <p:nvSpPr>
          <p:cNvPr id="17" name="p3-contract">
            <a:extLst>
              <a:ext uri="{FF2B5EF4-FFF2-40B4-BE49-F238E27FC236}">
                <a16:creationId xmlns:a16="http://schemas.microsoft.com/office/drawing/2014/main" id="{5C9FD672-02E0-4739-B85B-618D689DB13A}"/>
              </a:ext>
            </a:extLst>
          </p:cNvPr>
          <p:cNvSpPr>
            <a:spLocks noGrp="1"/>
          </p:cNvSpPr>
          <p:nvPr/>
        </p:nvSpPr>
        <p:spPr>
          <a:xfrm>
            <a:off x="1066800" y="5219700"/>
            <a:ext cx="1005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>
                <a:solidFill>
                  <a:srgbClr val="243044"/>
                </a:solidFill>
              </a:defRPr>
            </a:pPr>
            <a:r>
              <a:rPr sz="1575">
                <a:solidFill>
                  <a:srgbClr val="243044"/>
                </a:solidFill>
              </a:rPr>
              <a:t>Такой контракт позволяет P4 работать на заглушке во время интеграции и сразу принять боевые модули, когда P1/P2 обновляют ядро.</a:t>
            </a:r>
          </a:p>
        </p:txBody>
      </p:sp>
      <p:sp>
        <p:nvSpPr>
          <p:cNvPr id="18" name="footer-left">
            <a:extLst>
              <a:ext uri="{FF2B5EF4-FFF2-40B4-BE49-F238E27FC236}">
                <a16:creationId xmlns:a16="http://schemas.microsoft.com/office/drawing/2014/main" id="{62853380-470A-4BBA-924C-208B1A525D2D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19" name="footer-num">
            <a:extLst>
              <a:ext uri="{FF2B5EF4-FFF2-40B4-BE49-F238E27FC236}">
                <a16:creationId xmlns:a16="http://schemas.microsoft.com/office/drawing/2014/main" id="{41CDA8E2-19FF-498B-B26E-5B4B9E4ED878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50245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62E963A9-C9C1-4049-853B-65311D4E4A56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P4 показывает результат в формате, удобном геологу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8DA4C0D1-5AC2-4F61-860F-6ABCB080E5F9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Главный экран ведёт от загрузки к вердикту, маске, процентам и отчёту.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BDDAAD8C-6431-4EA9-A2FC-0A63642A1F61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20382639-4BD0-400B-B594-A2538E1237AB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13</a:t>
            </a:r>
          </a:p>
        </p:txBody>
      </p:sp>
      <p:sp>
        <p:nvSpPr>
          <p:cNvPr id="5" name="image-frame">
            <a:extLst>
              <a:ext uri="{FF2B5EF4-FFF2-40B4-BE49-F238E27FC236}">
                <a16:creationId xmlns:a16="http://schemas.microsoft.com/office/drawing/2014/main" id="{124165F0-7938-4AF3-A528-414D4C341D46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3695700" cy="4095750"/>
          </a:xfrm>
          <a:prstGeom prst="roundRect">
            <a:avLst>
              <a:gd name="adj" fmla="val 3093"/>
            </a:avLst>
          </a:prstGeom>
          <a:solidFill>
            <a:srgbClr val="0B111B"/>
          </a:solidFill>
          <a:ln w="9525">
            <a:solidFill>
              <a:srgbClr val="26344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3"/>
          <a:srcRect t="13829" b="13829"/>
          <a:stretch>
            <a:fillRect/>
          </a:stretch>
        </p:blipFill>
        <p:spPr>
          <a:xfrm>
            <a:off x="781050" y="1790700"/>
            <a:ext cx="3505200" cy="3543300"/>
          </a:xfrm>
          <a:prstGeom prst="roundRect">
            <a:avLst>
              <a:gd name="adj" fmla="val 2174"/>
            </a:avLst>
          </a:prstGeom>
        </p:spPr>
      </p:pic>
      <p:sp>
        <p:nvSpPr>
          <p:cNvPr id="7" name="image-caption">
            <a:extLst>
              <a:ext uri="{FF2B5EF4-FFF2-40B4-BE49-F238E27FC236}">
                <a16:creationId xmlns:a16="http://schemas.microsoft.com/office/drawing/2014/main" id="{9D071F41-6B85-4796-AA86-50C38971585E}"/>
              </a:ext>
            </a:extLst>
          </p:cNvPr>
          <p:cNvSpPr>
            <a:spLocks noGrp="1"/>
          </p:cNvSpPr>
          <p:nvPr/>
        </p:nvSpPr>
        <p:spPr>
          <a:xfrm>
            <a:off x="838200" y="5391150"/>
            <a:ext cx="3390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EAF2FF"/>
                </a:solidFill>
              </a:defRPr>
            </a:pPr>
            <a:r>
              <a:rPr sz="1200" b="1">
                <a:solidFill>
                  <a:srgbClr val="EAF2FF"/>
                </a:solidFill>
              </a:rPr>
              <a:t>Загрузка снимка</a:t>
            </a:r>
          </a:p>
        </p:txBody>
      </p:sp>
      <p:sp>
        <p:nvSpPr>
          <p:cNvPr id="8" name="image-frame">
            <a:extLst>
              <a:ext uri="{FF2B5EF4-FFF2-40B4-BE49-F238E27FC236}">
                <a16:creationId xmlns:a16="http://schemas.microsoft.com/office/drawing/2014/main" id="{2E982B9F-897B-4255-8DAC-4BF76373BBAA}"/>
              </a:ext>
            </a:extLst>
          </p:cNvPr>
          <p:cNvSpPr>
            <a:spLocks noGrp="1"/>
          </p:cNvSpPr>
          <p:nvPr/>
        </p:nvSpPr>
        <p:spPr>
          <a:xfrm>
            <a:off x="4819650" y="2000250"/>
            <a:ext cx="6534150" cy="2152650"/>
          </a:xfrm>
          <a:prstGeom prst="roundRect">
            <a:avLst>
              <a:gd name="adj" fmla="val 5310"/>
            </a:avLst>
          </a:prstGeom>
          <a:solidFill>
            <a:srgbClr val="0B111B"/>
          </a:solidFill>
          <a:ln w="9525">
            <a:solidFill>
              <a:srgbClr val="26344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4"/>
          <a:srcRect r="20064"/>
          <a:stretch>
            <a:fillRect/>
          </a:stretch>
        </p:blipFill>
        <p:spPr>
          <a:xfrm>
            <a:off x="5478180" y="2095500"/>
            <a:ext cx="5200330" cy="1600200"/>
          </a:xfrm>
          <a:prstGeom prst="roundRect">
            <a:avLst>
              <a:gd name="adj" fmla="val 4762"/>
            </a:avLst>
          </a:prstGeom>
        </p:spPr>
      </p:pic>
      <p:sp>
        <p:nvSpPr>
          <p:cNvPr id="10" name="image-caption">
            <a:extLst>
              <a:ext uri="{FF2B5EF4-FFF2-40B4-BE49-F238E27FC236}">
                <a16:creationId xmlns:a16="http://schemas.microsoft.com/office/drawing/2014/main" id="{D91EC2D4-8880-4063-AD22-2CEE2C0D1E8C}"/>
              </a:ext>
            </a:extLst>
          </p:cNvPr>
          <p:cNvSpPr>
            <a:spLocks noGrp="1"/>
          </p:cNvSpPr>
          <p:nvPr/>
        </p:nvSpPr>
        <p:spPr>
          <a:xfrm>
            <a:off x="4972050" y="3752850"/>
            <a:ext cx="6229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EAF2FF"/>
                </a:solidFill>
              </a:defRPr>
            </a:pPr>
            <a:r>
              <a:rPr sz="1200" b="1">
                <a:solidFill>
                  <a:srgbClr val="EAF2FF"/>
                </a:solidFill>
              </a:rPr>
              <a:t>Вердикт и проверка согласованности</a:t>
            </a:r>
          </a:p>
        </p:txBody>
      </p:sp>
      <p:sp>
        <p:nvSpPr>
          <p:cNvPr id="11" name="metric-card">
            <a:extLst>
              <a:ext uri="{FF2B5EF4-FFF2-40B4-BE49-F238E27FC236}">
                <a16:creationId xmlns:a16="http://schemas.microsoft.com/office/drawing/2014/main" id="{C59E1EAD-A7E1-4439-9D6A-4AD4E651F800}"/>
              </a:ext>
            </a:extLst>
          </p:cNvPr>
          <p:cNvSpPr>
            <a:spLocks noGrp="1"/>
          </p:cNvSpPr>
          <p:nvPr/>
        </p:nvSpPr>
        <p:spPr>
          <a:xfrm>
            <a:off x="4819650" y="4438650"/>
            <a:ext cx="1981200" cy="18478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accent-rule">
            <a:extLst>
              <a:ext uri="{FF2B5EF4-FFF2-40B4-BE49-F238E27FC236}">
                <a16:creationId xmlns:a16="http://schemas.microsoft.com/office/drawing/2014/main" id="{85F28FE3-9AC8-43D2-B69B-23DDA5C43AD3}"/>
              </a:ext>
            </a:extLst>
          </p:cNvPr>
          <p:cNvSpPr>
            <a:spLocks noGrp="1"/>
          </p:cNvSpPr>
          <p:nvPr/>
        </p:nvSpPr>
        <p:spPr>
          <a:xfrm>
            <a:off x="4819650" y="4438650"/>
            <a:ext cx="1981200" cy="57150"/>
          </a:xfrm>
          <a:prstGeom prst="rect">
            <a:avLst/>
          </a:prstGeom>
          <a:solidFill>
            <a:srgbClr val="1656C9"/>
          </a:solidFill>
          <a:ln w="0">
            <a:solidFill>
              <a:srgbClr val="1656C9"/>
            </a:solidFill>
            <a:prstDash val="solid"/>
          </a:ln>
        </p:spPr>
      </p:sp>
      <p:sp>
        <p:nvSpPr>
          <p:cNvPr id="13" name="metric-label">
            <a:extLst>
              <a:ext uri="{FF2B5EF4-FFF2-40B4-BE49-F238E27FC236}">
                <a16:creationId xmlns:a16="http://schemas.microsoft.com/office/drawing/2014/main" id="{555AD184-3112-4E89-ACFF-5C30375AFD65}"/>
              </a:ext>
            </a:extLst>
          </p:cNvPr>
          <p:cNvSpPr>
            <a:spLocks noGrp="1"/>
          </p:cNvSpPr>
          <p:nvPr/>
        </p:nvSpPr>
        <p:spPr>
          <a:xfrm>
            <a:off x="5029200" y="4667250"/>
            <a:ext cx="1562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Доля талька</a:t>
            </a:r>
          </a:p>
        </p:txBody>
      </p:sp>
      <p:sp>
        <p:nvSpPr>
          <p:cNvPr id="14" name="metric-value">
            <a:extLst>
              <a:ext uri="{FF2B5EF4-FFF2-40B4-BE49-F238E27FC236}">
                <a16:creationId xmlns:a16="http://schemas.microsoft.com/office/drawing/2014/main" id="{5697952F-62E7-4840-968A-6B8EBA95E815}"/>
              </a:ext>
            </a:extLst>
          </p:cNvPr>
          <p:cNvSpPr>
            <a:spLocks noGrp="1"/>
          </p:cNvSpPr>
          <p:nvPr/>
        </p:nvSpPr>
        <p:spPr>
          <a:xfrm>
            <a:off x="5029200" y="4991100"/>
            <a:ext cx="1562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656C9"/>
                </a:solidFill>
              </a:defRPr>
            </a:pPr>
            <a:r>
              <a:rPr sz="2700" b="1">
                <a:solidFill>
                  <a:srgbClr val="1656C9"/>
                </a:solidFill>
              </a:rPr>
              <a:t>4.0%</a:t>
            </a:r>
          </a:p>
        </p:txBody>
      </p:sp>
      <p:sp>
        <p:nvSpPr>
          <p:cNvPr id="15" name="metric-note">
            <a:extLst>
              <a:ext uri="{FF2B5EF4-FFF2-40B4-BE49-F238E27FC236}">
                <a16:creationId xmlns:a16="http://schemas.microsoft.com/office/drawing/2014/main" id="{2C4C9DAA-5C2E-4EFE-8205-A69FAD6C557A}"/>
              </a:ext>
            </a:extLst>
          </p:cNvPr>
          <p:cNvSpPr>
            <a:spLocks noGrp="1"/>
          </p:cNvSpPr>
          <p:nvPr/>
        </p:nvSpPr>
        <p:spPr>
          <a:xfrm>
            <a:off x="5029200" y="5543550"/>
            <a:ext cx="1562100" cy="3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Показывается сразу в карточках метрик.</a:t>
            </a:r>
          </a:p>
        </p:txBody>
      </p:sp>
      <p:sp>
        <p:nvSpPr>
          <p:cNvPr id="16" name="metric-card">
            <a:extLst>
              <a:ext uri="{FF2B5EF4-FFF2-40B4-BE49-F238E27FC236}">
                <a16:creationId xmlns:a16="http://schemas.microsoft.com/office/drawing/2014/main" id="{169F40FC-AC0F-44B1-8BA6-38901919FF9A}"/>
              </a:ext>
            </a:extLst>
          </p:cNvPr>
          <p:cNvSpPr>
            <a:spLocks noGrp="1"/>
          </p:cNvSpPr>
          <p:nvPr/>
        </p:nvSpPr>
        <p:spPr>
          <a:xfrm>
            <a:off x="7010400" y="4438650"/>
            <a:ext cx="1981200" cy="18478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7" name="accent-rule">
            <a:extLst>
              <a:ext uri="{FF2B5EF4-FFF2-40B4-BE49-F238E27FC236}">
                <a16:creationId xmlns:a16="http://schemas.microsoft.com/office/drawing/2014/main" id="{95878F47-1AB9-4222-A2FF-46CBD305D2D2}"/>
              </a:ext>
            </a:extLst>
          </p:cNvPr>
          <p:cNvSpPr>
            <a:spLocks noGrp="1"/>
          </p:cNvSpPr>
          <p:nvPr/>
        </p:nvSpPr>
        <p:spPr>
          <a:xfrm>
            <a:off x="7010400" y="4438650"/>
            <a:ext cx="1981200" cy="5715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18" name="metric-label">
            <a:extLst>
              <a:ext uri="{FF2B5EF4-FFF2-40B4-BE49-F238E27FC236}">
                <a16:creationId xmlns:a16="http://schemas.microsoft.com/office/drawing/2014/main" id="{E4BABD2F-F518-49AD-BDCA-BC3567921579}"/>
              </a:ext>
            </a:extLst>
          </p:cNvPr>
          <p:cNvSpPr>
            <a:spLocks noGrp="1"/>
          </p:cNvSpPr>
          <p:nvPr/>
        </p:nvSpPr>
        <p:spPr>
          <a:xfrm>
            <a:off x="7219950" y="4667250"/>
            <a:ext cx="1562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Источник</a:t>
            </a:r>
          </a:p>
        </p:txBody>
      </p:sp>
      <p:sp>
        <p:nvSpPr>
          <p:cNvPr id="19" name="metric-value">
            <a:extLst>
              <a:ext uri="{FF2B5EF4-FFF2-40B4-BE49-F238E27FC236}">
                <a16:creationId xmlns:a16="http://schemas.microsoft.com/office/drawing/2014/main" id="{3502FB68-C611-4773-8BAA-B20778039884}"/>
              </a:ext>
            </a:extLst>
          </p:cNvPr>
          <p:cNvSpPr>
            <a:spLocks noGrp="1"/>
          </p:cNvSpPr>
          <p:nvPr/>
        </p:nvSpPr>
        <p:spPr>
          <a:xfrm>
            <a:off x="7219950" y="4991100"/>
            <a:ext cx="1562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69653"/>
                </a:solidFill>
              </a:defRPr>
            </a:pPr>
            <a:r>
              <a:rPr sz="2700" b="1">
                <a:solidFill>
                  <a:srgbClr val="169653"/>
                </a:solidFill>
              </a:rPr>
              <a:t>P3</a:t>
            </a:r>
          </a:p>
        </p:txBody>
      </p:sp>
      <p:sp>
        <p:nvSpPr>
          <p:cNvPr id="20" name="metric-note">
            <a:extLst>
              <a:ext uri="{FF2B5EF4-FFF2-40B4-BE49-F238E27FC236}">
                <a16:creationId xmlns:a16="http://schemas.microsoft.com/office/drawing/2014/main" id="{43725FF1-BD35-4A02-AE64-85768C14230B}"/>
              </a:ext>
            </a:extLst>
          </p:cNvPr>
          <p:cNvSpPr>
            <a:spLocks noGrp="1"/>
          </p:cNvSpPr>
          <p:nvPr/>
        </p:nvSpPr>
        <p:spPr>
          <a:xfrm>
            <a:off x="7219950" y="5543550"/>
            <a:ext cx="1562100" cy="3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>
                <a:solidFill>
                  <a:srgbClr val="243044"/>
                </a:solidFill>
              </a:rPr>
              <a:t>Боевой анализ или заглушка помечаются в результате.</a:t>
            </a:r>
          </a:p>
        </p:txBody>
      </p:sp>
      <p:sp>
        <p:nvSpPr>
          <p:cNvPr id="21" name="metric-card">
            <a:extLst>
              <a:ext uri="{FF2B5EF4-FFF2-40B4-BE49-F238E27FC236}">
                <a16:creationId xmlns:a16="http://schemas.microsoft.com/office/drawing/2014/main" id="{8A91E22E-BD6A-4043-B3BB-70BB0124D7A0}"/>
              </a:ext>
            </a:extLst>
          </p:cNvPr>
          <p:cNvSpPr>
            <a:spLocks noGrp="1"/>
          </p:cNvSpPr>
          <p:nvPr/>
        </p:nvSpPr>
        <p:spPr>
          <a:xfrm>
            <a:off x="9201150" y="4438650"/>
            <a:ext cx="2152650" cy="18478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accent-rule">
            <a:extLst>
              <a:ext uri="{FF2B5EF4-FFF2-40B4-BE49-F238E27FC236}">
                <a16:creationId xmlns:a16="http://schemas.microsoft.com/office/drawing/2014/main" id="{A51B195D-EF86-4C04-9B12-2C074F5AA418}"/>
              </a:ext>
            </a:extLst>
          </p:cNvPr>
          <p:cNvSpPr>
            <a:spLocks noGrp="1"/>
          </p:cNvSpPr>
          <p:nvPr/>
        </p:nvSpPr>
        <p:spPr>
          <a:xfrm>
            <a:off x="9201150" y="4438650"/>
            <a:ext cx="2152650" cy="57150"/>
          </a:xfrm>
          <a:prstGeom prst="rect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</p:sp>
      <p:sp>
        <p:nvSpPr>
          <p:cNvPr id="23" name="metric-label">
            <a:extLst>
              <a:ext uri="{FF2B5EF4-FFF2-40B4-BE49-F238E27FC236}">
                <a16:creationId xmlns:a16="http://schemas.microsoft.com/office/drawing/2014/main" id="{5B90C685-7597-4225-BA28-A0D314D92028}"/>
              </a:ext>
            </a:extLst>
          </p:cNvPr>
          <p:cNvSpPr>
            <a:spLocks noGrp="1"/>
          </p:cNvSpPr>
          <p:nvPr/>
        </p:nvSpPr>
        <p:spPr>
          <a:xfrm>
            <a:off x="9410700" y="4667250"/>
            <a:ext cx="1733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Отчёт</a:t>
            </a:r>
          </a:p>
        </p:txBody>
      </p:sp>
      <p:sp>
        <p:nvSpPr>
          <p:cNvPr id="24" name="metric-value">
            <a:extLst>
              <a:ext uri="{FF2B5EF4-FFF2-40B4-BE49-F238E27FC236}">
                <a16:creationId xmlns:a16="http://schemas.microsoft.com/office/drawing/2014/main" id="{BEDCC844-54AE-4B12-8E5E-70ADC1167B70}"/>
              </a:ext>
            </a:extLst>
          </p:cNvPr>
          <p:cNvSpPr>
            <a:spLocks noGrp="1"/>
          </p:cNvSpPr>
          <p:nvPr/>
        </p:nvSpPr>
        <p:spPr>
          <a:xfrm>
            <a:off x="9410700" y="4991100"/>
            <a:ext cx="17335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D97706"/>
                </a:solidFill>
              </a:defRPr>
            </a:pPr>
            <a:r>
              <a:rPr sz="2700" b="1">
                <a:solidFill>
                  <a:srgbClr val="D97706"/>
                </a:solidFill>
              </a:rPr>
              <a:t>PDF</a:t>
            </a:r>
          </a:p>
        </p:txBody>
      </p:sp>
      <p:sp>
        <p:nvSpPr>
          <p:cNvPr id="25" name="metric-note">
            <a:extLst>
              <a:ext uri="{FF2B5EF4-FFF2-40B4-BE49-F238E27FC236}">
                <a16:creationId xmlns:a16="http://schemas.microsoft.com/office/drawing/2014/main" id="{998DCB43-2899-4D69-82C0-0612B2C15829}"/>
              </a:ext>
            </a:extLst>
          </p:cNvPr>
          <p:cNvSpPr>
            <a:spLocks noGrp="1"/>
          </p:cNvSpPr>
          <p:nvPr/>
        </p:nvSpPr>
        <p:spPr>
          <a:xfrm>
            <a:off x="9410700" y="5543550"/>
            <a:ext cx="1733550" cy="3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243044"/>
                </a:solidFill>
              </a:defRPr>
            </a:pPr>
            <a:r>
              <a:rPr sz="1163" dirty="0">
                <a:solidFill>
                  <a:srgbClr val="243044"/>
                </a:solidFill>
              </a:rPr>
              <a:t>JSON </a:t>
            </a:r>
            <a:r>
              <a:rPr sz="1163" dirty="0" err="1">
                <a:solidFill>
                  <a:srgbClr val="243044"/>
                </a:solidFill>
              </a:rPr>
              <a:t>также</a:t>
            </a:r>
            <a:r>
              <a:rPr sz="1163" dirty="0">
                <a:solidFill>
                  <a:srgbClr val="243044"/>
                </a:solidFill>
              </a:rPr>
              <a:t> </a:t>
            </a:r>
            <a:r>
              <a:rPr sz="1163" dirty="0" err="1">
                <a:solidFill>
                  <a:srgbClr val="243044"/>
                </a:solidFill>
              </a:rPr>
              <a:t>доступен</a:t>
            </a:r>
            <a:r>
              <a:rPr sz="1163" dirty="0">
                <a:solidFill>
                  <a:srgbClr val="243044"/>
                </a:solidFill>
              </a:rPr>
              <a:t> </a:t>
            </a:r>
            <a:r>
              <a:rPr sz="1163" dirty="0" err="1">
                <a:solidFill>
                  <a:srgbClr val="243044"/>
                </a:solidFill>
              </a:rPr>
              <a:t>из</a:t>
            </a:r>
            <a:r>
              <a:rPr sz="1163" dirty="0">
                <a:solidFill>
                  <a:srgbClr val="243044"/>
                </a:solidFill>
              </a:rPr>
              <a:t> </a:t>
            </a:r>
            <a:r>
              <a:rPr sz="1163" dirty="0" err="1">
                <a:solidFill>
                  <a:srgbClr val="243044"/>
                </a:solidFill>
              </a:rPr>
              <a:t>интерфейса</a:t>
            </a:r>
            <a:r>
              <a:rPr sz="1163" dirty="0">
                <a:solidFill>
                  <a:srgbClr val="243044"/>
                </a:solidFill>
              </a:rPr>
              <a:t>.</a:t>
            </a:r>
          </a:p>
        </p:txBody>
      </p:sp>
      <p:sp>
        <p:nvSpPr>
          <p:cNvPr id="26" name="footer-left">
            <a:extLst>
              <a:ext uri="{FF2B5EF4-FFF2-40B4-BE49-F238E27FC236}">
                <a16:creationId xmlns:a16="http://schemas.microsoft.com/office/drawing/2014/main" id="{C9073CA7-B7C3-4085-B56E-E21C07B97582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27" name="footer-num">
            <a:extLst>
              <a:ext uri="{FF2B5EF4-FFF2-40B4-BE49-F238E27FC236}">
                <a16:creationId xmlns:a16="http://schemas.microsoft.com/office/drawing/2014/main" id="{B02A6B84-B3AF-474D-93C3-4E94CC87B18B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017451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-title">
            <a:extLst>
              <a:ext uri="{FF2B5EF4-FFF2-40B4-BE49-F238E27FC236}">
                <a16:creationId xmlns:a16="http://schemas.microsoft.com/office/drawing/2014/main" id="{FDBA8E57-464D-44C3-8CAA-31AE0D0DF658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Интерактивная маска помогает разбирать крупные снимки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1C12F2EC-0033-450D-8EEB-C4B83608FEE1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Для эксперта важна не только доля талька, но и возможность проверить конкретные зоны.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F5AD1E34-50AD-4DBA-96AE-F52BC87896DB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734388BB-6D84-4CF5-BAA6-C069A422832B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14</a:t>
            </a:r>
          </a:p>
        </p:txBody>
      </p:sp>
      <p:sp>
        <p:nvSpPr>
          <p:cNvPr id="5" name="body-card">
            <a:extLst>
              <a:ext uri="{FF2B5EF4-FFF2-40B4-BE49-F238E27FC236}">
                <a16:creationId xmlns:a16="http://schemas.microsoft.com/office/drawing/2014/main" id="{BAFBB8DE-94A6-4BAD-9537-B4A0F6CE719F}"/>
              </a:ext>
            </a:extLst>
          </p:cNvPr>
          <p:cNvSpPr>
            <a:spLocks noGrp="1"/>
          </p:cNvSpPr>
          <p:nvPr/>
        </p:nvSpPr>
        <p:spPr>
          <a:xfrm>
            <a:off x="685800" y="2038350"/>
            <a:ext cx="304800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accent-rule">
            <a:extLst>
              <a:ext uri="{FF2B5EF4-FFF2-40B4-BE49-F238E27FC236}">
                <a16:creationId xmlns:a16="http://schemas.microsoft.com/office/drawing/2014/main" id="{29DD9256-87C4-41F4-9227-879E4516B450}"/>
              </a:ext>
            </a:extLst>
          </p:cNvPr>
          <p:cNvSpPr>
            <a:spLocks noGrp="1"/>
          </p:cNvSpPr>
          <p:nvPr/>
        </p:nvSpPr>
        <p:spPr>
          <a:xfrm>
            <a:off x="685800" y="2038350"/>
            <a:ext cx="66675" cy="2381250"/>
          </a:xfrm>
          <a:prstGeom prst="rect">
            <a:avLst/>
          </a:prstGeom>
          <a:solidFill>
            <a:srgbClr val="1656C9"/>
          </a:solidFill>
          <a:ln w="0">
            <a:solidFill>
              <a:srgbClr val="1656C9"/>
            </a:solidFill>
            <a:prstDash val="solid"/>
          </a:ln>
        </p:spPr>
      </p:sp>
      <p:sp>
        <p:nvSpPr>
          <p:cNvPr id="7" name="body-card-heading">
            <a:extLst>
              <a:ext uri="{FF2B5EF4-FFF2-40B4-BE49-F238E27FC236}">
                <a16:creationId xmlns:a16="http://schemas.microsoft.com/office/drawing/2014/main" id="{4AC1273A-ECEA-44A4-B293-E7750CA0C9A1}"/>
              </a:ext>
            </a:extLst>
          </p:cNvPr>
          <p:cNvSpPr>
            <a:spLocks noGrp="1"/>
          </p:cNvSpPr>
          <p:nvPr/>
        </p:nvSpPr>
        <p:spPr>
          <a:xfrm>
            <a:off x="914400" y="22479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56C9"/>
                </a:solidFill>
              </a:defRPr>
            </a:pPr>
            <a:r>
              <a:rPr sz="1725" b="1">
                <a:solidFill>
                  <a:srgbClr val="1656C9"/>
                </a:solidFill>
              </a:rPr>
              <a:t>Перемещение мышкой</a:t>
            </a:r>
          </a:p>
        </p:txBody>
      </p:sp>
      <p:sp>
        <p:nvSpPr>
          <p:cNvPr id="8" name="body-card-body">
            <a:extLst>
              <a:ext uri="{FF2B5EF4-FFF2-40B4-BE49-F238E27FC236}">
                <a16:creationId xmlns:a16="http://schemas.microsoft.com/office/drawing/2014/main" id="{F0BDE4E0-E65E-47C2-BBDF-DF3F206B9841}"/>
              </a:ext>
            </a:extLst>
          </p:cNvPr>
          <p:cNvSpPr>
            <a:spLocks noGrp="1"/>
          </p:cNvSpPr>
          <p:nvPr/>
        </p:nvSpPr>
        <p:spPr>
          <a:xfrm>
            <a:off x="914400" y="2686050"/>
            <a:ext cx="25908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Просмотрщик позволяет двигать изображение в окне и быстро переходить к нужному фрагменту вместо ручных осей X/Y.</a:t>
            </a:r>
          </a:p>
        </p:txBody>
      </p:sp>
      <p:sp>
        <p:nvSpPr>
          <p:cNvPr id="9" name="body-card">
            <a:extLst>
              <a:ext uri="{FF2B5EF4-FFF2-40B4-BE49-F238E27FC236}">
                <a16:creationId xmlns:a16="http://schemas.microsoft.com/office/drawing/2014/main" id="{7D886F27-2C29-4B41-AEC2-01B1B1F9425A}"/>
              </a:ext>
            </a:extLst>
          </p:cNvPr>
          <p:cNvSpPr>
            <a:spLocks noGrp="1"/>
          </p:cNvSpPr>
          <p:nvPr/>
        </p:nvSpPr>
        <p:spPr>
          <a:xfrm>
            <a:off x="4572000" y="2038350"/>
            <a:ext cx="304800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accent-rule">
            <a:extLst>
              <a:ext uri="{FF2B5EF4-FFF2-40B4-BE49-F238E27FC236}">
                <a16:creationId xmlns:a16="http://schemas.microsoft.com/office/drawing/2014/main" id="{29C3B113-E329-4218-9CD4-6D55DBD5FA9E}"/>
              </a:ext>
            </a:extLst>
          </p:cNvPr>
          <p:cNvSpPr>
            <a:spLocks noGrp="1"/>
          </p:cNvSpPr>
          <p:nvPr/>
        </p:nvSpPr>
        <p:spPr>
          <a:xfrm>
            <a:off x="4572000" y="2038350"/>
            <a:ext cx="66675" cy="2381250"/>
          </a:xfrm>
          <a:prstGeom prst="rect">
            <a:avLst/>
          </a:prstGeom>
          <a:solidFill>
            <a:srgbClr val="16B8C7"/>
          </a:solidFill>
          <a:ln w="0">
            <a:solidFill>
              <a:srgbClr val="16B8C7"/>
            </a:solidFill>
            <a:prstDash val="solid"/>
          </a:ln>
        </p:spPr>
      </p:sp>
      <p:sp>
        <p:nvSpPr>
          <p:cNvPr id="11" name="body-card-heading">
            <a:extLst>
              <a:ext uri="{FF2B5EF4-FFF2-40B4-BE49-F238E27FC236}">
                <a16:creationId xmlns:a16="http://schemas.microsoft.com/office/drawing/2014/main" id="{1D1EA7FB-055F-46EF-B096-CBEFE13DB480}"/>
              </a:ext>
            </a:extLst>
          </p:cNvPr>
          <p:cNvSpPr>
            <a:spLocks noGrp="1"/>
          </p:cNvSpPr>
          <p:nvPr/>
        </p:nvSpPr>
        <p:spPr>
          <a:xfrm>
            <a:off x="4800600" y="22479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B8C7"/>
                </a:solidFill>
              </a:defRPr>
            </a:pPr>
            <a:r>
              <a:rPr sz="1725" b="1">
                <a:solidFill>
                  <a:srgbClr val="16B8C7"/>
                </a:solidFill>
              </a:rPr>
              <a:t>Зум</a:t>
            </a:r>
          </a:p>
        </p:txBody>
      </p:sp>
      <p:sp>
        <p:nvSpPr>
          <p:cNvPr id="12" name="body-card-body">
            <a:extLst>
              <a:ext uri="{FF2B5EF4-FFF2-40B4-BE49-F238E27FC236}">
                <a16:creationId xmlns:a16="http://schemas.microsoft.com/office/drawing/2014/main" id="{8A0EA7BB-6B09-48A5-B17C-264D74A3D1C8}"/>
              </a:ext>
            </a:extLst>
          </p:cNvPr>
          <p:cNvSpPr>
            <a:spLocks noGrp="1"/>
          </p:cNvSpPr>
          <p:nvPr/>
        </p:nvSpPr>
        <p:spPr>
          <a:xfrm>
            <a:off x="4800600" y="2686050"/>
            <a:ext cx="25908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Увеличение помогает проверить границы маски и спорные участки на панорамах и детальных микрофото.</a:t>
            </a:r>
          </a:p>
        </p:txBody>
      </p:sp>
      <p:sp>
        <p:nvSpPr>
          <p:cNvPr id="13" name="body-card">
            <a:extLst>
              <a:ext uri="{FF2B5EF4-FFF2-40B4-BE49-F238E27FC236}">
                <a16:creationId xmlns:a16="http://schemas.microsoft.com/office/drawing/2014/main" id="{6A02B975-FB4D-49AE-B236-6ACE214124BB}"/>
              </a:ext>
            </a:extLst>
          </p:cNvPr>
          <p:cNvSpPr>
            <a:spLocks noGrp="1"/>
          </p:cNvSpPr>
          <p:nvPr/>
        </p:nvSpPr>
        <p:spPr>
          <a:xfrm>
            <a:off x="8458200" y="2038350"/>
            <a:ext cx="304800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accent-rule">
            <a:extLst>
              <a:ext uri="{FF2B5EF4-FFF2-40B4-BE49-F238E27FC236}">
                <a16:creationId xmlns:a16="http://schemas.microsoft.com/office/drawing/2014/main" id="{4469627E-C1FF-4C55-BA1D-CCB234A2533B}"/>
              </a:ext>
            </a:extLst>
          </p:cNvPr>
          <p:cNvSpPr>
            <a:spLocks noGrp="1"/>
          </p:cNvSpPr>
          <p:nvPr/>
        </p:nvSpPr>
        <p:spPr>
          <a:xfrm>
            <a:off x="8458200" y="2038350"/>
            <a:ext cx="66675" cy="238125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15" name="body-card-heading">
            <a:extLst>
              <a:ext uri="{FF2B5EF4-FFF2-40B4-BE49-F238E27FC236}">
                <a16:creationId xmlns:a16="http://schemas.microsoft.com/office/drawing/2014/main" id="{B97AEF1F-71D9-4645-BE3D-7540A1E3C573}"/>
              </a:ext>
            </a:extLst>
          </p:cNvPr>
          <p:cNvSpPr>
            <a:spLocks noGrp="1"/>
          </p:cNvSpPr>
          <p:nvPr/>
        </p:nvSpPr>
        <p:spPr>
          <a:xfrm>
            <a:off x="8686800" y="22479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9653"/>
                </a:solidFill>
              </a:defRPr>
            </a:pPr>
            <a:r>
              <a:rPr sz="1725" b="1">
                <a:solidFill>
                  <a:srgbClr val="169653"/>
                </a:solidFill>
              </a:rPr>
              <a:t>Экспорт</a:t>
            </a:r>
          </a:p>
        </p:txBody>
      </p:sp>
      <p:sp>
        <p:nvSpPr>
          <p:cNvPr id="16" name="body-card-body">
            <a:extLst>
              <a:ext uri="{FF2B5EF4-FFF2-40B4-BE49-F238E27FC236}">
                <a16:creationId xmlns:a16="http://schemas.microsoft.com/office/drawing/2014/main" id="{A0EDA31E-EC0C-484C-8690-BA5A33D88F3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После проверки геолог скачивает отчёт с исходником, маской, процентом талька и итоговым вердиктом.</a:t>
            </a:r>
          </a:p>
        </p:txBody>
      </p:sp>
      <p:sp>
        <p:nvSpPr>
          <p:cNvPr id="17" name="p4-result">
            <a:extLst>
              <a:ext uri="{FF2B5EF4-FFF2-40B4-BE49-F238E27FC236}">
                <a16:creationId xmlns:a16="http://schemas.microsoft.com/office/drawing/2014/main" id="{2C6EA3D0-FA3E-4462-9F56-32BD2C90F05A}"/>
              </a:ext>
            </a:extLst>
          </p:cNvPr>
          <p:cNvSpPr>
            <a:spLocks noGrp="1"/>
          </p:cNvSpPr>
          <p:nvPr/>
        </p:nvSpPr>
        <p:spPr>
          <a:xfrm>
            <a:off x="952500" y="5086350"/>
            <a:ext cx="10287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>
                <a:solidFill>
                  <a:srgbClr val="243044"/>
                </a:solidFill>
              </a:defRPr>
            </a:pPr>
            <a:r>
              <a:rPr sz="1650">
                <a:solidFill>
                  <a:srgbClr val="243044"/>
                </a:solidFill>
              </a:rPr>
              <a:t>В интерфейсе сохранён быстрый путь: загрузил снимок, увидел сорт, проверил синюю маску, подтвердил результат и выгрузил отчёт.</a:t>
            </a:r>
          </a:p>
        </p:txBody>
      </p:sp>
      <p:sp>
        <p:nvSpPr>
          <p:cNvPr id="18" name="footer-left">
            <a:extLst>
              <a:ext uri="{FF2B5EF4-FFF2-40B4-BE49-F238E27FC236}">
                <a16:creationId xmlns:a16="http://schemas.microsoft.com/office/drawing/2014/main" id="{27588A92-F341-41D4-887D-8578B006FDC0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19" name="footer-num">
            <a:extLst>
              <a:ext uri="{FF2B5EF4-FFF2-40B4-BE49-F238E27FC236}">
                <a16:creationId xmlns:a16="http://schemas.microsoft.com/office/drawing/2014/main" id="{9028B48F-21E2-4BB4-8327-7E41EBF6CAB3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818566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lide-title">
            <a:extLst>
              <a:ext uri="{FF2B5EF4-FFF2-40B4-BE49-F238E27FC236}">
                <a16:creationId xmlns:a16="http://schemas.microsoft.com/office/drawing/2014/main" id="{B73061E2-0727-46CD-B762-0A48314517DF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F8FAFC"/>
                </a:solidFill>
              </a:defRPr>
            </a:pPr>
            <a:r>
              <a:rPr sz="2925" b="1">
                <a:solidFill>
                  <a:srgbClr val="F8FAFC"/>
                </a:solidFill>
              </a:rPr>
              <a:t>Экспертная правка замыкает контур улучшения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DD307249-018D-485B-9978-910F6F1A2F53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B8C6D8"/>
                </a:solidFill>
              </a:defRPr>
            </a:pPr>
            <a:r>
              <a:rPr sz="1575">
                <a:solidFill>
                  <a:srgbClr val="B8C6D8"/>
                </a:solidFill>
              </a:rPr>
              <a:t>Геолог остаётся в процессе: подтверждает результат или фиксирует ошибку для следующей версии.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22D0C4E7-97C9-4FEB-82D8-9E9B5C9A6894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15F50CB8-B4FA-4961-8E67-C65AE79F4486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15</a:t>
            </a:r>
          </a:p>
        </p:txBody>
      </p:sp>
      <p:sp>
        <p:nvSpPr>
          <p:cNvPr id="5" name="process-step">
            <a:extLst>
              <a:ext uri="{FF2B5EF4-FFF2-40B4-BE49-F238E27FC236}">
                <a16:creationId xmlns:a16="http://schemas.microsoft.com/office/drawing/2014/main" id="{2D51E2B5-B0B1-4F63-A078-69B030BD9DC6}"/>
              </a:ext>
            </a:extLst>
          </p:cNvPr>
          <p:cNvSpPr>
            <a:spLocks noGrp="1"/>
          </p:cNvSpPr>
          <p:nvPr/>
        </p:nvSpPr>
        <p:spPr>
          <a:xfrm>
            <a:off x="876300" y="2343150"/>
            <a:ext cx="2381250" cy="150495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pill">
            <a:extLst>
              <a:ext uri="{FF2B5EF4-FFF2-40B4-BE49-F238E27FC236}">
                <a16:creationId xmlns:a16="http://schemas.microsoft.com/office/drawing/2014/main" id="{EA836598-8F42-4318-B3C3-1C66EC9FF460}"/>
              </a:ext>
            </a:extLst>
          </p:cNvPr>
          <p:cNvSpPr>
            <a:spLocks noGrp="1"/>
          </p:cNvSpPr>
          <p:nvPr/>
        </p:nvSpPr>
        <p:spPr>
          <a:xfrm>
            <a:off x="1085850" y="2533650"/>
            <a:ext cx="742950" cy="381000"/>
          </a:xfrm>
          <a:prstGeom prst="roundRect">
            <a:avLst>
              <a:gd name="adj" fmla="val 50000"/>
            </a:avLst>
          </a:prstGeom>
          <a:solidFill>
            <a:srgbClr val="FFF3DF"/>
          </a:solidFill>
          <a:ln w="9525">
            <a:solidFill>
              <a:srgbClr val="16B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pill-text">
            <a:extLst>
              <a:ext uri="{FF2B5EF4-FFF2-40B4-BE49-F238E27FC236}">
                <a16:creationId xmlns:a16="http://schemas.microsoft.com/office/drawing/2014/main" id="{B7282A21-E70D-431B-8528-887A2610C6EF}"/>
              </a:ext>
            </a:extLst>
          </p:cNvPr>
          <p:cNvSpPr>
            <a:spLocks noGrp="1"/>
          </p:cNvSpPr>
          <p:nvPr/>
        </p:nvSpPr>
        <p:spPr>
          <a:xfrm>
            <a:off x="1219200" y="261937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B8C7"/>
                </a:solidFill>
              </a:defRPr>
            </a:pPr>
            <a:r>
              <a:rPr sz="1125" b="1">
                <a:solidFill>
                  <a:srgbClr val="16B8C7"/>
                </a:solidFill>
              </a:rPr>
              <a:t>1</a:t>
            </a:r>
          </a:p>
        </p:txBody>
      </p:sp>
      <p:sp>
        <p:nvSpPr>
          <p:cNvPr id="8" name="process-heading">
            <a:extLst>
              <a:ext uri="{FF2B5EF4-FFF2-40B4-BE49-F238E27FC236}">
                <a16:creationId xmlns:a16="http://schemas.microsoft.com/office/drawing/2014/main" id="{84642AD8-1BEC-4F2D-958B-3C4F531E8CBE}"/>
              </a:ext>
            </a:extLst>
          </p:cNvPr>
          <p:cNvSpPr>
            <a:spLocks noGrp="1"/>
          </p:cNvSpPr>
          <p:nvPr/>
        </p:nvSpPr>
        <p:spPr>
          <a:xfrm>
            <a:off x="1085850" y="3009900"/>
            <a:ext cx="1962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Проверить</a:t>
            </a:r>
          </a:p>
        </p:txBody>
      </p:sp>
      <p:sp>
        <p:nvSpPr>
          <p:cNvPr id="9" name="process-body">
            <a:extLst>
              <a:ext uri="{FF2B5EF4-FFF2-40B4-BE49-F238E27FC236}">
                <a16:creationId xmlns:a16="http://schemas.microsoft.com/office/drawing/2014/main" id="{1A03EAB2-332A-4BD9-91EB-C8641F250831}"/>
              </a:ext>
            </a:extLst>
          </p:cNvPr>
          <p:cNvSpPr>
            <a:spLocks noGrp="1"/>
          </p:cNvSpPr>
          <p:nvPr/>
        </p:nvSpPr>
        <p:spPr>
          <a:xfrm>
            <a:off x="1085850" y="33528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Сравнить исходник и синюю маску талька.</a:t>
            </a:r>
          </a:p>
        </p:txBody>
      </p:sp>
      <p:sp>
        <p:nvSpPr>
          <p:cNvPr id="10" name="arrow">
            <a:extLst>
              <a:ext uri="{FF2B5EF4-FFF2-40B4-BE49-F238E27FC236}">
                <a16:creationId xmlns:a16="http://schemas.microsoft.com/office/drawing/2014/main" id="{F0C55366-1D23-4865-8B65-31236BCD7479}"/>
              </a:ext>
            </a:extLst>
          </p:cNvPr>
          <p:cNvSpPr>
            <a:spLocks noGrp="1"/>
          </p:cNvSpPr>
          <p:nvPr/>
        </p:nvSpPr>
        <p:spPr>
          <a:xfrm>
            <a:off x="3390900" y="2895600"/>
            <a:ext cx="457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8EA3BD"/>
                </a:solidFill>
              </a:defRPr>
            </a:pPr>
            <a:r>
              <a:rPr sz="2550" b="1">
                <a:solidFill>
                  <a:srgbClr val="8EA3BD"/>
                </a:solidFill>
              </a:rPr>
              <a:t>→</a:t>
            </a:r>
          </a:p>
        </p:txBody>
      </p:sp>
      <p:sp>
        <p:nvSpPr>
          <p:cNvPr id="11" name="process-step">
            <a:extLst>
              <a:ext uri="{FF2B5EF4-FFF2-40B4-BE49-F238E27FC236}">
                <a16:creationId xmlns:a16="http://schemas.microsoft.com/office/drawing/2014/main" id="{5BD66FFA-87EA-4E23-9BA4-344F407CC7F2}"/>
              </a:ext>
            </a:extLst>
          </p:cNvPr>
          <p:cNvSpPr>
            <a:spLocks noGrp="1"/>
          </p:cNvSpPr>
          <p:nvPr/>
        </p:nvSpPr>
        <p:spPr>
          <a:xfrm>
            <a:off x="3848100" y="2343150"/>
            <a:ext cx="2381250" cy="150495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pill">
            <a:extLst>
              <a:ext uri="{FF2B5EF4-FFF2-40B4-BE49-F238E27FC236}">
                <a16:creationId xmlns:a16="http://schemas.microsoft.com/office/drawing/2014/main" id="{72224E7E-ED8B-4261-9C37-CD6ADE71A75C}"/>
              </a:ext>
            </a:extLst>
          </p:cNvPr>
          <p:cNvSpPr>
            <a:spLocks noGrp="1"/>
          </p:cNvSpPr>
          <p:nvPr/>
        </p:nvSpPr>
        <p:spPr>
          <a:xfrm>
            <a:off x="4057650" y="2533650"/>
            <a:ext cx="742950" cy="38100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 w="9525">
            <a:solidFill>
              <a:srgbClr val="16965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pill-text">
            <a:extLst>
              <a:ext uri="{FF2B5EF4-FFF2-40B4-BE49-F238E27FC236}">
                <a16:creationId xmlns:a16="http://schemas.microsoft.com/office/drawing/2014/main" id="{44EF8EC1-646A-43AF-8462-93F60AF70ACE}"/>
              </a:ext>
            </a:extLst>
          </p:cNvPr>
          <p:cNvSpPr>
            <a:spLocks noGrp="1"/>
          </p:cNvSpPr>
          <p:nvPr/>
        </p:nvSpPr>
        <p:spPr>
          <a:xfrm>
            <a:off x="4191000" y="261937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9653"/>
                </a:solidFill>
              </a:defRPr>
            </a:pPr>
            <a:r>
              <a:rPr sz="1125" b="1">
                <a:solidFill>
                  <a:srgbClr val="169653"/>
                </a:solidFill>
              </a:rPr>
              <a:t>2</a:t>
            </a:r>
          </a:p>
        </p:txBody>
      </p:sp>
      <p:sp>
        <p:nvSpPr>
          <p:cNvPr id="14" name="process-heading">
            <a:extLst>
              <a:ext uri="{FF2B5EF4-FFF2-40B4-BE49-F238E27FC236}">
                <a16:creationId xmlns:a16="http://schemas.microsoft.com/office/drawing/2014/main" id="{4FCB6101-4758-4A34-A935-74C6D0BA402F}"/>
              </a:ext>
            </a:extLst>
          </p:cNvPr>
          <p:cNvSpPr>
            <a:spLocks noGrp="1"/>
          </p:cNvSpPr>
          <p:nvPr/>
        </p:nvSpPr>
        <p:spPr>
          <a:xfrm>
            <a:off x="4057650" y="3009900"/>
            <a:ext cx="1962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Подтвердить</a:t>
            </a:r>
          </a:p>
        </p:txBody>
      </p:sp>
      <p:sp>
        <p:nvSpPr>
          <p:cNvPr id="15" name="process-body">
            <a:extLst>
              <a:ext uri="{FF2B5EF4-FFF2-40B4-BE49-F238E27FC236}">
                <a16:creationId xmlns:a16="http://schemas.microsoft.com/office/drawing/2014/main" id="{8308EE74-959F-4314-8841-A8D2D4252FC8}"/>
              </a:ext>
            </a:extLst>
          </p:cNvPr>
          <p:cNvSpPr>
            <a:spLocks noGrp="1"/>
          </p:cNvSpPr>
          <p:nvPr/>
        </p:nvSpPr>
        <p:spPr>
          <a:xfrm>
            <a:off x="4057650" y="33528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Зафиксировать корректный вердикт и проценты.</a:t>
            </a:r>
          </a:p>
        </p:txBody>
      </p:sp>
      <p:sp>
        <p:nvSpPr>
          <p:cNvPr id="16" name="arrow">
            <a:extLst>
              <a:ext uri="{FF2B5EF4-FFF2-40B4-BE49-F238E27FC236}">
                <a16:creationId xmlns:a16="http://schemas.microsoft.com/office/drawing/2014/main" id="{9B7397B2-B4F3-4FEF-9D4F-F27DDD42A7AA}"/>
              </a:ext>
            </a:extLst>
          </p:cNvPr>
          <p:cNvSpPr>
            <a:spLocks noGrp="1"/>
          </p:cNvSpPr>
          <p:nvPr/>
        </p:nvSpPr>
        <p:spPr>
          <a:xfrm>
            <a:off x="6362700" y="2895600"/>
            <a:ext cx="457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8EA3BD"/>
                </a:solidFill>
              </a:defRPr>
            </a:pPr>
            <a:r>
              <a:rPr sz="2550" b="1">
                <a:solidFill>
                  <a:srgbClr val="8EA3BD"/>
                </a:solidFill>
              </a:rPr>
              <a:t>→</a:t>
            </a:r>
          </a:p>
        </p:txBody>
      </p:sp>
      <p:sp>
        <p:nvSpPr>
          <p:cNvPr id="17" name="process-step">
            <a:extLst>
              <a:ext uri="{FF2B5EF4-FFF2-40B4-BE49-F238E27FC236}">
                <a16:creationId xmlns:a16="http://schemas.microsoft.com/office/drawing/2014/main" id="{046B482D-09E8-4114-9699-4C672536A3C1}"/>
              </a:ext>
            </a:extLst>
          </p:cNvPr>
          <p:cNvSpPr>
            <a:spLocks noGrp="1"/>
          </p:cNvSpPr>
          <p:nvPr/>
        </p:nvSpPr>
        <p:spPr>
          <a:xfrm>
            <a:off x="6819900" y="2343150"/>
            <a:ext cx="2381250" cy="150495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pill">
            <a:extLst>
              <a:ext uri="{FF2B5EF4-FFF2-40B4-BE49-F238E27FC236}">
                <a16:creationId xmlns:a16="http://schemas.microsoft.com/office/drawing/2014/main" id="{E3CB10A4-F2A0-41D4-B699-7E452DD51D0F}"/>
              </a:ext>
            </a:extLst>
          </p:cNvPr>
          <p:cNvSpPr>
            <a:spLocks noGrp="1"/>
          </p:cNvSpPr>
          <p:nvPr/>
        </p:nvSpPr>
        <p:spPr>
          <a:xfrm>
            <a:off x="7029450" y="2533650"/>
            <a:ext cx="742950" cy="381000"/>
          </a:xfrm>
          <a:prstGeom prst="roundRect">
            <a:avLst>
              <a:gd name="adj" fmla="val 50000"/>
            </a:avLst>
          </a:prstGeom>
          <a:solidFill>
            <a:srgbClr val="FFF3DF"/>
          </a:solidFill>
          <a:ln w="9525">
            <a:solidFill>
              <a:srgbClr val="D9770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pill-text">
            <a:extLst>
              <a:ext uri="{FF2B5EF4-FFF2-40B4-BE49-F238E27FC236}">
                <a16:creationId xmlns:a16="http://schemas.microsoft.com/office/drawing/2014/main" id="{72E0F728-02BC-44E4-BD03-A1F9ED7454BE}"/>
              </a:ext>
            </a:extLst>
          </p:cNvPr>
          <p:cNvSpPr>
            <a:spLocks noGrp="1"/>
          </p:cNvSpPr>
          <p:nvPr/>
        </p:nvSpPr>
        <p:spPr>
          <a:xfrm>
            <a:off x="7162800" y="261937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3</a:t>
            </a:r>
          </a:p>
        </p:txBody>
      </p:sp>
      <p:sp>
        <p:nvSpPr>
          <p:cNvPr id="20" name="process-heading">
            <a:extLst>
              <a:ext uri="{FF2B5EF4-FFF2-40B4-BE49-F238E27FC236}">
                <a16:creationId xmlns:a16="http://schemas.microsoft.com/office/drawing/2014/main" id="{3C0C5712-ECF0-453A-9D52-0C2C7DA3059A}"/>
              </a:ext>
            </a:extLst>
          </p:cNvPr>
          <p:cNvSpPr>
            <a:spLocks noGrp="1"/>
          </p:cNvSpPr>
          <p:nvPr/>
        </p:nvSpPr>
        <p:spPr>
          <a:xfrm>
            <a:off x="7029450" y="3009900"/>
            <a:ext cx="1962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Поправить</a:t>
            </a:r>
          </a:p>
        </p:txBody>
      </p:sp>
      <p:sp>
        <p:nvSpPr>
          <p:cNvPr id="21" name="process-body">
            <a:extLst>
              <a:ext uri="{FF2B5EF4-FFF2-40B4-BE49-F238E27FC236}">
                <a16:creationId xmlns:a16="http://schemas.microsoft.com/office/drawing/2014/main" id="{679A69C4-76F0-4310-A4B8-CBF8A32F31D0}"/>
              </a:ext>
            </a:extLst>
          </p:cNvPr>
          <p:cNvSpPr>
            <a:spLocks noGrp="1"/>
          </p:cNvSpPr>
          <p:nvPr/>
        </p:nvSpPr>
        <p:spPr>
          <a:xfrm>
            <a:off x="7029450" y="33528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Отметить спорные зоны или неверный сорт.</a:t>
            </a:r>
          </a:p>
        </p:txBody>
      </p:sp>
      <p:sp>
        <p:nvSpPr>
          <p:cNvPr id="22" name="arrow">
            <a:extLst>
              <a:ext uri="{FF2B5EF4-FFF2-40B4-BE49-F238E27FC236}">
                <a16:creationId xmlns:a16="http://schemas.microsoft.com/office/drawing/2014/main" id="{950E0F6E-9C84-428A-9D50-C20A69E45EED}"/>
              </a:ext>
            </a:extLst>
          </p:cNvPr>
          <p:cNvSpPr>
            <a:spLocks noGrp="1"/>
          </p:cNvSpPr>
          <p:nvPr/>
        </p:nvSpPr>
        <p:spPr>
          <a:xfrm>
            <a:off x="9334500" y="2895600"/>
            <a:ext cx="457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8EA3BD"/>
                </a:solidFill>
              </a:defRPr>
            </a:pPr>
            <a:r>
              <a:rPr sz="2550" b="1">
                <a:solidFill>
                  <a:srgbClr val="8EA3BD"/>
                </a:solidFill>
              </a:rPr>
              <a:t>→</a:t>
            </a:r>
          </a:p>
        </p:txBody>
      </p:sp>
      <p:sp>
        <p:nvSpPr>
          <p:cNvPr id="23" name="process-step">
            <a:extLst>
              <a:ext uri="{FF2B5EF4-FFF2-40B4-BE49-F238E27FC236}">
                <a16:creationId xmlns:a16="http://schemas.microsoft.com/office/drawing/2014/main" id="{B4D476E6-97EA-4E85-8442-21E9BC3090F0}"/>
              </a:ext>
            </a:extLst>
          </p:cNvPr>
          <p:cNvSpPr>
            <a:spLocks noGrp="1"/>
          </p:cNvSpPr>
          <p:nvPr/>
        </p:nvSpPr>
        <p:spPr>
          <a:xfrm>
            <a:off x="9791700" y="2343150"/>
            <a:ext cx="1524000" cy="150495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4" name="pill">
            <a:extLst>
              <a:ext uri="{FF2B5EF4-FFF2-40B4-BE49-F238E27FC236}">
                <a16:creationId xmlns:a16="http://schemas.microsoft.com/office/drawing/2014/main" id="{E9E55B13-40CE-4090-98DF-4A5E7B8BB894}"/>
              </a:ext>
            </a:extLst>
          </p:cNvPr>
          <p:cNvSpPr>
            <a:spLocks noGrp="1"/>
          </p:cNvSpPr>
          <p:nvPr/>
        </p:nvSpPr>
        <p:spPr>
          <a:xfrm>
            <a:off x="10001250" y="2533650"/>
            <a:ext cx="742950" cy="38100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9525">
            <a:solidFill>
              <a:srgbClr val="1656C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5" name="pill-text">
            <a:extLst>
              <a:ext uri="{FF2B5EF4-FFF2-40B4-BE49-F238E27FC236}">
                <a16:creationId xmlns:a16="http://schemas.microsoft.com/office/drawing/2014/main" id="{5F1E5FA5-F46B-4202-A4B8-B13E0BF36238}"/>
              </a:ext>
            </a:extLst>
          </p:cNvPr>
          <p:cNvSpPr>
            <a:spLocks noGrp="1"/>
          </p:cNvSpPr>
          <p:nvPr/>
        </p:nvSpPr>
        <p:spPr>
          <a:xfrm>
            <a:off x="10134600" y="261937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56C9"/>
                </a:solidFill>
              </a:defRPr>
            </a:pPr>
            <a:r>
              <a:rPr sz="1125" b="1">
                <a:solidFill>
                  <a:srgbClr val="1656C9"/>
                </a:solidFill>
              </a:rPr>
              <a:t>4</a:t>
            </a:r>
          </a:p>
        </p:txBody>
      </p:sp>
      <p:sp>
        <p:nvSpPr>
          <p:cNvPr id="26" name="process-heading">
            <a:extLst>
              <a:ext uri="{FF2B5EF4-FFF2-40B4-BE49-F238E27FC236}">
                <a16:creationId xmlns:a16="http://schemas.microsoft.com/office/drawing/2014/main" id="{40286980-C852-4545-9CCE-CA4DEFAD4710}"/>
              </a:ext>
            </a:extLst>
          </p:cNvPr>
          <p:cNvSpPr>
            <a:spLocks noGrp="1"/>
          </p:cNvSpPr>
          <p:nvPr/>
        </p:nvSpPr>
        <p:spPr>
          <a:xfrm>
            <a:off x="10001250" y="3009900"/>
            <a:ext cx="1104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Обновить</a:t>
            </a:r>
          </a:p>
        </p:txBody>
      </p:sp>
      <p:sp>
        <p:nvSpPr>
          <p:cNvPr id="27" name="process-body">
            <a:extLst>
              <a:ext uri="{FF2B5EF4-FFF2-40B4-BE49-F238E27FC236}">
                <a16:creationId xmlns:a16="http://schemas.microsoft.com/office/drawing/2014/main" id="{F5424563-5B31-49AB-837B-A2F5912DDB60}"/>
              </a:ext>
            </a:extLst>
          </p:cNvPr>
          <p:cNvSpPr>
            <a:spLocks noGrp="1"/>
          </p:cNvSpPr>
          <p:nvPr/>
        </p:nvSpPr>
        <p:spPr>
          <a:xfrm>
            <a:off x="10001250" y="3352800"/>
            <a:ext cx="1104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Данные идут в P1/P2.</a:t>
            </a:r>
          </a:p>
        </p:txBody>
      </p:sp>
      <p:sp>
        <p:nvSpPr>
          <p:cNvPr id="28" name="loop-note">
            <a:extLst>
              <a:ext uri="{FF2B5EF4-FFF2-40B4-BE49-F238E27FC236}">
                <a16:creationId xmlns:a16="http://schemas.microsoft.com/office/drawing/2014/main" id="{30791084-1CE2-47C4-B645-630D0270510C}"/>
              </a:ext>
            </a:extLst>
          </p:cNvPr>
          <p:cNvSpPr>
            <a:spLocks noGrp="1"/>
          </p:cNvSpPr>
          <p:nvPr/>
        </p:nvSpPr>
        <p:spPr>
          <a:xfrm>
            <a:off x="1257300" y="4762500"/>
            <a:ext cx="9677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725">
                <a:solidFill>
                  <a:srgbClr val="D8E7F7"/>
                </a:solidFill>
              </a:defRPr>
            </a:pPr>
            <a:r>
              <a:rPr sz="1725">
                <a:solidFill>
                  <a:srgbClr val="D8E7F7"/>
                </a:solidFill>
              </a:rPr>
              <a:t>Такой workflow делает демо не разовой картинкой, а началом промышленного цикла контроля качества.</a:t>
            </a:r>
          </a:p>
        </p:txBody>
      </p:sp>
      <p:sp>
        <p:nvSpPr>
          <p:cNvPr id="29" name="footer-left">
            <a:extLst>
              <a:ext uri="{FF2B5EF4-FFF2-40B4-BE49-F238E27FC236}">
                <a16:creationId xmlns:a16="http://schemas.microsoft.com/office/drawing/2014/main" id="{BE36678B-C65E-4B7E-8DCB-5C78870804A9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30" name="footer-num">
            <a:extLst>
              <a:ext uri="{FF2B5EF4-FFF2-40B4-BE49-F238E27FC236}">
                <a16:creationId xmlns:a16="http://schemas.microsoft.com/office/drawing/2014/main" id="{F4174380-F3C8-40A4-96EB-AEF104D9AD67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9632501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lide-title">
            <a:extLst>
              <a:ext uri="{FF2B5EF4-FFF2-40B4-BE49-F238E27FC236}">
                <a16:creationId xmlns:a16="http://schemas.microsoft.com/office/drawing/2014/main" id="{5BEF4847-9A34-428B-9370-EF8E255A9A6A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Демо проходит как короткий промышленный сценарий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927FECD6-CAE2-42D5-A78B-F892804167E1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В ролике и на защите лучше показывать не код, а путь пользователя.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17816677-0312-48CD-B06B-3D1864664796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1E7C3DD3-D4E8-43F4-A200-BCDE9C1B142A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16</a:t>
            </a:r>
          </a:p>
        </p:txBody>
      </p:sp>
      <p:sp>
        <p:nvSpPr>
          <p:cNvPr id="5" name="process-step">
            <a:extLst>
              <a:ext uri="{FF2B5EF4-FFF2-40B4-BE49-F238E27FC236}">
                <a16:creationId xmlns:a16="http://schemas.microsoft.com/office/drawing/2014/main" id="{E0392925-EC99-4963-BC0B-DA3A2506A273}"/>
              </a:ext>
            </a:extLst>
          </p:cNvPr>
          <p:cNvSpPr>
            <a:spLocks noGrp="1"/>
          </p:cNvSpPr>
          <p:nvPr/>
        </p:nvSpPr>
        <p:spPr>
          <a:xfrm>
            <a:off x="723900" y="2247900"/>
            <a:ext cx="2381250" cy="150495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pill">
            <a:extLst>
              <a:ext uri="{FF2B5EF4-FFF2-40B4-BE49-F238E27FC236}">
                <a16:creationId xmlns:a16="http://schemas.microsoft.com/office/drawing/2014/main" id="{371C10B3-5EC8-494E-AAF5-A91A3069EE51}"/>
              </a:ext>
            </a:extLst>
          </p:cNvPr>
          <p:cNvSpPr>
            <a:spLocks noGrp="1"/>
          </p:cNvSpPr>
          <p:nvPr/>
        </p:nvSpPr>
        <p:spPr>
          <a:xfrm>
            <a:off x="933450" y="2438400"/>
            <a:ext cx="742950" cy="38100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9525">
            <a:solidFill>
              <a:srgbClr val="1656C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pill-text">
            <a:extLst>
              <a:ext uri="{FF2B5EF4-FFF2-40B4-BE49-F238E27FC236}">
                <a16:creationId xmlns:a16="http://schemas.microsoft.com/office/drawing/2014/main" id="{3B48427A-743F-4CE0-813B-557A9F61604B}"/>
              </a:ext>
            </a:extLst>
          </p:cNvPr>
          <p:cNvSpPr>
            <a:spLocks noGrp="1"/>
          </p:cNvSpPr>
          <p:nvPr/>
        </p:nvSpPr>
        <p:spPr>
          <a:xfrm>
            <a:off x="1066800" y="252412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56C9"/>
                </a:solidFill>
              </a:defRPr>
            </a:pPr>
            <a:r>
              <a:rPr sz="1125" b="1">
                <a:solidFill>
                  <a:srgbClr val="1656C9"/>
                </a:solidFill>
              </a:rPr>
              <a:t>01</a:t>
            </a:r>
          </a:p>
        </p:txBody>
      </p:sp>
      <p:sp>
        <p:nvSpPr>
          <p:cNvPr id="8" name="process-heading">
            <a:extLst>
              <a:ext uri="{FF2B5EF4-FFF2-40B4-BE49-F238E27FC236}">
                <a16:creationId xmlns:a16="http://schemas.microsoft.com/office/drawing/2014/main" id="{6B5609E7-BE70-4546-B27A-0D10F10A1154}"/>
              </a:ext>
            </a:extLst>
          </p:cNvPr>
          <p:cNvSpPr>
            <a:spLocks noGrp="1"/>
          </p:cNvSpPr>
          <p:nvPr/>
        </p:nvSpPr>
        <p:spPr>
          <a:xfrm>
            <a:off x="933450" y="2914650"/>
            <a:ext cx="1962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Загрузить</a:t>
            </a:r>
          </a:p>
        </p:txBody>
      </p:sp>
      <p:sp>
        <p:nvSpPr>
          <p:cNvPr id="9" name="process-body">
            <a:extLst>
              <a:ext uri="{FF2B5EF4-FFF2-40B4-BE49-F238E27FC236}">
                <a16:creationId xmlns:a16="http://schemas.microsoft.com/office/drawing/2014/main" id="{86460FCE-E3E6-4E14-8959-7837AA535201}"/>
              </a:ext>
            </a:extLst>
          </p:cNvPr>
          <p:cNvSpPr>
            <a:spLocks noGrp="1"/>
          </p:cNvSpPr>
          <p:nvPr/>
        </p:nvSpPr>
        <p:spPr>
          <a:xfrm>
            <a:off x="933450" y="3257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Перетащить фото аншлифа в Streamlit.</a:t>
            </a:r>
          </a:p>
        </p:txBody>
      </p:sp>
      <p:sp>
        <p:nvSpPr>
          <p:cNvPr id="10" name="arrow">
            <a:extLst>
              <a:ext uri="{FF2B5EF4-FFF2-40B4-BE49-F238E27FC236}">
                <a16:creationId xmlns:a16="http://schemas.microsoft.com/office/drawing/2014/main" id="{C514389D-F0B5-4164-B4E3-9CDFB7FF6DDD}"/>
              </a:ext>
            </a:extLst>
          </p:cNvPr>
          <p:cNvSpPr>
            <a:spLocks noGrp="1"/>
          </p:cNvSpPr>
          <p:nvPr/>
        </p:nvSpPr>
        <p:spPr>
          <a:xfrm>
            <a:off x="3238500" y="2800350"/>
            <a:ext cx="457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94A3B8"/>
                </a:solidFill>
              </a:defRPr>
            </a:pPr>
            <a:r>
              <a:rPr sz="25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1" name="process-step">
            <a:extLst>
              <a:ext uri="{FF2B5EF4-FFF2-40B4-BE49-F238E27FC236}">
                <a16:creationId xmlns:a16="http://schemas.microsoft.com/office/drawing/2014/main" id="{65D97B19-42D0-45A3-8CA2-EDFEA725ECE0}"/>
              </a:ext>
            </a:extLst>
          </p:cNvPr>
          <p:cNvSpPr>
            <a:spLocks noGrp="1"/>
          </p:cNvSpPr>
          <p:nvPr/>
        </p:nvSpPr>
        <p:spPr>
          <a:xfrm>
            <a:off x="3695700" y="2247900"/>
            <a:ext cx="2381250" cy="150495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pill">
            <a:extLst>
              <a:ext uri="{FF2B5EF4-FFF2-40B4-BE49-F238E27FC236}">
                <a16:creationId xmlns:a16="http://schemas.microsoft.com/office/drawing/2014/main" id="{EAD0053B-151B-4C25-B796-685229163B56}"/>
              </a:ext>
            </a:extLst>
          </p:cNvPr>
          <p:cNvSpPr>
            <a:spLocks noGrp="1"/>
          </p:cNvSpPr>
          <p:nvPr/>
        </p:nvSpPr>
        <p:spPr>
          <a:xfrm>
            <a:off x="3905250" y="2438400"/>
            <a:ext cx="742950" cy="38100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 w="9525">
            <a:solidFill>
              <a:srgbClr val="16965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pill-text">
            <a:extLst>
              <a:ext uri="{FF2B5EF4-FFF2-40B4-BE49-F238E27FC236}">
                <a16:creationId xmlns:a16="http://schemas.microsoft.com/office/drawing/2014/main" id="{4D953AEA-32B9-43B3-9595-BC1B07927B7D}"/>
              </a:ext>
            </a:extLst>
          </p:cNvPr>
          <p:cNvSpPr>
            <a:spLocks noGrp="1"/>
          </p:cNvSpPr>
          <p:nvPr/>
        </p:nvSpPr>
        <p:spPr>
          <a:xfrm>
            <a:off x="4038600" y="252412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9653"/>
                </a:solidFill>
              </a:defRPr>
            </a:pPr>
            <a:r>
              <a:rPr sz="1125" b="1">
                <a:solidFill>
                  <a:srgbClr val="169653"/>
                </a:solidFill>
              </a:rPr>
              <a:t>02</a:t>
            </a:r>
          </a:p>
        </p:txBody>
      </p:sp>
      <p:sp>
        <p:nvSpPr>
          <p:cNvPr id="14" name="process-heading">
            <a:extLst>
              <a:ext uri="{FF2B5EF4-FFF2-40B4-BE49-F238E27FC236}">
                <a16:creationId xmlns:a16="http://schemas.microsoft.com/office/drawing/2014/main" id="{223FB0BE-08E4-466D-8370-424FA535D262}"/>
              </a:ext>
            </a:extLst>
          </p:cNvPr>
          <p:cNvSpPr>
            <a:spLocks noGrp="1"/>
          </p:cNvSpPr>
          <p:nvPr/>
        </p:nvSpPr>
        <p:spPr>
          <a:xfrm>
            <a:off x="3905250" y="2914650"/>
            <a:ext cx="1962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Получить</a:t>
            </a:r>
          </a:p>
        </p:txBody>
      </p:sp>
      <p:sp>
        <p:nvSpPr>
          <p:cNvPr id="15" name="process-body">
            <a:extLst>
              <a:ext uri="{FF2B5EF4-FFF2-40B4-BE49-F238E27FC236}">
                <a16:creationId xmlns:a16="http://schemas.microsoft.com/office/drawing/2014/main" id="{80FDCEE1-5006-444B-8C20-DD9D699D791C}"/>
              </a:ext>
            </a:extLst>
          </p:cNvPr>
          <p:cNvSpPr>
            <a:spLocks noGrp="1"/>
          </p:cNvSpPr>
          <p:nvPr/>
        </p:nvSpPr>
        <p:spPr>
          <a:xfrm>
            <a:off x="3905250" y="3257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Показать сорт, процент талька и согласованность.</a:t>
            </a:r>
          </a:p>
        </p:txBody>
      </p:sp>
      <p:sp>
        <p:nvSpPr>
          <p:cNvPr id="16" name="arrow">
            <a:extLst>
              <a:ext uri="{FF2B5EF4-FFF2-40B4-BE49-F238E27FC236}">
                <a16:creationId xmlns:a16="http://schemas.microsoft.com/office/drawing/2014/main" id="{8C2AED1F-D22C-4566-98B0-6342C913A226}"/>
              </a:ext>
            </a:extLst>
          </p:cNvPr>
          <p:cNvSpPr>
            <a:spLocks noGrp="1"/>
          </p:cNvSpPr>
          <p:nvPr/>
        </p:nvSpPr>
        <p:spPr>
          <a:xfrm>
            <a:off x="6210300" y="2800350"/>
            <a:ext cx="457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94A3B8"/>
                </a:solidFill>
              </a:defRPr>
            </a:pPr>
            <a:r>
              <a:rPr sz="25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7" name="process-step">
            <a:extLst>
              <a:ext uri="{FF2B5EF4-FFF2-40B4-BE49-F238E27FC236}">
                <a16:creationId xmlns:a16="http://schemas.microsoft.com/office/drawing/2014/main" id="{B150326C-68D9-4C89-9797-C3C53170A472}"/>
              </a:ext>
            </a:extLst>
          </p:cNvPr>
          <p:cNvSpPr>
            <a:spLocks noGrp="1"/>
          </p:cNvSpPr>
          <p:nvPr/>
        </p:nvSpPr>
        <p:spPr>
          <a:xfrm>
            <a:off x="6667500" y="2247900"/>
            <a:ext cx="2381250" cy="150495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pill">
            <a:extLst>
              <a:ext uri="{FF2B5EF4-FFF2-40B4-BE49-F238E27FC236}">
                <a16:creationId xmlns:a16="http://schemas.microsoft.com/office/drawing/2014/main" id="{DE8B9C5D-897F-454B-B979-D59BBD477CF2}"/>
              </a:ext>
            </a:extLst>
          </p:cNvPr>
          <p:cNvSpPr>
            <a:spLocks noGrp="1"/>
          </p:cNvSpPr>
          <p:nvPr/>
        </p:nvSpPr>
        <p:spPr>
          <a:xfrm>
            <a:off x="6877050" y="2438400"/>
            <a:ext cx="742950" cy="381000"/>
          </a:xfrm>
          <a:prstGeom prst="roundRect">
            <a:avLst>
              <a:gd name="adj" fmla="val 50000"/>
            </a:avLst>
          </a:prstGeom>
          <a:solidFill>
            <a:srgbClr val="FFF3DF"/>
          </a:solidFill>
          <a:ln w="9525">
            <a:solidFill>
              <a:srgbClr val="16B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pill-text">
            <a:extLst>
              <a:ext uri="{FF2B5EF4-FFF2-40B4-BE49-F238E27FC236}">
                <a16:creationId xmlns:a16="http://schemas.microsoft.com/office/drawing/2014/main" id="{94DB4E9E-7749-4C68-9CF9-0F242B158C49}"/>
              </a:ext>
            </a:extLst>
          </p:cNvPr>
          <p:cNvSpPr>
            <a:spLocks noGrp="1"/>
          </p:cNvSpPr>
          <p:nvPr/>
        </p:nvSpPr>
        <p:spPr>
          <a:xfrm>
            <a:off x="7010400" y="252412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B8C7"/>
                </a:solidFill>
              </a:defRPr>
            </a:pPr>
            <a:r>
              <a:rPr sz="1125" b="1">
                <a:solidFill>
                  <a:srgbClr val="16B8C7"/>
                </a:solidFill>
              </a:rPr>
              <a:t>03</a:t>
            </a:r>
          </a:p>
        </p:txBody>
      </p:sp>
      <p:sp>
        <p:nvSpPr>
          <p:cNvPr id="20" name="process-heading">
            <a:extLst>
              <a:ext uri="{FF2B5EF4-FFF2-40B4-BE49-F238E27FC236}">
                <a16:creationId xmlns:a16="http://schemas.microsoft.com/office/drawing/2014/main" id="{69AAC141-4FDF-492A-96BF-D9DED9E3FFB1}"/>
              </a:ext>
            </a:extLst>
          </p:cNvPr>
          <p:cNvSpPr>
            <a:spLocks noGrp="1"/>
          </p:cNvSpPr>
          <p:nvPr/>
        </p:nvSpPr>
        <p:spPr>
          <a:xfrm>
            <a:off x="6877050" y="2914650"/>
            <a:ext cx="1962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Проверить</a:t>
            </a:r>
          </a:p>
        </p:txBody>
      </p:sp>
      <p:sp>
        <p:nvSpPr>
          <p:cNvPr id="21" name="process-body">
            <a:extLst>
              <a:ext uri="{FF2B5EF4-FFF2-40B4-BE49-F238E27FC236}">
                <a16:creationId xmlns:a16="http://schemas.microsoft.com/office/drawing/2014/main" id="{1CD5CE28-BAA4-4878-A137-CCC86B7DA26D}"/>
              </a:ext>
            </a:extLst>
          </p:cNvPr>
          <p:cNvSpPr>
            <a:spLocks noGrp="1"/>
          </p:cNvSpPr>
          <p:nvPr/>
        </p:nvSpPr>
        <p:spPr>
          <a:xfrm>
            <a:off x="6877050" y="3257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Подвигать маску мышкой и приблизить спорный участок.</a:t>
            </a:r>
          </a:p>
        </p:txBody>
      </p:sp>
      <p:sp>
        <p:nvSpPr>
          <p:cNvPr id="22" name="arrow">
            <a:extLst>
              <a:ext uri="{FF2B5EF4-FFF2-40B4-BE49-F238E27FC236}">
                <a16:creationId xmlns:a16="http://schemas.microsoft.com/office/drawing/2014/main" id="{2E16209F-C55D-4F2D-BC15-7850EC24F15A}"/>
              </a:ext>
            </a:extLst>
          </p:cNvPr>
          <p:cNvSpPr>
            <a:spLocks noGrp="1"/>
          </p:cNvSpPr>
          <p:nvPr/>
        </p:nvSpPr>
        <p:spPr>
          <a:xfrm>
            <a:off x="9182100" y="2800350"/>
            <a:ext cx="457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94A3B8"/>
                </a:solidFill>
              </a:defRPr>
            </a:pPr>
            <a:r>
              <a:rPr sz="25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3" name="process-step">
            <a:extLst>
              <a:ext uri="{FF2B5EF4-FFF2-40B4-BE49-F238E27FC236}">
                <a16:creationId xmlns:a16="http://schemas.microsoft.com/office/drawing/2014/main" id="{BC09CEF9-8595-44F1-901B-C06A3ADA71FE}"/>
              </a:ext>
            </a:extLst>
          </p:cNvPr>
          <p:cNvSpPr>
            <a:spLocks noGrp="1"/>
          </p:cNvSpPr>
          <p:nvPr/>
        </p:nvSpPr>
        <p:spPr>
          <a:xfrm>
            <a:off x="9639300" y="2247900"/>
            <a:ext cx="1809750" cy="150495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4" name="pill">
            <a:extLst>
              <a:ext uri="{FF2B5EF4-FFF2-40B4-BE49-F238E27FC236}">
                <a16:creationId xmlns:a16="http://schemas.microsoft.com/office/drawing/2014/main" id="{85A3991A-8435-42FF-85C1-629D47FD041F}"/>
              </a:ext>
            </a:extLst>
          </p:cNvPr>
          <p:cNvSpPr>
            <a:spLocks noGrp="1"/>
          </p:cNvSpPr>
          <p:nvPr/>
        </p:nvSpPr>
        <p:spPr>
          <a:xfrm>
            <a:off x="9848850" y="2438400"/>
            <a:ext cx="742950" cy="381000"/>
          </a:xfrm>
          <a:prstGeom prst="roundRect">
            <a:avLst>
              <a:gd name="adj" fmla="val 50000"/>
            </a:avLst>
          </a:prstGeom>
          <a:solidFill>
            <a:srgbClr val="FFF3DF"/>
          </a:solidFill>
          <a:ln w="9525">
            <a:solidFill>
              <a:srgbClr val="D9770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5" name="pill-text">
            <a:extLst>
              <a:ext uri="{FF2B5EF4-FFF2-40B4-BE49-F238E27FC236}">
                <a16:creationId xmlns:a16="http://schemas.microsoft.com/office/drawing/2014/main" id="{9BC760C6-0DE1-4FF9-B254-B91C0814E215}"/>
              </a:ext>
            </a:extLst>
          </p:cNvPr>
          <p:cNvSpPr>
            <a:spLocks noGrp="1"/>
          </p:cNvSpPr>
          <p:nvPr/>
        </p:nvSpPr>
        <p:spPr>
          <a:xfrm>
            <a:off x="9982200" y="252412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04</a:t>
            </a:r>
          </a:p>
        </p:txBody>
      </p:sp>
      <p:sp>
        <p:nvSpPr>
          <p:cNvPr id="26" name="process-heading">
            <a:extLst>
              <a:ext uri="{FF2B5EF4-FFF2-40B4-BE49-F238E27FC236}">
                <a16:creationId xmlns:a16="http://schemas.microsoft.com/office/drawing/2014/main" id="{9959DDDD-9CE5-42B3-8449-A0EF9AC798F7}"/>
              </a:ext>
            </a:extLst>
          </p:cNvPr>
          <p:cNvSpPr>
            <a:spLocks noGrp="1"/>
          </p:cNvSpPr>
          <p:nvPr/>
        </p:nvSpPr>
        <p:spPr>
          <a:xfrm>
            <a:off x="9848850" y="2914650"/>
            <a:ext cx="1390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Сдать</a:t>
            </a:r>
          </a:p>
        </p:txBody>
      </p:sp>
      <p:sp>
        <p:nvSpPr>
          <p:cNvPr id="27" name="process-body">
            <a:extLst>
              <a:ext uri="{FF2B5EF4-FFF2-40B4-BE49-F238E27FC236}">
                <a16:creationId xmlns:a16="http://schemas.microsoft.com/office/drawing/2014/main" id="{C41903B1-B0A0-4077-9F81-E33369C30273}"/>
              </a:ext>
            </a:extLst>
          </p:cNvPr>
          <p:cNvSpPr>
            <a:spLocks noGrp="1"/>
          </p:cNvSpPr>
          <p:nvPr/>
        </p:nvSpPr>
        <p:spPr>
          <a:xfrm>
            <a:off x="9848850" y="3257550"/>
            <a:ext cx="1390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Скачать отчёт и сохранить результат.</a:t>
            </a:r>
          </a:p>
        </p:txBody>
      </p:sp>
      <p:sp>
        <p:nvSpPr>
          <p:cNvPr id="28" name="demo-note">
            <a:extLst>
              <a:ext uri="{FF2B5EF4-FFF2-40B4-BE49-F238E27FC236}">
                <a16:creationId xmlns:a16="http://schemas.microsoft.com/office/drawing/2014/main" id="{F34AF6CE-D4EB-4D50-B9C3-E3D83DCB0A95}"/>
              </a:ext>
            </a:extLst>
          </p:cNvPr>
          <p:cNvSpPr>
            <a:spLocks noGrp="1"/>
          </p:cNvSpPr>
          <p:nvPr/>
        </p:nvSpPr>
        <p:spPr>
          <a:xfrm>
            <a:off x="1123950" y="4819650"/>
            <a:ext cx="99441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>
                <a:solidFill>
                  <a:srgbClr val="243044"/>
                </a:solidFill>
              </a:defRPr>
            </a:pPr>
            <a:r>
              <a:rPr sz="1650">
                <a:solidFill>
                  <a:srgbClr val="243044"/>
                </a:solidFill>
              </a:rPr>
              <a:t>Ключевой кадр для видео: на одном экране видны микрофото, маска талька, вердикт сорта и кнопка скачивания отчёта.</a:t>
            </a:r>
          </a:p>
        </p:txBody>
      </p:sp>
      <p:sp>
        <p:nvSpPr>
          <p:cNvPr id="29" name="footer-left">
            <a:extLst>
              <a:ext uri="{FF2B5EF4-FFF2-40B4-BE49-F238E27FC236}">
                <a16:creationId xmlns:a16="http://schemas.microsoft.com/office/drawing/2014/main" id="{B693EB83-44F7-48E3-96F2-5DDD015655CE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30" name="footer-num">
            <a:extLst>
              <a:ext uri="{FF2B5EF4-FFF2-40B4-BE49-F238E27FC236}">
                <a16:creationId xmlns:a16="http://schemas.microsoft.com/office/drawing/2014/main" id="{42440ED8-8AC4-48C6-83BD-3E3649B3BC86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977466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lide-title">
            <a:extLst>
              <a:ext uri="{FF2B5EF4-FFF2-40B4-BE49-F238E27FC236}">
                <a16:creationId xmlns:a16="http://schemas.microsoft.com/office/drawing/2014/main" id="{C6B09843-857A-4F9B-AC8C-7A8C4020EB44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Сдача собирается в четыре понятные ссылки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57A96DEB-C56C-4DC2-B866-46B9C549B664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Жюри должно быстро открыть код, материалы, презентацию и работающий деплой.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D5EFC87B-5E2A-4662-A599-3E3EC38653CA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9D7A3C81-BE8C-4467-AEE7-DF4162C61998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17</a:t>
            </a:r>
          </a:p>
        </p:txBody>
      </p:sp>
      <p:sp>
        <p:nvSpPr>
          <p:cNvPr id="5" name="body-card">
            <a:extLst>
              <a:ext uri="{FF2B5EF4-FFF2-40B4-BE49-F238E27FC236}">
                <a16:creationId xmlns:a16="http://schemas.microsoft.com/office/drawing/2014/main" id="{AC9E87A4-184B-4AC2-9D03-19158F564B5F}"/>
              </a:ext>
            </a:extLst>
          </p:cNvPr>
          <p:cNvSpPr>
            <a:spLocks noGrp="1"/>
          </p:cNvSpPr>
          <p:nvPr/>
        </p:nvSpPr>
        <p:spPr>
          <a:xfrm>
            <a:off x="857250" y="2038350"/>
            <a:ext cx="2381250" cy="2266950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accent-rule">
            <a:extLst>
              <a:ext uri="{FF2B5EF4-FFF2-40B4-BE49-F238E27FC236}">
                <a16:creationId xmlns:a16="http://schemas.microsoft.com/office/drawing/2014/main" id="{05434A33-4A27-4156-8873-C4E36C578BE1}"/>
              </a:ext>
            </a:extLst>
          </p:cNvPr>
          <p:cNvSpPr>
            <a:spLocks noGrp="1"/>
          </p:cNvSpPr>
          <p:nvPr/>
        </p:nvSpPr>
        <p:spPr>
          <a:xfrm>
            <a:off x="857250" y="2038350"/>
            <a:ext cx="66675" cy="2266950"/>
          </a:xfrm>
          <a:prstGeom prst="rect">
            <a:avLst/>
          </a:prstGeom>
          <a:solidFill>
            <a:srgbClr val="1656C9"/>
          </a:solidFill>
          <a:ln w="0">
            <a:solidFill>
              <a:srgbClr val="1656C9"/>
            </a:solidFill>
            <a:prstDash val="solid"/>
          </a:ln>
        </p:spPr>
      </p:sp>
      <p:sp>
        <p:nvSpPr>
          <p:cNvPr id="7" name="body-card-heading">
            <a:extLst>
              <a:ext uri="{FF2B5EF4-FFF2-40B4-BE49-F238E27FC236}">
                <a16:creationId xmlns:a16="http://schemas.microsoft.com/office/drawing/2014/main" id="{84FC46BE-BDF9-48D2-8EF1-E719AEB84638}"/>
              </a:ext>
            </a:extLst>
          </p:cNvPr>
          <p:cNvSpPr>
            <a:spLocks noGrp="1"/>
          </p:cNvSpPr>
          <p:nvPr/>
        </p:nvSpPr>
        <p:spPr>
          <a:xfrm>
            <a:off x="1085850" y="224790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56C9"/>
                </a:solidFill>
              </a:defRPr>
            </a:pPr>
            <a:r>
              <a:rPr sz="1725" b="1">
                <a:solidFill>
                  <a:srgbClr val="1656C9"/>
                </a:solidFill>
              </a:rPr>
              <a:t>Репозиторий</a:t>
            </a:r>
          </a:p>
        </p:txBody>
      </p:sp>
      <p:sp>
        <p:nvSpPr>
          <p:cNvPr id="8" name="body-card-body">
            <a:extLst>
              <a:ext uri="{FF2B5EF4-FFF2-40B4-BE49-F238E27FC236}">
                <a16:creationId xmlns:a16="http://schemas.microsoft.com/office/drawing/2014/main" id="{089F4F3D-876A-4EBC-8F20-66074A30DAC0}"/>
              </a:ext>
            </a:extLst>
          </p:cNvPr>
          <p:cNvSpPr>
            <a:spLocks noGrp="1"/>
          </p:cNvSpPr>
          <p:nvPr/>
        </p:nvSpPr>
        <p:spPr>
          <a:xfrm>
            <a:off x="1085850" y="2686050"/>
            <a:ext cx="192405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Код P1-P4, README, app/main.py, core/analyze.py, веса и структура проекта.</a:t>
            </a:r>
          </a:p>
        </p:txBody>
      </p:sp>
      <p:sp>
        <p:nvSpPr>
          <p:cNvPr id="9" name="body-card">
            <a:extLst>
              <a:ext uri="{FF2B5EF4-FFF2-40B4-BE49-F238E27FC236}">
                <a16:creationId xmlns:a16="http://schemas.microsoft.com/office/drawing/2014/main" id="{1B7AF100-1643-45D0-BD86-2C02A95C64F0}"/>
              </a:ext>
            </a:extLst>
          </p:cNvPr>
          <p:cNvSpPr>
            <a:spLocks noGrp="1"/>
          </p:cNvSpPr>
          <p:nvPr/>
        </p:nvSpPr>
        <p:spPr>
          <a:xfrm>
            <a:off x="3619500" y="2038350"/>
            <a:ext cx="2381250" cy="2266950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accent-rule">
            <a:extLst>
              <a:ext uri="{FF2B5EF4-FFF2-40B4-BE49-F238E27FC236}">
                <a16:creationId xmlns:a16="http://schemas.microsoft.com/office/drawing/2014/main" id="{93B3BC45-28FD-4A7E-8C3F-C7DEFAE1CCDD}"/>
              </a:ext>
            </a:extLst>
          </p:cNvPr>
          <p:cNvSpPr>
            <a:spLocks noGrp="1"/>
          </p:cNvSpPr>
          <p:nvPr/>
        </p:nvSpPr>
        <p:spPr>
          <a:xfrm>
            <a:off x="3619500" y="2038350"/>
            <a:ext cx="66675" cy="2266950"/>
          </a:xfrm>
          <a:prstGeom prst="rect">
            <a:avLst/>
          </a:prstGeom>
          <a:solidFill>
            <a:srgbClr val="16B8C7"/>
          </a:solidFill>
          <a:ln w="0">
            <a:solidFill>
              <a:srgbClr val="16B8C7"/>
            </a:solidFill>
            <a:prstDash val="solid"/>
          </a:ln>
        </p:spPr>
      </p:sp>
      <p:sp>
        <p:nvSpPr>
          <p:cNvPr id="11" name="body-card-heading">
            <a:extLst>
              <a:ext uri="{FF2B5EF4-FFF2-40B4-BE49-F238E27FC236}">
                <a16:creationId xmlns:a16="http://schemas.microsoft.com/office/drawing/2014/main" id="{DBD1C128-8250-4AE4-9308-50EFB3E8A879}"/>
              </a:ext>
            </a:extLst>
          </p:cNvPr>
          <p:cNvSpPr>
            <a:spLocks noGrp="1"/>
          </p:cNvSpPr>
          <p:nvPr/>
        </p:nvSpPr>
        <p:spPr>
          <a:xfrm>
            <a:off x="3848100" y="224790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B8C7"/>
                </a:solidFill>
              </a:defRPr>
            </a:pPr>
            <a:r>
              <a:rPr sz="1725" b="1">
                <a:solidFill>
                  <a:srgbClr val="16B8C7"/>
                </a:solidFill>
              </a:rPr>
              <a:t>Облако</a:t>
            </a:r>
          </a:p>
        </p:txBody>
      </p:sp>
      <p:sp>
        <p:nvSpPr>
          <p:cNvPr id="12" name="body-card-body">
            <a:extLst>
              <a:ext uri="{FF2B5EF4-FFF2-40B4-BE49-F238E27FC236}">
                <a16:creationId xmlns:a16="http://schemas.microsoft.com/office/drawing/2014/main" id="{874B922E-2BBB-4AB4-822E-E408505D4509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192405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Данные, демо-материалы, видео и дополнительные скриншоты без перегруза репозитория.</a:t>
            </a:r>
          </a:p>
        </p:txBody>
      </p:sp>
      <p:sp>
        <p:nvSpPr>
          <p:cNvPr id="13" name="body-card">
            <a:extLst>
              <a:ext uri="{FF2B5EF4-FFF2-40B4-BE49-F238E27FC236}">
                <a16:creationId xmlns:a16="http://schemas.microsoft.com/office/drawing/2014/main" id="{B9165D2D-DD6B-47C7-AA01-A96AC34906AA}"/>
              </a:ext>
            </a:extLst>
          </p:cNvPr>
          <p:cNvSpPr>
            <a:spLocks noGrp="1"/>
          </p:cNvSpPr>
          <p:nvPr/>
        </p:nvSpPr>
        <p:spPr>
          <a:xfrm>
            <a:off x="6381750" y="2038350"/>
            <a:ext cx="2381250" cy="2266950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accent-rule">
            <a:extLst>
              <a:ext uri="{FF2B5EF4-FFF2-40B4-BE49-F238E27FC236}">
                <a16:creationId xmlns:a16="http://schemas.microsoft.com/office/drawing/2014/main" id="{C20706E0-762A-4360-80AC-9A8A1F667662}"/>
              </a:ext>
            </a:extLst>
          </p:cNvPr>
          <p:cNvSpPr>
            <a:spLocks noGrp="1"/>
          </p:cNvSpPr>
          <p:nvPr/>
        </p:nvSpPr>
        <p:spPr>
          <a:xfrm>
            <a:off x="6381750" y="2038350"/>
            <a:ext cx="66675" cy="226695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15" name="body-card-heading">
            <a:extLst>
              <a:ext uri="{FF2B5EF4-FFF2-40B4-BE49-F238E27FC236}">
                <a16:creationId xmlns:a16="http://schemas.microsoft.com/office/drawing/2014/main" id="{86AE698D-A42E-4A8C-B2EF-5742026E53E3}"/>
              </a:ext>
            </a:extLst>
          </p:cNvPr>
          <p:cNvSpPr>
            <a:spLocks noGrp="1"/>
          </p:cNvSpPr>
          <p:nvPr/>
        </p:nvSpPr>
        <p:spPr>
          <a:xfrm>
            <a:off x="6610350" y="224790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9653"/>
                </a:solidFill>
              </a:defRPr>
            </a:pPr>
            <a:r>
              <a:rPr sz="1725" b="1">
                <a:solidFill>
                  <a:srgbClr val="169653"/>
                </a:solidFill>
              </a:rPr>
              <a:t>Презентация</a:t>
            </a:r>
          </a:p>
        </p:txBody>
      </p:sp>
      <p:sp>
        <p:nvSpPr>
          <p:cNvPr id="16" name="body-card-body">
            <a:extLst>
              <a:ext uri="{FF2B5EF4-FFF2-40B4-BE49-F238E27FC236}">
                <a16:creationId xmlns:a16="http://schemas.microsoft.com/office/drawing/2014/main" id="{CD42AB85-9296-4E51-94FA-DFA36331E7A2}"/>
              </a:ext>
            </a:extLst>
          </p:cNvPr>
          <p:cNvSpPr>
            <a:spLocks noGrp="1"/>
          </p:cNvSpPr>
          <p:nvPr/>
        </p:nvSpPr>
        <p:spPr>
          <a:xfrm>
            <a:off x="6610350" y="2686050"/>
            <a:ext cx="192405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Этот deck: проблема, архитектура, P1/P2/P3/P4, метрики, примеры и демо-flow.</a:t>
            </a:r>
          </a:p>
        </p:txBody>
      </p:sp>
      <p:sp>
        <p:nvSpPr>
          <p:cNvPr id="17" name="body-card">
            <a:extLst>
              <a:ext uri="{FF2B5EF4-FFF2-40B4-BE49-F238E27FC236}">
                <a16:creationId xmlns:a16="http://schemas.microsoft.com/office/drawing/2014/main" id="{EC47BAF7-CB48-4054-BC37-BB590B4F9C92}"/>
              </a:ext>
            </a:extLst>
          </p:cNvPr>
          <p:cNvSpPr>
            <a:spLocks noGrp="1"/>
          </p:cNvSpPr>
          <p:nvPr/>
        </p:nvSpPr>
        <p:spPr>
          <a:xfrm>
            <a:off x="9144000" y="2038350"/>
            <a:ext cx="2381250" cy="2266950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D9E2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accent-rule">
            <a:extLst>
              <a:ext uri="{FF2B5EF4-FFF2-40B4-BE49-F238E27FC236}">
                <a16:creationId xmlns:a16="http://schemas.microsoft.com/office/drawing/2014/main" id="{ADF8C9B4-6E92-43B4-B9AC-A7DE19AE6FBD}"/>
              </a:ext>
            </a:extLst>
          </p:cNvPr>
          <p:cNvSpPr>
            <a:spLocks noGrp="1"/>
          </p:cNvSpPr>
          <p:nvPr/>
        </p:nvSpPr>
        <p:spPr>
          <a:xfrm>
            <a:off x="9144000" y="2038350"/>
            <a:ext cx="66675" cy="2266950"/>
          </a:xfrm>
          <a:prstGeom prst="rect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</p:sp>
      <p:sp>
        <p:nvSpPr>
          <p:cNvPr id="19" name="body-card-heading">
            <a:extLst>
              <a:ext uri="{FF2B5EF4-FFF2-40B4-BE49-F238E27FC236}">
                <a16:creationId xmlns:a16="http://schemas.microsoft.com/office/drawing/2014/main" id="{954113CA-6CB4-48B8-BE05-AE063D720751}"/>
              </a:ext>
            </a:extLst>
          </p:cNvPr>
          <p:cNvSpPr>
            <a:spLocks noGrp="1"/>
          </p:cNvSpPr>
          <p:nvPr/>
        </p:nvSpPr>
        <p:spPr>
          <a:xfrm>
            <a:off x="9372600" y="224790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D97706"/>
                </a:solidFill>
              </a:defRPr>
            </a:pPr>
            <a:r>
              <a:rPr sz="1725" b="1">
                <a:solidFill>
                  <a:srgbClr val="D97706"/>
                </a:solidFill>
              </a:rPr>
              <a:t>Деплой</a:t>
            </a:r>
          </a:p>
        </p:txBody>
      </p:sp>
      <p:sp>
        <p:nvSpPr>
          <p:cNvPr id="20" name="body-card-body">
            <a:extLst>
              <a:ext uri="{FF2B5EF4-FFF2-40B4-BE49-F238E27FC236}">
                <a16:creationId xmlns:a16="http://schemas.microsoft.com/office/drawing/2014/main" id="{555152C9-7985-451A-8FF1-635EB6B4D6C8}"/>
              </a:ext>
            </a:extLst>
          </p:cNvPr>
          <p:cNvSpPr>
            <a:spLocks noGrp="1"/>
          </p:cNvSpPr>
          <p:nvPr/>
        </p:nvSpPr>
        <p:spPr>
          <a:xfrm>
            <a:off x="9372600" y="2686050"/>
            <a:ext cx="192405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243044"/>
                </a:solidFill>
              </a:defRPr>
            </a:pPr>
            <a:r>
              <a:rPr sz="1275">
                <a:solidFill>
                  <a:srgbClr val="243044"/>
                </a:solidFill>
              </a:rPr>
              <a:t>Локальный Streamlit или Cloudflare tunnel, чтобы можно было открыть интерфейс в браузере.</a:t>
            </a:r>
          </a:p>
        </p:txBody>
      </p:sp>
      <p:sp>
        <p:nvSpPr>
          <p:cNvPr id="21" name="links-note">
            <a:extLst>
              <a:ext uri="{FF2B5EF4-FFF2-40B4-BE49-F238E27FC236}">
                <a16:creationId xmlns:a16="http://schemas.microsoft.com/office/drawing/2014/main" id="{DE15FFA1-6DBD-48D3-A0BD-D0447175B79D}"/>
              </a:ext>
            </a:extLst>
          </p:cNvPr>
          <p:cNvSpPr>
            <a:spLocks noGrp="1"/>
          </p:cNvSpPr>
          <p:nvPr/>
        </p:nvSpPr>
        <p:spPr>
          <a:xfrm>
            <a:off x="1143000" y="50101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>
                <a:solidFill>
                  <a:srgbClr val="243044"/>
                </a:solidFill>
              </a:defRPr>
            </a:pPr>
            <a:r>
              <a:rPr sz="1575">
                <a:solidFill>
                  <a:srgbClr val="243044"/>
                </a:solidFill>
              </a:rPr>
              <a:t>В README и `docs/submission.md` стоит держать эти четыре ссылки в одном блоке, чтобы сдача выглядела собранной и проверяемой.</a:t>
            </a:r>
          </a:p>
        </p:txBody>
      </p:sp>
      <p:sp>
        <p:nvSpPr>
          <p:cNvPr id="22" name="footer-left">
            <a:extLst>
              <a:ext uri="{FF2B5EF4-FFF2-40B4-BE49-F238E27FC236}">
                <a16:creationId xmlns:a16="http://schemas.microsoft.com/office/drawing/2014/main" id="{F2209C45-F76A-489D-BDF9-7A5026AB27C8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23" name="footer-num">
            <a:extLst>
              <a:ext uri="{FF2B5EF4-FFF2-40B4-BE49-F238E27FC236}">
                <a16:creationId xmlns:a16="http://schemas.microsoft.com/office/drawing/2014/main" id="{52525186-A96A-4C49-8428-8A70B73BDD7F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407755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lide-title">
            <a:extLst>
              <a:ext uri="{FF2B5EF4-FFF2-40B4-BE49-F238E27FC236}">
                <a16:creationId xmlns:a16="http://schemas.microsoft.com/office/drawing/2014/main" id="{AE08FFD3-CB10-4438-AAFB-27DE243FDFF5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028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F8FAFC"/>
                </a:solidFill>
              </a:defRPr>
            </a:pPr>
            <a:r>
              <a:rPr sz="2925" b="1">
                <a:solidFill>
                  <a:srgbClr val="F8FAFC"/>
                </a:solidFill>
              </a:rPr>
              <a:t>Готовность треков складывается в единый продукт</a:t>
            </a:r>
          </a:p>
        </p:txBody>
      </p:sp>
      <p:sp>
        <p:nvSpPr>
          <p:cNvPr id="2" name="slide-subtitle">
            <a:extLst>
              <a:ext uri="{FF2B5EF4-FFF2-40B4-BE49-F238E27FC236}">
                <a16:creationId xmlns:a16="http://schemas.microsoft.com/office/drawing/2014/main" id="{A367B624-A9E4-4422-9FA8-2DFF7AE201E0}"/>
              </a:ext>
            </a:extLst>
          </p:cNvPr>
          <p:cNvSpPr>
            <a:spLocks noGrp="1"/>
          </p:cNvSpPr>
          <p:nvPr/>
        </p:nvSpPr>
        <p:spPr>
          <a:xfrm>
            <a:off x="552450" y="1295400"/>
            <a:ext cx="933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B8C6D8"/>
                </a:solidFill>
              </a:defRPr>
            </a:pPr>
            <a:r>
              <a:rPr sz="1575">
                <a:solidFill>
                  <a:srgbClr val="B8C6D8"/>
                </a:solidFill>
              </a:rPr>
              <a:t>Каждый модуль имеет свой измеримый результат и понятную роль в демо.</a:t>
            </a:r>
          </a:p>
        </p:txBody>
      </p:sp>
      <p:sp>
        <p:nvSpPr>
          <p:cNvPr id="3" name="footer-left">
            <a:extLst>
              <a:ext uri="{FF2B5EF4-FFF2-40B4-BE49-F238E27FC236}">
                <a16:creationId xmlns:a16="http://schemas.microsoft.com/office/drawing/2014/main" id="{5B0F781C-4AE6-475E-BD90-5E39837CB4AE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4" name="footer-num">
            <a:extLst>
              <a:ext uri="{FF2B5EF4-FFF2-40B4-BE49-F238E27FC236}">
                <a16:creationId xmlns:a16="http://schemas.microsoft.com/office/drawing/2014/main" id="{8601021F-3825-4BA6-B9C4-ED9C167EEADB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18</a:t>
            </a:r>
          </a:p>
        </p:txBody>
      </p:sp>
      <p:sp>
        <p:nvSpPr>
          <p:cNvPr id="5" name="body-card">
            <a:extLst>
              <a:ext uri="{FF2B5EF4-FFF2-40B4-BE49-F238E27FC236}">
                <a16:creationId xmlns:a16="http://schemas.microsoft.com/office/drawing/2014/main" id="{6224D3FE-080C-4063-AAC0-27D663D55F34}"/>
              </a:ext>
            </a:extLst>
          </p:cNvPr>
          <p:cNvSpPr>
            <a:spLocks noGrp="1"/>
          </p:cNvSpPr>
          <p:nvPr/>
        </p:nvSpPr>
        <p:spPr>
          <a:xfrm>
            <a:off x="704850" y="2038350"/>
            <a:ext cx="2381250" cy="2324100"/>
          </a:xfrm>
          <a:prstGeom prst="roundRect">
            <a:avLst>
              <a:gd name="adj" fmla="val 4918"/>
            </a:avLst>
          </a:prstGeom>
          <a:solidFill>
            <a:srgbClr val="141C2B"/>
          </a:solidFill>
          <a:ln w="9525">
            <a:solidFill>
              <a:srgbClr val="2E3A5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accent-rule">
            <a:extLst>
              <a:ext uri="{FF2B5EF4-FFF2-40B4-BE49-F238E27FC236}">
                <a16:creationId xmlns:a16="http://schemas.microsoft.com/office/drawing/2014/main" id="{6B152F88-2DF0-4BC9-A3BF-B030DA761D43}"/>
              </a:ext>
            </a:extLst>
          </p:cNvPr>
          <p:cNvSpPr>
            <a:spLocks noGrp="1"/>
          </p:cNvSpPr>
          <p:nvPr/>
        </p:nvSpPr>
        <p:spPr>
          <a:xfrm>
            <a:off x="704850" y="2038350"/>
            <a:ext cx="66675" cy="2324100"/>
          </a:xfrm>
          <a:prstGeom prst="rect">
            <a:avLst/>
          </a:prstGeom>
          <a:solidFill>
            <a:srgbClr val="16B8C7"/>
          </a:solidFill>
          <a:ln w="0">
            <a:solidFill>
              <a:srgbClr val="16B8C7"/>
            </a:solidFill>
            <a:prstDash val="solid"/>
          </a:ln>
        </p:spPr>
      </p:sp>
      <p:sp>
        <p:nvSpPr>
          <p:cNvPr id="7" name="body-card-heading">
            <a:extLst>
              <a:ext uri="{FF2B5EF4-FFF2-40B4-BE49-F238E27FC236}">
                <a16:creationId xmlns:a16="http://schemas.microsoft.com/office/drawing/2014/main" id="{E500213E-DF4B-46E7-9E48-A976CD82120D}"/>
              </a:ext>
            </a:extLst>
          </p:cNvPr>
          <p:cNvSpPr>
            <a:spLocks noGrp="1"/>
          </p:cNvSpPr>
          <p:nvPr/>
        </p:nvSpPr>
        <p:spPr>
          <a:xfrm>
            <a:off x="933450" y="224790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B8C7"/>
                </a:solidFill>
              </a:defRPr>
            </a:pPr>
            <a:r>
              <a:rPr sz="1725" b="1">
                <a:solidFill>
                  <a:srgbClr val="16B8C7"/>
                </a:solidFill>
              </a:rPr>
              <a:t>P1</a:t>
            </a:r>
          </a:p>
        </p:txBody>
      </p:sp>
      <p:sp>
        <p:nvSpPr>
          <p:cNvPr id="8" name="body-card-body">
            <a:extLst>
              <a:ext uri="{FF2B5EF4-FFF2-40B4-BE49-F238E27FC236}">
                <a16:creationId xmlns:a16="http://schemas.microsoft.com/office/drawing/2014/main" id="{652832FA-9311-440B-BAC8-DAEA3A8DEA94}"/>
              </a:ext>
            </a:extLst>
          </p:cNvPr>
          <p:cNvSpPr>
            <a:spLocks noGrp="1"/>
          </p:cNvSpPr>
          <p:nvPr/>
        </p:nvSpPr>
        <p:spPr>
          <a:xfrm>
            <a:off x="933450" y="2686050"/>
            <a:ext cx="1924050" cy="1543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D8E7F7"/>
                </a:solidFill>
              </a:defRPr>
            </a:pPr>
            <a:r>
              <a:rPr sz="1275">
                <a:solidFill>
                  <a:srgbClr val="D8E7F7"/>
                </a:solidFill>
              </a:rPr>
              <a:t>Синяя маска талька, talc_pct, калибровка на 42 экспертных парах, улучшение ошибки в 2.7 раза.</a:t>
            </a:r>
          </a:p>
        </p:txBody>
      </p:sp>
      <p:sp>
        <p:nvSpPr>
          <p:cNvPr id="9" name="body-card">
            <a:extLst>
              <a:ext uri="{FF2B5EF4-FFF2-40B4-BE49-F238E27FC236}">
                <a16:creationId xmlns:a16="http://schemas.microsoft.com/office/drawing/2014/main" id="{166D9A32-9ED3-4325-9D8A-3E58CBA0E8D9}"/>
              </a:ext>
            </a:extLst>
          </p:cNvPr>
          <p:cNvSpPr>
            <a:spLocks noGrp="1"/>
          </p:cNvSpPr>
          <p:nvPr/>
        </p:nvSpPr>
        <p:spPr>
          <a:xfrm>
            <a:off x="3429000" y="2038350"/>
            <a:ext cx="2381250" cy="2324100"/>
          </a:xfrm>
          <a:prstGeom prst="roundRect">
            <a:avLst>
              <a:gd name="adj" fmla="val 4918"/>
            </a:avLst>
          </a:prstGeom>
          <a:solidFill>
            <a:srgbClr val="141C2B"/>
          </a:solidFill>
          <a:ln w="9525">
            <a:solidFill>
              <a:srgbClr val="2E3A5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accent-rule">
            <a:extLst>
              <a:ext uri="{FF2B5EF4-FFF2-40B4-BE49-F238E27FC236}">
                <a16:creationId xmlns:a16="http://schemas.microsoft.com/office/drawing/2014/main" id="{7CB743CC-FCFD-490D-BF4E-1A5AF50D0038}"/>
              </a:ext>
            </a:extLst>
          </p:cNvPr>
          <p:cNvSpPr>
            <a:spLocks noGrp="1"/>
          </p:cNvSpPr>
          <p:nvPr/>
        </p:nvSpPr>
        <p:spPr>
          <a:xfrm>
            <a:off x="3429000" y="2038350"/>
            <a:ext cx="66675" cy="2324100"/>
          </a:xfrm>
          <a:prstGeom prst="rect">
            <a:avLst/>
          </a:prstGeom>
          <a:solidFill>
            <a:srgbClr val="169653"/>
          </a:solidFill>
          <a:ln w="0">
            <a:solidFill>
              <a:srgbClr val="169653"/>
            </a:solidFill>
            <a:prstDash val="solid"/>
          </a:ln>
        </p:spPr>
      </p:sp>
      <p:sp>
        <p:nvSpPr>
          <p:cNvPr id="11" name="body-card-heading">
            <a:extLst>
              <a:ext uri="{FF2B5EF4-FFF2-40B4-BE49-F238E27FC236}">
                <a16:creationId xmlns:a16="http://schemas.microsoft.com/office/drawing/2014/main" id="{BBDB7ABB-07B2-4BD6-B0E7-67F89B873BB9}"/>
              </a:ext>
            </a:extLst>
          </p:cNvPr>
          <p:cNvSpPr>
            <a:spLocks noGrp="1"/>
          </p:cNvSpPr>
          <p:nvPr/>
        </p:nvSpPr>
        <p:spPr>
          <a:xfrm>
            <a:off x="3657600" y="224790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9653"/>
                </a:solidFill>
              </a:defRPr>
            </a:pPr>
            <a:r>
              <a:rPr sz="1725" b="1">
                <a:solidFill>
                  <a:srgbClr val="169653"/>
                </a:solidFill>
              </a:rPr>
              <a:t>P2</a:t>
            </a:r>
          </a:p>
        </p:txBody>
      </p:sp>
      <p:sp>
        <p:nvSpPr>
          <p:cNvPr id="12" name="body-card-body">
            <a:extLst>
              <a:ext uri="{FF2B5EF4-FFF2-40B4-BE49-F238E27FC236}">
                <a16:creationId xmlns:a16="http://schemas.microsoft.com/office/drawing/2014/main" id="{01A23299-15D0-45C6-AF98-39456B53E30C}"/>
              </a:ext>
            </a:extLst>
          </p:cNvPr>
          <p:cNvSpPr>
            <a:spLocks noGrp="1"/>
          </p:cNvSpPr>
          <p:nvPr/>
        </p:nvSpPr>
        <p:spPr>
          <a:xfrm>
            <a:off x="3657600" y="2686050"/>
            <a:ext cx="1924050" cy="1543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D8E7F7"/>
                </a:solidFill>
              </a:defRPr>
            </a:pPr>
            <a:r>
              <a:rPr sz="1275">
                <a:solidFill>
                  <a:srgbClr val="D8E7F7"/>
                </a:solidFill>
              </a:rPr>
              <a:t>EfficientNet-B0 checkpoint, три класса, GroupShuffleSplit, macro-F1 / accuracy / confusion matrix как пакет качества.</a:t>
            </a:r>
          </a:p>
        </p:txBody>
      </p:sp>
      <p:sp>
        <p:nvSpPr>
          <p:cNvPr id="13" name="body-card">
            <a:extLst>
              <a:ext uri="{FF2B5EF4-FFF2-40B4-BE49-F238E27FC236}">
                <a16:creationId xmlns:a16="http://schemas.microsoft.com/office/drawing/2014/main" id="{B1F9EA3D-70DD-4338-A577-5F3F45EBD520}"/>
              </a:ext>
            </a:extLst>
          </p:cNvPr>
          <p:cNvSpPr>
            <a:spLocks noGrp="1"/>
          </p:cNvSpPr>
          <p:nvPr/>
        </p:nvSpPr>
        <p:spPr>
          <a:xfrm>
            <a:off x="6153150" y="2038350"/>
            <a:ext cx="2381250" cy="2324100"/>
          </a:xfrm>
          <a:prstGeom prst="roundRect">
            <a:avLst>
              <a:gd name="adj" fmla="val 4918"/>
            </a:avLst>
          </a:prstGeom>
          <a:solidFill>
            <a:srgbClr val="141C2B"/>
          </a:solidFill>
          <a:ln w="9525">
            <a:solidFill>
              <a:srgbClr val="2E3A5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accent-rule">
            <a:extLst>
              <a:ext uri="{FF2B5EF4-FFF2-40B4-BE49-F238E27FC236}">
                <a16:creationId xmlns:a16="http://schemas.microsoft.com/office/drawing/2014/main" id="{EA6B20FC-E469-4BC5-AF0E-94919B91E4CE}"/>
              </a:ext>
            </a:extLst>
          </p:cNvPr>
          <p:cNvSpPr>
            <a:spLocks noGrp="1"/>
          </p:cNvSpPr>
          <p:nvPr/>
        </p:nvSpPr>
        <p:spPr>
          <a:xfrm>
            <a:off x="6153150" y="2038350"/>
            <a:ext cx="66675" cy="2324100"/>
          </a:xfrm>
          <a:prstGeom prst="rect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</p:sp>
      <p:sp>
        <p:nvSpPr>
          <p:cNvPr id="15" name="body-card-heading">
            <a:extLst>
              <a:ext uri="{FF2B5EF4-FFF2-40B4-BE49-F238E27FC236}">
                <a16:creationId xmlns:a16="http://schemas.microsoft.com/office/drawing/2014/main" id="{000D8327-D9A7-4001-9918-264EBD401939}"/>
              </a:ext>
            </a:extLst>
          </p:cNvPr>
          <p:cNvSpPr>
            <a:spLocks noGrp="1"/>
          </p:cNvSpPr>
          <p:nvPr/>
        </p:nvSpPr>
        <p:spPr>
          <a:xfrm>
            <a:off x="6381750" y="224790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D97706"/>
                </a:solidFill>
              </a:defRPr>
            </a:pPr>
            <a:r>
              <a:rPr sz="1725" b="1">
                <a:solidFill>
                  <a:srgbClr val="D97706"/>
                </a:solidFill>
              </a:rPr>
              <a:t>P3</a:t>
            </a:r>
          </a:p>
        </p:txBody>
      </p:sp>
      <p:sp>
        <p:nvSpPr>
          <p:cNvPr id="16" name="body-card-body">
            <a:extLst>
              <a:ext uri="{FF2B5EF4-FFF2-40B4-BE49-F238E27FC236}">
                <a16:creationId xmlns:a16="http://schemas.microsoft.com/office/drawing/2014/main" id="{72005353-395B-46F5-9ED7-B7A2516C1EE7}"/>
              </a:ext>
            </a:extLst>
          </p:cNvPr>
          <p:cNvSpPr>
            <a:spLocks noGrp="1"/>
          </p:cNvSpPr>
          <p:nvPr/>
        </p:nvSpPr>
        <p:spPr>
          <a:xfrm>
            <a:off x="6381750" y="2686050"/>
            <a:ext cx="1924050" cy="1543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D8E7F7"/>
                </a:solidFill>
              </a:defRPr>
            </a:pPr>
            <a:r>
              <a:rPr sz="1275">
                <a:solidFill>
                  <a:srgbClr val="D8E7F7"/>
                </a:solidFill>
              </a:rPr>
              <a:t>`analyze()` объединяет классификацию, сегментацию, проверки, метрики и экспортируемые данные.</a:t>
            </a:r>
          </a:p>
        </p:txBody>
      </p:sp>
      <p:sp>
        <p:nvSpPr>
          <p:cNvPr id="17" name="body-card">
            <a:extLst>
              <a:ext uri="{FF2B5EF4-FFF2-40B4-BE49-F238E27FC236}">
                <a16:creationId xmlns:a16="http://schemas.microsoft.com/office/drawing/2014/main" id="{1C688C20-4A89-43DC-BC8F-899A7CB5697F}"/>
              </a:ext>
            </a:extLst>
          </p:cNvPr>
          <p:cNvSpPr>
            <a:spLocks noGrp="1"/>
          </p:cNvSpPr>
          <p:nvPr/>
        </p:nvSpPr>
        <p:spPr>
          <a:xfrm>
            <a:off x="8877300" y="2038350"/>
            <a:ext cx="2381250" cy="2324100"/>
          </a:xfrm>
          <a:prstGeom prst="roundRect">
            <a:avLst>
              <a:gd name="adj" fmla="val 4918"/>
            </a:avLst>
          </a:prstGeom>
          <a:solidFill>
            <a:srgbClr val="141C2B"/>
          </a:solidFill>
          <a:ln w="9525">
            <a:solidFill>
              <a:srgbClr val="2E3A5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accent-rule">
            <a:extLst>
              <a:ext uri="{FF2B5EF4-FFF2-40B4-BE49-F238E27FC236}">
                <a16:creationId xmlns:a16="http://schemas.microsoft.com/office/drawing/2014/main" id="{55E596E8-55C3-4EC0-A3F0-D3E9B9C5B7B9}"/>
              </a:ext>
            </a:extLst>
          </p:cNvPr>
          <p:cNvSpPr>
            <a:spLocks noGrp="1"/>
          </p:cNvSpPr>
          <p:nvPr/>
        </p:nvSpPr>
        <p:spPr>
          <a:xfrm>
            <a:off x="8877300" y="2038350"/>
            <a:ext cx="66675" cy="2324100"/>
          </a:xfrm>
          <a:prstGeom prst="rect">
            <a:avLst/>
          </a:prstGeom>
          <a:solidFill>
            <a:srgbClr val="1656C9"/>
          </a:solidFill>
          <a:ln w="0">
            <a:solidFill>
              <a:srgbClr val="1656C9"/>
            </a:solidFill>
            <a:prstDash val="solid"/>
          </a:ln>
        </p:spPr>
      </p:sp>
      <p:sp>
        <p:nvSpPr>
          <p:cNvPr id="19" name="body-card-heading">
            <a:extLst>
              <a:ext uri="{FF2B5EF4-FFF2-40B4-BE49-F238E27FC236}">
                <a16:creationId xmlns:a16="http://schemas.microsoft.com/office/drawing/2014/main" id="{B7338237-B9A0-4C49-BDC6-6439460980A9}"/>
              </a:ext>
            </a:extLst>
          </p:cNvPr>
          <p:cNvSpPr>
            <a:spLocks noGrp="1"/>
          </p:cNvSpPr>
          <p:nvPr/>
        </p:nvSpPr>
        <p:spPr>
          <a:xfrm>
            <a:off x="9105900" y="224790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656C9"/>
                </a:solidFill>
              </a:defRPr>
            </a:pPr>
            <a:r>
              <a:rPr sz="1725" b="1">
                <a:solidFill>
                  <a:srgbClr val="1656C9"/>
                </a:solidFill>
              </a:rPr>
              <a:t>P4</a:t>
            </a:r>
          </a:p>
        </p:txBody>
      </p:sp>
      <p:sp>
        <p:nvSpPr>
          <p:cNvPr id="20" name="body-card-body">
            <a:extLst>
              <a:ext uri="{FF2B5EF4-FFF2-40B4-BE49-F238E27FC236}">
                <a16:creationId xmlns:a16="http://schemas.microsoft.com/office/drawing/2014/main" id="{96125905-E6AE-477D-9AEF-A6956E1A71F1}"/>
              </a:ext>
            </a:extLst>
          </p:cNvPr>
          <p:cNvSpPr>
            <a:spLocks noGrp="1"/>
          </p:cNvSpPr>
          <p:nvPr/>
        </p:nvSpPr>
        <p:spPr>
          <a:xfrm>
            <a:off x="9105900" y="2686050"/>
            <a:ext cx="1924050" cy="1543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D8E7F7"/>
                </a:solidFill>
              </a:defRPr>
            </a:pPr>
            <a:r>
              <a:rPr sz="1275">
                <a:solidFill>
                  <a:srgbClr val="D8E7F7"/>
                </a:solidFill>
              </a:rPr>
              <a:t>Streamlit: загрузка, маска с интерактивным просмотром, таблица метрик, вердикт, отчёт.</a:t>
            </a:r>
          </a:p>
        </p:txBody>
      </p:sp>
      <p:sp>
        <p:nvSpPr>
          <p:cNvPr id="21" name="ready-note">
            <a:extLst>
              <a:ext uri="{FF2B5EF4-FFF2-40B4-BE49-F238E27FC236}">
                <a16:creationId xmlns:a16="http://schemas.microsoft.com/office/drawing/2014/main" id="{B2AED32D-478F-430B-BC46-6A919A0A3FD3}"/>
              </a:ext>
            </a:extLst>
          </p:cNvPr>
          <p:cNvSpPr>
            <a:spLocks noGrp="1"/>
          </p:cNvSpPr>
          <p:nvPr/>
        </p:nvSpPr>
        <p:spPr>
          <a:xfrm>
            <a:off x="1200150" y="4972050"/>
            <a:ext cx="9791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725">
                <a:solidFill>
                  <a:srgbClr val="D8E7F7"/>
                </a:solidFill>
              </a:defRPr>
            </a:pPr>
            <a:r>
              <a:rPr sz="1725">
                <a:solidFill>
                  <a:srgbClr val="D8E7F7"/>
                </a:solidFill>
              </a:rPr>
              <a:t>Главная ценность: геолог получает не абстрактный ответ модели, а проверяемый результат с визуальным объяснением.</a:t>
            </a:r>
          </a:p>
        </p:txBody>
      </p:sp>
      <p:sp>
        <p:nvSpPr>
          <p:cNvPr id="22" name="footer-left">
            <a:extLst>
              <a:ext uri="{FF2B5EF4-FFF2-40B4-BE49-F238E27FC236}">
                <a16:creationId xmlns:a16="http://schemas.microsoft.com/office/drawing/2014/main" id="{B23633C0-1CCC-4CF8-880A-B0055D41C7DC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23" name="footer-num">
            <a:extLst>
              <a:ext uri="{FF2B5EF4-FFF2-40B4-BE49-F238E27FC236}">
                <a16:creationId xmlns:a16="http://schemas.microsoft.com/office/drawing/2014/main" id="{CF9E0383-2085-4293-9009-134FCD48AAEE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6768849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nd-shade">
            <a:extLst>
              <a:ext uri="{FF2B5EF4-FFF2-40B4-BE49-F238E27FC236}">
                <a16:creationId xmlns:a16="http://schemas.microsoft.com/office/drawing/2014/main" id="{6EE4F514-99D6-437D-97F0-F54AEB3224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0">
            <a:noFill/>
            <a:prstDash val="solid"/>
          </a:ln>
        </p:spPr>
      </p:sp>
      <p:sp>
        <p:nvSpPr>
          <p:cNvPr id="3" name="accent-rule">
            <a:extLst>
              <a:ext uri="{FF2B5EF4-FFF2-40B4-BE49-F238E27FC236}">
                <a16:creationId xmlns:a16="http://schemas.microsoft.com/office/drawing/2014/main" id="{8C16F240-92B1-4355-964A-7136BA7C1706}"/>
              </a:ext>
            </a:extLst>
          </p:cNvPr>
          <p:cNvSpPr>
            <a:spLocks noGrp="1"/>
          </p:cNvSpPr>
          <p:nvPr/>
        </p:nvSpPr>
        <p:spPr>
          <a:xfrm>
            <a:off x="552450" y="876300"/>
            <a:ext cx="1123950" cy="57150"/>
          </a:xfrm>
          <a:prstGeom prst="rect">
            <a:avLst/>
          </a:prstGeom>
          <a:solidFill>
            <a:srgbClr val="16B8C7"/>
          </a:solidFill>
          <a:ln w="0">
            <a:solidFill>
              <a:srgbClr val="16B8C7"/>
            </a:solidFill>
            <a:prstDash val="solid"/>
          </a:ln>
        </p:spPr>
      </p:sp>
      <p:sp>
        <p:nvSpPr>
          <p:cNvPr id="4" name="end-title">
            <a:extLst>
              <a:ext uri="{FF2B5EF4-FFF2-40B4-BE49-F238E27FC236}">
                <a16:creationId xmlns:a16="http://schemas.microsoft.com/office/drawing/2014/main" id="{30175CF0-52D3-4674-B4D4-F69F0E3DF1D4}"/>
              </a:ext>
            </a:extLst>
          </p:cNvPr>
          <p:cNvSpPr>
            <a:spLocks noGrp="1"/>
          </p:cNvSpPr>
          <p:nvPr/>
        </p:nvSpPr>
        <p:spPr>
          <a:xfrm>
            <a:off x="552450" y="1333500"/>
            <a:ext cx="752475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Сортировка становится быстрой, одинаковой и проверяемой</a:t>
            </a:r>
          </a:p>
        </p:txBody>
      </p:sp>
      <p:sp>
        <p:nvSpPr>
          <p:cNvPr id="5" name="end-copy">
            <a:extLst>
              <a:ext uri="{FF2B5EF4-FFF2-40B4-BE49-F238E27FC236}">
                <a16:creationId xmlns:a16="http://schemas.microsoft.com/office/drawing/2014/main" id="{3137A3B9-BDE7-4420-99C2-3B9BB05E8925}"/>
              </a:ext>
            </a:extLst>
          </p:cNvPr>
          <p:cNvSpPr>
            <a:spLocks noGrp="1"/>
          </p:cNvSpPr>
          <p:nvPr/>
        </p:nvSpPr>
        <p:spPr>
          <a:xfrm>
            <a:off x="552450" y="3162300"/>
            <a:ext cx="6667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>
                <a:solidFill>
                  <a:srgbClr val="D8E7F7"/>
                </a:solidFill>
              </a:defRPr>
            </a:pPr>
            <a:r>
              <a:rPr sz="1875">
                <a:solidFill>
                  <a:srgbClr val="D8E7F7"/>
                </a:solidFill>
              </a:rPr>
              <a:t>Загрузил фото, получил сорт, увидел тальк, подтвердил результат, скачал отчёт.</a:t>
            </a:r>
          </a:p>
        </p:txBody>
      </p:sp>
      <p:sp>
        <p:nvSpPr>
          <p:cNvPr id="6" name="pill">
            <a:extLst>
              <a:ext uri="{FF2B5EF4-FFF2-40B4-BE49-F238E27FC236}">
                <a16:creationId xmlns:a16="http://schemas.microsoft.com/office/drawing/2014/main" id="{02A3C261-94E8-4F21-AC0C-3E8AABB8F2AE}"/>
              </a:ext>
            </a:extLst>
          </p:cNvPr>
          <p:cNvSpPr>
            <a:spLocks noGrp="1"/>
          </p:cNvSpPr>
          <p:nvPr/>
        </p:nvSpPr>
        <p:spPr>
          <a:xfrm>
            <a:off x="552450" y="4476750"/>
            <a:ext cx="1238250" cy="3810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16B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pill-text">
            <a:extLst>
              <a:ext uri="{FF2B5EF4-FFF2-40B4-BE49-F238E27FC236}">
                <a16:creationId xmlns:a16="http://schemas.microsoft.com/office/drawing/2014/main" id="{2655E858-1653-4F6A-8A93-2B1C208D4A84}"/>
              </a:ext>
            </a:extLst>
          </p:cNvPr>
          <p:cNvSpPr>
            <a:spLocks noGrp="1"/>
          </p:cNvSpPr>
          <p:nvPr/>
        </p:nvSpPr>
        <p:spPr>
          <a:xfrm>
            <a:off x="685800" y="4562475"/>
            <a:ext cx="971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B8C7"/>
                </a:solidFill>
              </a:defRPr>
            </a:pPr>
            <a:r>
              <a:rPr sz="1125" b="1">
                <a:solidFill>
                  <a:srgbClr val="16B8C7"/>
                </a:solidFill>
              </a:rPr>
              <a:t>скорость</a:t>
            </a:r>
          </a:p>
        </p:txBody>
      </p:sp>
      <p:sp>
        <p:nvSpPr>
          <p:cNvPr id="8" name="pill">
            <a:extLst>
              <a:ext uri="{FF2B5EF4-FFF2-40B4-BE49-F238E27FC236}">
                <a16:creationId xmlns:a16="http://schemas.microsoft.com/office/drawing/2014/main" id="{D9A615BD-023E-471D-AE3D-DC75BF2C0CDA}"/>
              </a:ext>
            </a:extLst>
          </p:cNvPr>
          <p:cNvSpPr>
            <a:spLocks noGrp="1"/>
          </p:cNvSpPr>
          <p:nvPr/>
        </p:nvSpPr>
        <p:spPr>
          <a:xfrm>
            <a:off x="1962150" y="4476750"/>
            <a:ext cx="1809750" cy="3810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16B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pill-text">
            <a:extLst>
              <a:ext uri="{FF2B5EF4-FFF2-40B4-BE49-F238E27FC236}">
                <a16:creationId xmlns:a16="http://schemas.microsoft.com/office/drawing/2014/main" id="{E1F30864-DD09-43E2-8666-A2E2A1E1624A}"/>
              </a:ext>
            </a:extLst>
          </p:cNvPr>
          <p:cNvSpPr>
            <a:spLocks noGrp="1"/>
          </p:cNvSpPr>
          <p:nvPr/>
        </p:nvSpPr>
        <p:spPr>
          <a:xfrm>
            <a:off x="2095500" y="4562475"/>
            <a:ext cx="1543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B8C7"/>
                </a:solidFill>
              </a:defRPr>
            </a:pPr>
            <a:r>
              <a:rPr sz="1125" b="1">
                <a:solidFill>
                  <a:srgbClr val="16B8C7"/>
                </a:solidFill>
              </a:rPr>
              <a:t>единый стандарт</a:t>
            </a:r>
          </a:p>
        </p:txBody>
      </p:sp>
      <p:sp>
        <p:nvSpPr>
          <p:cNvPr id="10" name="pill">
            <a:extLst>
              <a:ext uri="{FF2B5EF4-FFF2-40B4-BE49-F238E27FC236}">
                <a16:creationId xmlns:a16="http://schemas.microsoft.com/office/drawing/2014/main" id="{B558DD66-62D3-4C80-8157-F672F272CE92}"/>
              </a:ext>
            </a:extLst>
          </p:cNvPr>
          <p:cNvSpPr>
            <a:spLocks noGrp="1"/>
          </p:cNvSpPr>
          <p:nvPr/>
        </p:nvSpPr>
        <p:spPr>
          <a:xfrm>
            <a:off x="3943350" y="4476750"/>
            <a:ext cx="1619250" cy="3810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16B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pill-text">
            <a:extLst>
              <a:ext uri="{FF2B5EF4-FFF2-40B4-BE49-F238E27FC236}">
                <a16:creationId xmlns:a16="http://schemas.microsoft.com/office/drawing/2014/main" id="{112D1F1C-78C9-4864-9008-60A2B9123573}"/>
              </a:ext>
            </a:extLst>
          </p:cNvPr>
          <p:cNvSpPr>
            <a:spLocks noGrp="1"/>
          </p:cNvSpPr>
          <p:nvPr/>
        </p:nvSpPr>
        <p:spPr>
          <a:xfrm>
            <a:off x="4076700" y="4562475"/>
            <a:ext cx="1352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B8C7"/>
                </a:solidFill>
              </a:defRPr>
            </a:pPr>
            <a:r>
              <a:rPr sz="1125" b="1">
                <a:solidFill>
                  <a:srgbClr val="16B8C7"/>
                </a:solidFill>
              </a:rPr>
              <a:t>объяснимость</a:t>
            </a:r>
          </a:p>
        </p:txBody>
      </p:sp>
      <p:sp>
        <p:nvSpPr>
          <p:cNvPr id="12" name="footer-left">
            <a:extLst>
              <a:ext uri="{FF2B5EF4-FFF2-40B4-BE49-F238E27FC236}">
                <a16:creationId xmlns:a16="http://schemas.microsoft.com/office/drawing/2014/main" id="{79EAA12B-60D2-4742-8815-11DB49EDF4F7}"/>
              </a:ext>
            </a:extLst>
          </p:cNvPr>
          <p:cNvSpPr>
            <a:spLocks noGrp="1"/>
          </p:cNvSpPr>
          <p:nvPr/>
        </p:nvSpPr>
        <p:spPr>
          <a:xfrm>
            <a:off x="552450" y="62865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9CAEC5"/>
                </a:solidFill>
              </a:defRPr>
            </a:pPr>
            <a:r>
              <a:rPr sz="1125">
                <a:solidFill>
                  <a:srgbClr val="9CAEC5"/>
                </a:solidFill>
              </a:rPr>
              <a:t>Скажи мне, кто твой шлиф</a:t>
            </a:r>
          </a:p>
        </p:txBody>
      </p:sp>
      <p:sp>
        <p:nvSpPr>
          <p:cNvPr id="13" name="footer-num">
            <a:extLst>
              <a:ext uri="{FF2B5EF4-FFF2-40B4-BE49-F238E27FC236}">
                <a16:creationId xmlns:a16="http://schemas.microsoft.com/office/drawing/2014/main" id="{B4212DEC-723C-4ECC-AA2C-1F913AD3452E}"/>
              </a:ext>
            </a:extLst>
          </p:cNvPr>
          <p:cNvSpPr>
            <a:spLocks noGrp="1"/>
          </p:cNvSpPr>
          <p:nvPr/>
        </p:nvSpPr>
        <p:spPr>
          <a:xfrm>
            <a:off x="11068050" y="62865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9CAEC5"/>
                </a:solidFill>
              </a:defRPr>
            </a:pPr>
            <a:r>
              <a:rPr sz="1125" b="1">
                <a:solidFill>
                  <a:srgbClr val="9CAEC5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255243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1748</Words>
  <Application>Microsoft Macintosh PowerPoint</Application>
  <DocSecurity>0</DocSecurity>
  <PresentationFormat>Широкоэкранный</PresentationFormat>
  <Paragraphs>292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1" baseType="lpstr">
      <vt:lpstr>Calibri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Microsoft Office User</cp:lastModifiedBy>
  <cp:revision>1</cp:revision>
  <dcterms:created xsi:type="dcterms:W3CDTF">2026-07-04T21:16:16Z</dcterms:created>
  <dcterms:modified xsi:type="dcterms:W3CDTF">2026-07-04T21:20:44Z</dcterms:modified>
</cp:coreProperties>
</file>