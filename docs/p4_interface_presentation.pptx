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52ae8b583143cf" /><Relationship Type="http://schemas.openxmlformats.org/officeDocument/2006/relationships/extended-properties" Target="/docProps/app.xml" Id="R005e9eeebe064f94" /><Relationship Type="http://schemas.openxmlformats.org/officeDocument/2006/relationships/officeDocument" Target="/ppt/presentation.xml" Id="R3e466832a3cb49d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5b81e2b9394b21"/>
  </p:sldMasterIdLst>
  <p:notesMasterIdLst>
    <p:notesMasterId xmlns:r="http://schemas.openxmlformats.org/officeDocument/2006/relationships" r:id="Rc0b82e712c91428c"/>
  </p:notesMasterIdLst>
  <p:sldIdLst>
    <p:sldId xmlns:r="http://schemas.openxmlformats.org/officeDocument/2006/relationships" id="256" r:id="Rcc539ac09619419a"/>
    <p:sldId xmlns:r="http://schemas.openxmlformats.org/officeDocument/2006/relationships" id="257" r:id="R0e2012de2be945d8"/>
    <p:sldId xmlns:r="http://schemas.openxmlformats.org/officeDocument/2006/relationships" id="258" r:id="R585fa43c3b9f4193"/>
    <p:sldId xmlns:r="http://schemas.openxmlformats.org/officeDocument/2006/relationships" id="259" r:id="R6488f6dcd7a54942"/>
    <p:sldId xmlns:r="http://schemas.openxmlformats.org/officeDocument/2006/relationships" id="260" r:id="Rf8841479c9ee49eb"/>
    <p:sldId xmlns:r="http://schemas.openxmlformats.org/officeDocument/2006/relationships" id="261" r:id="R973e3b4f8ced4dce"/>
    <p:sldId xmlns:r="http://schemas.openxmlformats.org/officeDocument/2006/relationships" id="262" r:id="R6f3a3142c0d04351"/>
    <p:sldId xmlns:r="http://schemas.openxmlformats.org/officeDocument/2006/relationships" id="263" r:id="R34cb4a9463b74497"/>
    <p:sldId xmlns:r="http://schemas.openxmlformats.org/officeDocument/2006/relationships" id="264" r:id="R049cad4889af43fe"/>
    <p:sldId xmlns:r="http://schemas.openxmlformats.org/officeDocument/2006/relationships" id="265" r:id="R3c4dd6375a2447ba"/>
    <p:sldId xmlns:r="http://schemas.openxmlformats.org/officeDocument/2006/relationships" id="266" r:id="R83e189aadf8b4ab0"/>
    <p:sldId xmlns:r="http://schemas.openxmlformats.org/officeDocument/2006/relationships" id="267" r:id="R5ea75c83c6014ad5"/>
    <p:sldId xmlns:r="http://schemas.openxmlformats.org/officeDocument/2006/relationships" id="268" r:id="R00d2912310004be5"/>
    <p:sldId xmlns:r="http://schemas.openxmlformats.org/officeDocument/2006/relationships" id="269" r:id="R028aba08e3184322"/>
    <p:sldId xmlns:r="http://schemas.openxmlformats.org/officeDocument/2006/relationships" id="270" r:id="Rcf8e922f1a0946bb"/>
    <p:sldId xmlns:r="http://schemas.openxmlformats.org/officeDocument/2006/relationships" id="271" r:id="R61631dbee6034f2e"/>
    <p:sldId xmlns:r="http://schemas.openxmlformats.org/officeDocument/2006/relationships" id="272" r:id="R8db5ef03e51a4238"/>
    <p:sldId xmlns:r="http://schemas.openxmlformats.org/officeDocument/2006/relationships" id="273" r:id="R9c90499f2052442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1b5c5d3af44c46" /><Relationship Type="http://schemas.openxmlformats.org/officeDocument/2006/relationships/slideMaster" Target="/ppt/slideMasters/slideMaster1.xml" Id="R035b81e2b9394b21" /><Relationship Type="http://schemas.openxmlformats.org/officeDocument/2006/relationships/notesMaster" Target="/ppt/notesMasters/notesMaster1.xml" Id="Rc0b82e712c91428c" /><Relationship Type="http://schemas.openxmlformats.org/officeDocument/2006/relationships/presProps" Target="/ppt/presProps.xml" Id="R75e854fc2ca64042" /><Relationship Type="http://schemas.openxmlformats.org/officeDocument/2006/relationships/tableStyles" Target="/ppt/tableStyles.xml" Id="Rf4e9f0626fdf422e" /><Relationship Type="http://schemas.openxmlformats.org/officeDocument/2006/relationships/slide" Target="/ppt/slides/slide1.xml" Id="Rcc539ac09619419a" /><Relationship Type="http://schemas.openxmlformats.org/officeDocument/2006/relationships/slide" Target="/ppt/slides/slide2.xml" Id="R0e2012de2be945d8" /><Relationship Type="http://schemas.openxmlformats.org/officeDocument/2006/relationships/slide" Target="/ppt/slides/slide3.xml" Id="R585fa43c3b9f4193" /><Relationship Type="http://schemas.openxmlformats.org/officeDocument/2006/relationships/slide" Target="/ppt/slides/slide4.xml" Id="R6488f6dcd7a54942" /><Relationship Type="http://schemas.openxmlformats.org/officeDocument/2006/relationships/slide" Target="/ppt/slides/slide5.xml" Id="Rf8841479c9ee49eb" /><Relationship Type="http://schemas.openxmlformats.org/officeDocument/2006/relationships/slide" Target="/ppt/slides/slide6.xml" Id="R973e3b4f8ced4dce" /><Relationship Type="http://schemas.openxmlformats.org/officeDocument/2006/relationships/slide" Target="/ppt/slides/slide7.xml" Id="R6f3a3142c0d04351" /><Relationship Type="http://schemas.openxmlformats.org/officeDocument/2006/relationships/slide" Target="/ppt/slides/slide8.xml" Id="R34cb4a9463b74497" /><Relationship Type="http://schemas.openxmlformats.org/officeDocument/2006/relationships/slide" Target="/ppt/slides/slide9.xml" Id="R049cad4889af43fe" /><Relationship Type="http://schemas.openxmlformats.org/officeDocument/2006/relationships/slide" Target="/ppt/slides/slide10.xml" Id="R3c4dd6375a2447ba" /><Relationship Type="http://schemas.openxmlformats.org/officeDocument/2006/relationships/slide" Target="/ppt/slides/slide11.xml" Id="R83e189aadf8b4ab0" /><Relationship Type="http://schemas.openxmlformats.org/officeDocument/2006/relationships/slide" Target="/ppt/slides/slide12.xml" Id="R5ea75c83c6014ad5" /><Relationship Type="http://schemas.openxmlformats.org/officeDocument/2006/relationships/slide" Target="/ppt/slides/slide13.xml" Id="R00d2912310004be5" /><Relationship Type="http://schemas.openxmlformats.org/officeDocument/2006/relationships/slide" Target="/ppt/slides/slide14.xml" Id="R028aba08e3184322" /><Relationship Type="http://schemas.openxmlformats.org/officeDocument/2006/relationships/slide" Target="/ppt/slides/slide15.xml" Id="Rcf8e922f1a0946bb" /><Relationship Type="http://schemas.openxmlformats.org/officeDocument/2006/relationships/slide" Target="/ppt/slides/slide16.xml" Id="R61631dbee6034f2e" /><Relationship Type="http://schemas.openxmlformats.org/officeDocument/2006/relationships/slide" Target="/ppt/slides/slide17.xml" Id="R8db5ef03e51a4238" /><Relationship Type="http://schemas.openxmlformats.org/officeDocument/2006/relationships/slide" Target="/ppt/slides/slide18.xml" Id="R9c90499f205244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45d52aa830c40f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4b70fa5ebb34c30" /><Relationship Type="http://schemas.openxmlformats.org/officeDocument/2006/relationships/notesMaster" Target="/ppt/notesMasters/notesMaster1.xml" Id="R0129d6a82b0140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0868a7348d44a2" /><Relationship Type="http://schemas.openxmlformats.org/officeDocument/2006/relationships/notesMaster" Target="/ppt/notesMasters/notesMaster1.xml" Id="R4862a1e83bdc40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db4eb61c9a4aca" /><Relationship Type="http://schemas.openxmlformats.org/officeDocument/2006/relationships/notesMaster" Target="/ppt/notesMasters/notesMaster1.xml" Id="Rc116fa26176248f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e34636631f469c" /><Relationship Type="http://schemas.openxmlformats.org/officeDocument/2006/relationships/notesMaster" Target="/ppt/notesMasters/notesMaster1.xml" Id="Rb4b3750ea1fe4a2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8e3099c33a489e" /><Relationship Type="http://schemas.openxmlformats.org/officeDocument/2006/relationships/notesMaster" Target="/ppt/notesMasters/notesMaster1.xml" Id="R225362723d49478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e3d55c10e745c2" /><Relationship Type="http://schemas.openxmlformats.org/officeDocument/2006/relationships/notesMaster" Target="/ppt/notesMasters/notesMaster1.xml" Id="Re09afbdca0924d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2f7191f4244394" /><Relationship Type="http://schemas.openxmlformats.org/officeDocument/2006/relationships/notesMaster" Target="/ppt/notesMasters/notesMaster1.xml" Id="R7704493c036a46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b55a5ef50243b7" /><Relationship Type="http://schemas.openxmlformats.org/officeDocument/2006/relationships/notesMaster" Target="/ppt/notesMasters/notesMaster1.xml" Id="R103f207f768346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96a831da004e8a" /><Relationship Type="http://schemas.openxmlformats.org/officeDocument/2006/relationships/notesMaster" Target="/ppt/notesMasters/notesMaster1.xml" Id="R777547b8ab60455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c2e50f8d522472e" /><Relationship Type="http://schemas.openxmlformats.org/officeDocument/2006/relationships/notesMaster" Target="/ppt/notesMasters/notesMaster1.xml" Id="R6050d95695e64fd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6ea0d80ae14b81" /><Relationship Type="http://schemas.openxmlformats.org/officeDocument/2006/relationships/notesMaster" Target="/ppt/notesMasters/notesMaster1.xml" Id="Rd9fc6208bd55407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8472a761e814dae" /><Relationship Type="http://schemas.openxmlformats.org/officeDocument/2006/relationships/notesMaster" Target="/ppt/notesMasters/notesMaster1.xml" Id="Rc67d553a8da3460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128d58953d94ea7" /><Relationship Type="http://schemas.openxmlformats.org/officeDocument/2006/relationships/notesMaster" Target="/ppt/notesMasters/notesMaster1.xml" Id="R7b5e02fd6c9b4a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824f95c43484933" /><Relationship Type="http://schemas.openxmlformats.org/officeDocument/2006/relationships/notesMaster" Target="/ppt/notesMasters/notesMaster1.xml" Id="R0844e72a6f4444b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a372eb3c6b44f47" /><Relationship Type="http://schemas.openxmlformats.org/officeDocument/2006/relationships/notesMaster" Target="/ppt/notesMasters/notesMaster1.xml" Id="R30f49716820a4d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ce0349605f4944" /><Relationship Type="http://schemas.openxmlformats.org/officeDocument/2006/relationships/notesMaster" Target="/ppt/notesMasters/notesMaster1.xml" Id="Rd230814c7f3e49e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4b259a9258944ac" /><Relationship Type="http://schemas.openxmlformats.org/officeDocument/2006/relationships/notesMaster" Target="/ppt/notesMasters/notesMaster1.xml" Id="R8e1b0262ec53466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938b48ae90c4c63" /><Relationship Type="http://schemas.openxmlformats.org/officeDocument/2006/relationships/notesMaster" Target="/ppt/notesMasters/notesMaster1.xml" Id="R76c364850e52455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e66430f324d8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f3992de1cec4036" /><Relationship Type="http://schemas.openxmlformats.org/officeDocument/2006/relationships/slideLayout" Target="/ppt/slideLayouts/slideLayout1.xml" Id="R6a9df4c8a1c74b0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9df4c8a1c74b0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e2552f05042ad" /><Relationship Type="http://schemas.openxmlformats.org/officeDocument/2006/relationships/image" Target="/ppt/media/image.jpeg" Id="Rf4c6762a3f934961" /><Relationship Type="http://schemas.openxmlformats.org/officeDocument/2006/relationships/notesSlide" Target="/ppt/notesSlides/notesSlide1.xml" Id="R149bd686d097491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f783ad9a54263" /><Relationship Type="http://schemas.openxmlformats.org/officeDocument/2006/relationships/notesSlide" Target="/ppt/notesSlides/notesSlide2.xml" Id="R2da83fb53abf412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e802712de54682" /><Relationship Type="http://schemas.openxmlformats.org/officeDocument/2006/relationships/image" Target="/ppt/media/image.png" Id="Rd24d5eea630d43d9" /><Relationship Type="http://schemas.openxmlformats.org/officeDocument/2006/relationships/notesSlide" Target="/ppt/notesSlides/notesSlide3.xml" Id="Rb92699715e6c495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623f97c3343fd" /><Relationship Type="http://schemas.openxmlformats.org/officeDocument/2006/relationships/notesSlide" Target="/ppt/notesSlides/notesSlide4.xml" Id="R7f50aee5e5ef4d6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d3ea2ba624d72" /><Relationship Type="http://schemas.openxmlformats.org/officeDocument/2006/relationships/notesSlide" Target="/ppt/notesSlides/notesSlide5.xml" Id="Rcc5696acafcd43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9c2e7f15c14ee8" /><Relationship Type="http://schemas.openxmlformats.org/officeDocument/2006/relationships/notesSlide" Target="/ppt/notesSlides/notesSlide6.xml" Id="R11de53340c02445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5153a879e40b1" /><Relationship Type="http://schemas.openxmlformats.org/officeDocument/2006/relationships/notesSlide" Target="/ppt/notesSlides/notesSlide7.xml" Id="Rafd07a8f20024d0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e0c997f285430a" /><Relationship Type="http://schemas.openxmlformats.org/officeDocument/2006/relationships/notesSlide" Target="/ppt/notesSlides/notesSlide8.xml" Id="R28a70395512043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2fab5e7ab6438c" /><Relationship Type="http://schemas.openxmlformats.org/officeDocument/2006/relationships/notesSlide" Target="/ppt/notesSlides/notesSlide9.xml" Id="R389c7b28c7e5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b62996e2d74dfb" /><Relationship Type="http://schemas.openxmlformats.org/officeDocument/2006/relationships/notesSlide" Target="/ppt/notesSlides/notesSlide10.xml" Id="Ree423381362945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e3aac489cb434c" /><Relationship Type="http://schemas.openxmlformats.org/officeDocument/2006/relationships/notesSlide" Target="/ppt/notesSlides/notesSlide11.xml" Id="R76883c3947bf454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995f7d2b342cc" /><Relationship Type="http://schemas.openxmlformats.org/officeDocument/2006/relationships/notesSlide" Target="/ppt/notesSlides/notesSlide12.xml" Id="R4f48564b1243427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903f40c74e484b" /><Relationship Type="http://schemas.openxmlformats.org/officeDocument/2006/relationships/notesSlide" Target="/ppt/notesSlides/notesSlide13.xml" Id="Rb4ab240747db42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3f38ecaa7e450b" /><Relationship Type="http://schemas.openxmlformats.org/officeDocument/2006/relationships/image" Target="/ppt/media/image2.jpeg" Id="R6ba015e8050d4552" /><Relationship Type="http://schemas.openxmlformats.org/officeDocument/2006/relationships/notesSlide" Target="/ppt/notesSlides/notesSlide14.xml" Id="Ra7a103eaeefb424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cfaccd055342d4" /><Relationship Type="http://schemas.openxmlformats.org/officeDocument/2006/relationships/image" Target="/ppt/media/image2.png" Id="R63ee97ddcd354044" /><Relationship Type="http://schemas.openxmlformats.org/officeDocument/2006/relationships/notesSlide" Target="/ppt/notesSlides/notesSlide15.xml" Id="R28c9db20347d4b0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7940e0a4a64caa" /><Relationship Type="http://schemas.openxmlformats.org/officeDocument/2006/relationships/notesSlide" Target="/ppt/notesSlides/notesSlide16.xml" Id="Rd8bd79944947400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9409a358f346ff" /><Relationship Type="http://schemas.openxmlformats.org/officeDocument/2006/relationships/notesSlide" Target="/ppt/notesSlides/notesSlide17.xml" Id="Rbc04cba29007464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8d2579f4b4ddf" /><Relationship Type="http://schemas.openxmlformats.org/officeDocument/2006/relationships/notesSlide" Target="/ppt/notesSlides/notesSlide18.xml" Id="Re20ecb7ae5334b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kicker">
            <a:extLst xmlns:a="http://schemas.openxmlformats.org/drawingml/2006/main">
              <a:ext uri="{FF2B5EF4-FFF2-40B4-BE49-F238E27FC236}">
                <a16:creationId xmlns:a16="http://schemas.microsoft.com/office/drawing/2014/main" id="{2CF84DF7-2C34-4FC6-943D-BF127091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DD4BF"/>
                </a:solidFill>
              </a:defRPr>
            </a:pPr>
            <a:r>
              <a:rPr sz="1350" b="1">
                <a:solidFill>
                  <a:srgbClr val="2DD4BF"/>
                </a:solidFill>
              </a:rPr>
              <a:t>Норникель хакатон · компьютерное зрение для аншлифов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92F2899-F876-47B8-8EFD-CB6B5AA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8250"/>
            <a:ext cx="581025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8FAFC"/>
                </a:solidFill>
              </a:defRPr>
            </a:pPr>
            <a:r>
              <a:rPr sz="5025" b="1">
                <a:solidFill>
                  <a:srgbClr val="F8FAFC"/>
                </a:solidFill>
              </a:rPr>
              <a:t>Скажи мне,</a:t>
            </a:r>
          </a:p>
          <a:p xmlns:a="http://schemas.openxmlformats.org/drawingml/2006/main">
            <a:pPr>
              <a:defRPr sz="5025" b="1">
                <a:solidFill>
                  <a:srgbClr val="F8FAFC"/>
                </a:solidFill>
              </a:defRPr>
            </a:pPr>
            <a:r>
              <a:rPr sz="5025" b="1">
                <a:solidFill>
                  <a:srgbClr val="F8FAFC"/>
                </a:solidFill>
              </a:rPr>
              <a:t>кто твой шлиф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96AC42F-8EB9-49C7-B095-BDBBAB97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86125"/>
            <a:ext cx="55721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CAD5E4"/>
                </a:solidFill>
              </a:defRPr>
            </a:pPr>
            <a:r>
              <a:rPr sz="1875">
                <a:solidFill>
                  <a:srgbClr val="CAD5E4"/>
                </a:solidFill>
              </a:rPr>
              <a:t>Программа по фото среза руды определяет её сорт и показывает, где на снимке тальк.</a:t>
            </a:r>
          </a:p>
        </p:txBody>
      </p:sp>
      <p:sp>
        <p:nvSpPr>
          <p:cNvPr id="4" name="dark-card">
            <a:extLst xmlns:a="http://schemas.openxmlformats.org/drawingml/2006/main">
              <a:ext uri="{FF2B5EF4-FFF2-40B4-BE49-F238E27FC236}">
                <a16:creationId xmlns:a16="http://schemas.microsoft.com/office/drawing/2014/main" id="{465BEEC8-C5C5-492D-B7D6-9ADE9AC5C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5775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B8DF83B4-F15A-43DF-8DE6-CFDE74FF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8635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Сорт</a:t>
            </a:r>
          </a:p>
        </p:txBody>
      </p:sp>
      <p:sp>
        <p:nvSpPr>
          <p:cNvPr id="6" name="dark-body">
            <a:extLst xmlns:a="http://schemas.openxmlformats.org/drawingml/2006/main">
              <a:ext uri="{FF2B5EF4-FFF2-40B4-BE49-F238E27FC236}">
                <a16:creationId xmlns:a16="http://schemas.microsoft.com/office/drawing/2014/main" id="{32157898-A71C-4BFD-BE59-23DA5F93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8165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главный ответ для геолога</a:t>
            </a:r>
          </a:p>
        </p:txBody>
      </p:sp>
      <p:sp>
        <p:nvSpPr>
          <p:cNvPr id="7" name="dark-card">
            <a:extLst xmlns:a="http://schemas.openxmlformats.org/drawingml/2006/main">
              <a:ext uri="{FF2B5EF4-FFF2-40B4-BE49-F238E27FC236}">
                <a16:creationId xmlns:a16="http://schemas.microsoft.com/office/drawing/2014/main" id="{70B6F4C6-9445-4BAB-B5AD-B973FAD1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85775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9E6D4745-8F00-4692-9CF0-B08FD3FD5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8635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Тальк</a:t>
            </a:r>
          </a:p>
        </p:txBody>
      </p:sp>
      <p:sp>
        <p:nvSpPr>
          <p:cNvPr id="9" name="dark-body">
            <a:extLst xmlns:a="http://schemas.openxmlformats.org/drawingml/2006/main">
              <a:ext uri="{FF2B5EF4-FFF2-40B4-BE49-F238E27FC236}">
                <a16:creationId xmlns:a16="http://schemas.microsoft.com/office/drawing/2014/main" id="{A0EEA000-5641-4D9E-877B-26E52E22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58165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маска и процент площади</a:t>
            </a:r>
          </a:p>
        </p:txBody>
      </p:sp>
      <p:sp>
        <p:nvSpPr>
          <p:cNvPr id="10" name="dark-card">
            <a:extLst xmlns:a="http://schemas.openxmlformats.org/drawingml/2006/main">
              <a:ext uri="{FF2B5EF4-FFF2-40B4-BE49-F238E27FC236}">
                <a16:creationId xmlns:a16="http://schemas.microsoft.com/office/drawing/2014/main" id="{672E34A4-C4B4-439C-B13C-EB84C651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857750"/>
            <a:ext cx="2190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4FFC46FD-8067-4331-9F68-495572317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08635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Отчёт</a:t>
            </a:r>
          </a:p>
        </p:txBody>
      </p:sp>
      <p:sp>
        <p:nvSpPr>
          <p:cNvPr id="12" name="dark-body">
            <a:extLst xmlns:a="http://schemas.openxmlformats.org/drawingml/2006/main">
              <a:ext uri="{FF2B5EF4-FFF2-40B4-BE49-F238E27FC236}">
                <a16:creationId xmlns:a16="http://schemas.microsoft.com/office/drawing/2014/main" id="{F888AE72-A721-4E98-BA5F-9A5A1E00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581650"/>
            <a:ext cx="1733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PDF/CSV/JSON для сдачи</a:t>
            </a:r>
          </a:p>
        </p:txBody>
      </p:sp>
      <p:sp>
        <p:nvSpPr>
          <p:cNvPr id="13" name="image-frame">
            <a:extLst xmlns:a="http://schemas.openxmlformats.org/drawingml/2006/main">
              <a:ext uri="{FF2B5EF4-FFF2-40B4-BE49-F238E27FC236}">
                <a16:creationId xmlns:a16="http://schemas.microsoft.com/office/drawing/2014/main" id="{BAA3491A-E985-4D76-BC1D-EB6E0BB2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3314700" cy="49530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0B0F17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6762a3f934961"/>
          <a:srcRect xmlns:a="http://schemas.openxmlformats.org/drawingml/2006/main" l="1034" t="0" r="103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0" y="1085850"/>
            <a:ext cx="3124200" cy="4457700"/>
          </a:xfrm>
          <a:prstGeom xmlns:a="http://schemas.openxmlformats.org/drawingml/2006/main" prst="rect">
            <a:avLst/>
          </a:prstGeom>
        </p:spPr>
      </p:pic>
      <p:sp>
        <p:nvSpPr>
          <p:cNvPr id="1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5B374F1D-41FA-4285-AF09-9A58630ED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619750"/>
            <a:ext cx="2971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6D0DF"/>
                </a:solidFill>
              </a:defRPr>
            </a:pPr>
            <a:r>
              <a:rPr sz="1050">
                <a:solidFill>
                  <a:srgbClr val="C6D0DF"/>
                </a:solidFill>
              </a:rPr>
              <a:t>локальный Streamlit-интерфейс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9F577A4-3AA8-408E-AC18-A007CE51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1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496D683-BA80-4976-B18A-D9FF7B5F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4205154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D9F924-FA9E-4811-B575-C6814F525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Ручная оценка слишком зависит от человека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766EB07-BAF1-4DC8-B3B9-736915A0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Геолог видит срез руды под микроскопом и на глаз решает, насколько легко её обогащать.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659B74F7-CEA3-42AA-9E5E-4356E4D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5A1EC2E-E02E-4CF3-8EDF-621B3FC9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5" name="claim">
            <a:extLst xmlns:a="http://schemas.openxmlformats.org/drawingml/2006/main">
              <a:ext uri="{FF2B5EF4-FFF2-40B4-BE49-F238E27FC236}">
                <a16:creationId xmlns:a16="http://schemas.microsoft.com/office/drawing/2014/main" id="{C2F9E2FB-EC0D-4AA5-B323-3880B968B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90750"/>
            <a:ext cx="4762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11827"/>
                </a:solidFill>
              </a:defRPr>
            </a:pPr>
            <a:r>
              <a:rPr sz="2325" b="1">
                <a:solidFill>
                  <a:srgbClr val="111827"/>
                </a:solidFill>
              </a:rPr>
              <a:t>Проблема не в том, что эксперт ошибается. Проблема в том, что один и тот же поток снимков сложно оценивать быстро и одинаково.</a:t>
            </a:r>
          </a:p>
        </p:txBody>
      </p:sp>
      <p:sp>
        <p:nvSpPr>
          <p:cNvPr id="6" name="card">
            <a:extLst xmlns:a="http://schemas.openxmlformats.org/drawingml/2006/main">
              <a:ext uri="{FF2B5EF4-FFF2-40B4-BE49-F238E27FC236}">
                <a16:creationId xmlns:a16="http://schemas.microsoft.com/office/drawing/2014/main" id="{DACEDA36-B3C6-4972-B3A7-2B06DDCF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4953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4C522010-1EE7-40EA-AE32-D326034A9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8" name="card-kicker">
            <a:extLst xmlns:a="http://schemas.openxmlformats.org/drawingml/2006/main">
              <a:ext uri="{FF2B5EF4-FFF2-40B4-BE49-F238E27FC236}">
                <a16:creationId xmlns:a16="http://schemas.microsoft.com/office/drawing/2014/main" id="{4BBF8BA4-DA67-4A68-9CBF-BD935465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71700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01</a:t>
            </a:r>
          </a:p>
        </p:txBody>
      </p:sp>
      <p:sp>
        <p:nvSpPr>
          <p:cNvPr id="9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B7B0B9B8-A24B-45BB-8064-811F7602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3840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на глаз долго и субъективно</a:t>
            </a:r>
          </a:p>
        </p:txBody>
      </p:sp>
      <p:sp>
        <p:nvSpPr>
          <p:cNvPr id="10" name="card-body">
            <a:extLst xmlns:a="http://schemas.openxmlformats.org/drawingml/2006/main">
              <a:ext uri="{FF2B5EF4-FFF2-40B4-BE49-F238E27FC236}">
                <a16:creationId xmlns:a16="http://schemas.microsoft.com/office/drawing/2014/main" id="{FE534E41-7BD4-4C22-8092-80B6A4295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876550"/>
            <a:ext cx="4495800" cy="-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субъективность влияет на сортировку</a:t>
            </a:r>
          </a:p>
        </p:txBody>
      </p:sp>
      <p:sp>
        <p:nvSpPr>
          <p:cNvPr id="11" name="card">
            <a:extLst xmlns:a="http://schemas.openxmlformats.org/drawingml/2006/main">
              <a:ext uri="{FF2B5EF4-FFF2-40B4-BE49-F238E27FC236}">
                <a16:creationId xmlns:a16="http://schemas.microsoft.com/office/drawing/2014/main" id="{C24F0DC1-39D7-4D31-B1E6-D30D23A7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4953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2C48801-862E-4671-901A-211722F4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575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3" name="card-kicker">
            <a:extLst xmlns:a="http://schemas.openxmlformats.org/drawingml/2006/main">
              <a:ext uri="{FF2B5EF4-FFF2-40B4-BE49-F238E27FC236}">
                <a16:creationId xmlns:a16="http://schemas.microsoft.com/office/drawing/2014/main" id="{A92381BE-24AE-495D-B5DE-E921516B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29000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02</a:t>
            </a:r>
          </a:p>
        </p:txBody>
      </p:sp>
      <p:sp>
        <p:nvSpPr>
          <p:cNvPr id="14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4B08B67B-F6D1-4EE4-B92C-D61B03C35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69570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разные геологи могут дать разные оценки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B6B07A0D-7A21-48B7-89CB-81651C3E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33850"/>
            <a:ext cx="4495800" cy="-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нужен единый критерий для команды</a:t>
            </a:r>
          </a:p>
        </p:txBody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800451C0-54B2-4718-AB00-BF251EC1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49530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228409F-8E81-4104-8292-2FECE5E5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14850"/>
            <a:ext cx="66675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8" name="card-kicker">
            <a:extLst xmlns:a="http://schemas.openxmlformats.org/drawingml/2006/main">
              <a:ext uri="{FF2B5EF4-FFF2-40B4-BE49-F238E27FC236}">
                <a16:creationId xmlns:a16="http://schemas.microsoft.com/office/drawing/2014/main" id="{C9AB548F-1815-457B-B142-4C0EBF04D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686300"/>
            <a:ext cx="4495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03</a:t>
            </a:r>
          </a:p>
        </p:txBody>
      </p:sp>
      <p:sp>
        <p:nvSpPr>
          <p:cNvPr id="19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B35A6732-4007-4239-BE55-C6C63FF0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4495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поток снимков трудно разбирать вручную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3CB17C7-7D34-4A30-B65F-028C8F22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391150"/>
            <a:ext cx="4495800" cy="-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нужна обработка без ручного bottleneck</a:t>
            </a:r>
          </a:p>
        </p:txBody>
      </p:sp>
    </p:spTree>
    <p:extLst>
      <p:ext uri="{BB962C8B-B14F-4D97-AF65-F5344CB8AC3E}">
        <p14:creationId xmlns:p14="http://schemas.microsoft.com/office/powerpoint/2010/main" val="18419567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788EE36-DA10-4CB4-8A0E-5FFB4EDA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Система возвращает сорт и карту талька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7053436-3098-44EE-A3E3-C07A1CE7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На выходе геолог получает не только класс, но и объяснение на изображении.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A199572-CC63-483A-B462-D2D2E113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94F9A2C-BF61-418A-BF04-49946537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03</a:t>
            </a:r>
          </a:p>
        </p:txBody>
      </p:sp>
      <p:sp>
        <p:nvSpPr>
          <p:cNvPr id="5" name="image-frame">
            <a:extLst xmlns:a="http://schemas.openxmlformats.org/drawingml/2006/main">
              <a:ext uri="{FF2B5EF4-FFF2-40B4-BE49-F238E27FC236}">
                <a16:creationId xmlns:a16="http://schemas.microsoft.com/office/drawing/2014/main" id="{15ECC949-6F83-4827-963C-40D559D2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52625"/>
            <a:ext cx="6191250" cy="335280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0B0F17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4d5eea630d43d9"/>
          <a:stretch xmlns:a="http://schemas.openxmlformats.org/drawingml/2006/main"/>
        </p:blipFill>
        <p:spPr>
          <a:xfrm xmlns:a="http://schemas.openxmlformats.org/drawingml/2006/main">
            <a:off x="628650" y="2556342"/>
            <a:ext cx="6000750" cy="1840566"/>
          </a:xfrm>
          <a:prstGeom xmlns:a="http://schemas.openxmlformats.org/drawingml/2006/main" prst="rect">
            <a:avLst/>
          </a:prstGeom>
        </p:spPr>
      </p:pic>
      <p:sp>
        <p:nvSpPr>
          <p:cNvPr id="7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41FDFB9C-C39D-47D4-AD99-8EE58BC81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81575"/>
            <a:ext cx="5848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6D0DF"/>
                </a:solidFill>
              </a:defRPr>
            </a:pPr>
            <a:r>
              <a:rPr sz="1050">
                <a:solidFill>
                  <a:srgbClr val="C6D0DF"/>
                </a:solidFill>
              </a:rPr>
              <a:t>пример экрана результата</a:t>
            </a:r>
          </a:p>
        </p:txBody>
      </p:sp>
      <p:sp>
        <p:nvSpPr>
          <p:cNvPr id="8" name="dark-card">
            <a:extLst xmlns:a="http://schemas.openxmlformats.org/drawingml/2006/main">
              <a:ext uri="{FF2B5EF4-FFF2-40B4-BE49-F238E27FC236}">
                <a16:creationId xmlns:a16="http://schemas.microsoft.com/office/drawing/2014/main" id="{CAD09360-B756-41E7-A67E-EC3FB228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952625"/>
            <a:ext cx="3810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5D6E5392-5D95-43BA-A618-148ECEB47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181225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1. Вердикт</a:t>
            </a:r>
          </a:p>
        </p:txBody>
      </p:sp>
      <p:sp>
        <p:nvSpPr>
          <p:cNvPr id="10" name="dark-body">
            <a:extLst xmlns:a="http://schemas.openxmlformats.org/drawingml/2006/main">
              <a:ext uri="{FF2B5EF4-FFF2-40B4-BE49-F238E27FC236}">
                <a16:creationId xmlns:a16="http://schemas.microsoft.com/office/drawing/2014/main" id="{E3EB3E9D-A429-4C06-992D-EF17638CE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76525"/>
            <a:ext cx="3352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один из трёх сортов руды выводится крупно и понятно</a:t>
            </a:r>
          </a:p>
        </p:txBody>
      </p:sp>
      <p:sp>
        <p:nvSpPr>
          <p:cNvPr id="11" name="dark-card">
            <a:extLst xmlns:a="http://schemas.openxmlformats.org/drawingml/2006/main">
              <a:ext uri="{FF2B5EF4-FFF2-40B4-BE49-F238E27FC236}">
                <a16:creationId xmlns:a16="http://schemas.microsoft.com/office/drawing/2014/main" id="{0426FE30-52DB-4163-B61B-07A05E27B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57550"/>
            <a:ext cx="3810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78211139-2FA7-4C34-AAA0-7553312D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486150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2. Маска</a:t>
            </a:r>
          </a:p>
        </p:txBody>
      </p:sp>
      <p:sp>
        <p:nvSpPr>
          <p:cNvPr id="13" name="dark-body">
            <a:extLst xmlns:a="http://schemas.openxmlformats.org/drawingml/2006/main">
              <a:ext uri="{FF2B5EF4-FFF2-40B4-BE49-F238E27FC236}">
                <a16:creationId xmlns:a16="http://schemas.microsoft.com/office/drawing/2014/main" id="{0C8ACB16-25BD-4B42-9E9F-CF4E09CA1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981450"/>
            <a:ext cx="3352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тальк подсвечивается на снимке синим цветом</a:t>
            </a:r>
          </a:p>
        </p:txBody>
      </p:sp>
      <p:sp>
        <p:nvSpPr>
          <p:cNvPr id="14" name="dark-card">
            <a:extLst xmlns:a="http://schemas.openxmlformats.org/drawingml/2006/main">
              <a:ext uri="{FF2B5EF4-FFF2-40B4-BE49-F238E27FC236}">
                <a16:creationId xmlns:a16="http://schemas.microsoft.com/office/drawing/2014/main" id="{04F8B575-CA2D-467E-A3C1-20739F10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62475"/>
            <a:ext cx="38100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3570AA0F-85F8-4456-BD5D-70400F83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791075"/>
            <a:ext cx="335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3. Метрики</a:t>
            </a:r>
          </a:p>
        </p:txBody>
      </p:sp>
      <p:sp>
        <p:nvSpPr>
          <p:cNvPr id="16" name="dark-body">
            <a:extLst xmlns:a="http://schemas.openxmlformats.org/drawingml/2006/main">
              <a:ext uri="{FF2B5EF4-FFF2-40B4-BE49-F238E27FC236}">
                <a16:creationId xmlns:a16="http://schemas.microsoft.com/office/drawing/2014/main" id="{59EBD6B2-F45D-43DC-A55B-7BB558726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286375"/>
            <a:ext cx="3352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процент талька, источник ответа и время обработки уходят в отчёт</a:t>
            </a:r>
          </a:p>
        </p:txBody>
      </p:sp>
    </p:spTree>
    <p:extLst>
      <p:ext uri="{BB962C8B-B14F-4D97-AF65-F5344CB8AC3E}">
        <p14:creationId xmlns:p14="http://schemas.microsoft.com/office/powerpoint/2010/main" val="20373028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5760EC-F26F-448A-8B52-89D7CC33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Три сорта задают разные технологические действия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F62A6E4-F430-4EA4-B81D-8A985C3E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Классы простые для интерфейса, но важные для последующей переработки.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502A32F-FD73-4173-97FC-6F484C05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973AA4D-54E6-4326-A80B-12D05A2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04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B1C5CCA3-7FE0-4EE6-9AA1-4ECA77876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276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8F6EE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3BFE511-1BAB-449F-BBB2-3D02DC53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7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07F6086D-E886-47F5-BBA8-D096F675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Рядовая</a:t>
            </a:r>
          </a:p>
        </p:txBody>
      </p:sp>
      <p:sp>
        <p:nvSpPr>
          <p:cNvPr id="8" name="card-body">
            <a:extLst xmlns:a="http://schemas.openxmlformats.org/drawingml/2006/main">
              <a:ext uri="{FF2B5EF4-FFF2-40B4-BE49-F238E27FC236}">
                <a16:creationId xmlns:a16="http://schemas.microsoft.com/office/drawing/2014/main" id="{66FE209C-64BB-45AF-BBB5-2E5BE877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819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обычная руда, нормально обогащается</a:t>
            </a:r>
          </a:p>
        </p:txBody>
      </p:sp>
      <p:sp>
        <p:nvSpPr>
          <p:cNvPr id="9" name="class-num-0">
            <a:extLst xmlns:a="http://schemas.openxmlformats.org/drawingml/2006/main">
              <a:ext uri="{FF2B5EF4-FFF2-40B4-BE49-F238E27FC236}">
                <a16:creationId xmlns:a16="http://schemas.microsoft.com/office/drawing/2014/main" id="{B36F6CF8-F0F9-4529-9DB8-DA65E30C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14750"/>
            <a:ext cx="72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69653"/>
                </a:solidFill>
              </a:defRPr>
            </a:pPr>
            <a:r>
              <a:rPr sz="3375" b="1">
                <a:solidFill>
                  <a:srgbClr val="169653"/>
                </a:solidFill>
              </a:rPr>
              <a:t>01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B153474D-C2D3-4F18-B730-82BE7E9D6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3276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FFF3D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19C6E7C-4878-4F83-AA55-75195CBD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9550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D4375E2A-B41C-4536-95B0-A2C53BB7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3241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Труднообогатимая</a:t>
            </a:r>
          </a:p>
        </p:txBody>
      </p:sp>
      <p:sp>
        <p:nvSpPr>
          <p:cNvPr id="13" name="card-body">
            <a:extLst xmlns:a="http://schemas.openxmlformats.org/drawingml/2006/main">
              <a:ext uri="{FF2B5EF4-FFF2-40B4-BE49-F238E27FC236}">
                <a16:creationId xmlns:a16="http://schemas.microsoft.com/office/drawing/2014/main" id="{BE7382D7-4E10-4E67-89EA-6BEA74727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металл извлекается сложнее</a:t>
            </a:r>
          </a:p>
        </p:txBody>
      </p:sp>
      <p:sp>
        <p:nvSpPr>
          <p:cNvPr id="14" name="class-num-1">
            <a:extLst xmlns:a="http://schemas.openxmlformats.org/drawingml/2006/main">
              <a:ext uri="{FF2B5EF4-FFF2-40B4-BE49-F238E27FC236}">
                <a16:creationId xmlns:a16="http://schemas.microsoft.com/office/drawing/2014/main" id="{445EC6A7-431F-4B0E-B725-5E692260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14750"/>
            <a:ext cx="72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D97706"/>
                </a:solidFill>
              </a:defRPr>
            </a:pPr>
            <a:r>
              <a:rPr sz="3375" b="1">
                <a:solidFill>
                  <a:srgbClr val="D97706"/>
                </a:solidFill>
              </a:rPr>
              <a:t>02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61A50359-0D6F-4A28-B881-CCF3639E8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276600" cy="2667000"/>
          </a:xfrm>
          <a:prstGeom xmlns:a="http://schemas.openxmlformats.org/drawingml/2006/main" prst="roundRect">
            <a:avLst>
              <a:gd name="adj" fmla="val 4286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03C6178-6691-4B77-AE62-DD85C8BD7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792E1CF3-3AF0-47A7-B126-37CDD9EF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Оталькованная</a:t>
            </a:r>
          </a:p>
        </p:txBody>
      </p:sp>
      <p:sp>
        <p:nvSpPr>
          <p:cNvPr id="18" name="card-body">
            <a:extLst xmlns:a="http://schemas.openxmlformats.org/drawingml/2006/main">
              <a:ext uri="{FF2B5EF4-FFF2-40B4-BE49-F238E27FC236}">
                <a16:creationId xmlns:a16="http://schemas.microsoft.com/office/drawing/2014/main" id="{B395B802-B08E-480B-89D1-31B7E295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19400"/>
            <a:ext cx="2819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много талька, который мешает переработке</a:t>
            </a:r>
          </a:p>
        </p:txBody>
      </p:sp>
      <p:sp>
        <p:nvSpPr>
          <p:cNvPr id="19" name="class-num-2">
            <a:extLst xmlns:a="http://schemas.openxmlformats.org/drawingml/2006/main">
              <a:ext uri="{FF2B5EF4-FFF2-40B4-BE49-F238E27FC236}">
                <a16:creationId xmlns:a16="http://schemas.microsoft.com/office/drawing/2014/main" id="{9156F933-251F-4FC5-AB0D-BDA91191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714750"/>
            <a:ext cx="723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2563EB"/>
                </a:solidFill>
              </a:defRPr>
            </a:pPr>
            <a:r>
              <a:rPr sz="3375" b="1">
                <a:solidFill>
                  <a:srgbClr val="2563EB"/>
                </a:solidFill>
              </a:rPr>
              <a:t>03</a:t>
            </a:r>
          </a:p>
        </p:txBody>
      </p:sp>
      <p:sp>
        <p:nvSpPr>
          <p:cNvPr id="20" name="note">
            <a:extLst xmlns:a="http://schemas.openxmlformats.org/drawingml/2006/main">
              <a:ext uri="{FF2B5EF4-FFF2-40B4-BE49-F238E27FC236}">
                <a16:creationId xmlns:a16="http://schemas.microsoft.com/office/drawing/2014/main" id="{00CF7B9F-4493-4BC8-915C-C6F00A4A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6375"/>
            <a:ext cx="106680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note-text">
            <a:extLst xmlns:a="http://schemas.openxmlformats.org/drawingml/2006/main">
              <a:ext uri="{FF2B5EF4-FFF2-40B4-BE49-F238E27FC236}">
                <a16:creationId xmlns:a16="http://schemas.microsoft.com/office/drawing/2014/main" id="{359F245B-DF79-46B4-BD02-7287287C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0545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Важно: ordinary и hard_to_process разделяет только классификатор P2. Сегментация P1 отвечает за тальк, а не за срастания.</a:t>
            </a:r>
          </a:p>
        </p:txBody>
      </p:sp>
    </p:spTree>
    <p:extLst>
      <p:ext uri="{BB962C8B-B14F-4D97-AF65-F5344CB8AC3E}">
        <p14:creationId xmlns:p14="http://schemas.microsoft.com/office/powerpoint/2010/main" val="8499997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304EB9C-0411-4A73-9754-AA266F43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Архитектура разделяет “что это” и “где тальк”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13A48AD-35CB-4895-900E-F481FEDB3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Две независимые ветки дают разные части ответа, а P3 собирает их в единый результат.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BA3D725-0BCB-4E3D-A232-908CA7345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B52FF30-8406-4FBD-ADD2-E1DDA428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05</a:t>
            </a:r>
          </a:p>
        </p:txBody>
      </p:sp>
      <p:sp>
        <p:nvSpPr>
          <p:cNvPr id="5" name="step">
            <a:extLst xmlns:a="http://schemas.openxmlformats.org/drawingml/2006/main">
              <a:ext uri="{FF2B5EF4-FFF2-40B4-BE49-F238E27FC236}">
                <a16:creationId xmlns:a16="http://schemas.microsoft.com/office/drawing/2014/main" id="{D4363B7E-C4C9-4733-8C43-FC4E076D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33362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hip">
            <a:extLst xmlns:a="http://schemas.openxmlformats.org/drawingml/2006/main">
              <a:ext uri="{FF2B5EF4-FFF2-40B4-BE49-F238E27FC236}">
                <a16:creationId xmlns:a16="http://schemas.microsoft.com/office/drawing/2014/main" id="{D94992E3-B97E-4773-94A2-9200E3187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24125"/>
            <a:ext cx="7048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8F6EE"/>
          </a:solidFill>
          <a:ln xmlns:a="http://schemas.openxmlformats.org/drawingml/2006/main" w="9525">
            <a:solidFill>
              <a:srgbClr val="16965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chip-text">
            <a:extLst xmlns:a="http://schemas.openxmlformats.org/drawingml/2006/main">
              <a:ext uri="{FF2B5EF4-FFF2-40B4-BE49-F238E27FC236}">
                <a16:creationId xmlns:a16="http://schemas.microsoft.com/office/drawing/2014/main" id="{BB4D6821-E425-4036-9927-9CF60123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6003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P2</a:t>
            </a:r>
          </a:p>
        </p:txBody>
      </p:sp>
      <p:sp>
        <p:nvSpPr>
          <p:cNvPr id="8" name="step-heading">
            <a:extLst xmlns:a="http://schemas.openxmlformats.org/drawingml/2006/main">
              <a:ext uri="{FF2B5EF4-FFF2-40B4-BE49-F238E27FC236}">
                <a16:creationId xmlns:a16="http://schemas.microsoft.com/office/drawing/2014/main" id="{3FC4DF49-EAAC-47F4-ACEA-8DE33F7F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81325"/>
            <a:ext cx="1914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Классификатор</a:t>
            </a:r>
          </a:p>
        </p:txBody>
      </p:sp>
      <p:sp>
        <p:nvSpPr>
          <p:cNvPr id="9" name="step-body">
            <a:extLst xmlns:a="http://schemas.openxmlformats.org/drawingml/2006/main">
              <a:ext uri="{FF2B5EF4-FFF2-40B4-BE49-F238E27FC236}">
                <a16:creationId xmlns:a16="http://schemas.microsoft.com/office/drawing/2014/main" id="{D06B4D43-B37E-4AA9-9F0F-7C502E738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43275"/>
            <a:ext cx="19145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смотрит на снимок целиком и отдаёт сорт</a:t>
            </a:r>
          </a:p>
        </p:txBody>
      </p:sp>
      <p:sp>
        <p:nvSpPr>
          <p:cNvPr id="10" name="step">
            <a:extLst xmlns:a="http://schemas.openxmlformats.org/drawingml/2006/main">
              <a:ext uri="{FF2B5EF4-FFF2-40B4-BE49-F238E27FC236}">
                <a16:creationId xmlns:a16="http://schemas.microsoft.com/office/drawing/2014/main" id="{397DE70D-73AA-40FB-A179-56D2116CA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233362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chip">
            <a:extLst xmlns:a="http://schemas.openxmlformats.org/drawingml/2006/main">
              <a:ext uri="{FF2B5EF4-FFF2-40B4-BE49-F238E27FC236}">
                <a16:creationId xmlns:a16="http://schemas.microsoft.com/office/drawing/2014/main" id="{073439C0-49A5-4FDC-BE99-09CB8B64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29125"/>
            <a:ext cx="7048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hip-text">
            <a:extLst xmlns:a="http://schemas.openxmlformats.org/drawingml/2006/main">
              <a:ext uri="{FF2B5EF4-FFF2-40B4-BE49-F238E27FC236}">
                <a16:creationId xmlns:a16="http://schemas.microsoft.com/office/drawing/2014/main" id="{DE3A41BC-3D44-4755-8E2A-E7FFF33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053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</a:rPr>
              <a:t>P1</a:t>
            </a:r>
          </a:p>
        </p:txBody>
      </p:sp>
      <p:sp>
        <p:nvSpPr>
          <p:cNvPr id="13" name="step-heading">
            <a:extLst xmlns:a="http://schemas.openxmlformats.org/drawingml/2006/main">
              <a:ext uri="{FF2B5EF4-FFF2-40B4-BE49-F238E27FC236}">
                <a16:creationId xmlns:a16="http://schemas.microsoft.com/office/drawing/2014/main" id="{2B20886F-885A-44D3-AFFC-37904E4F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86325"/>
            <a:ext cx="19145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Сегментация</a:t>
            </a:r>
          </a:p>
        </p:txBody>
      </p:sp>
      <p:sp>
        <p:nvSpPr>
          <p:cNvPr id="14" name="step-body">
            <a:extLst xmlns:a="http://schemas.openxmlformats.org/drawingml/2006/main">
              <a:ext uri="{FF2B5EF4-FFF2-40B4-BE49-F238E27FC236}">
                <a16:creationId xmlns:a16="http://schemas.microsoft.com/office/drawing/2014/main" id="{A003F73A-8461-4564-85A5-2FEC5D50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48275"/>
            <a:ext cx="19145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строит маску талька и считает talc_pct</a:t>
            </a:r>
          </a:p>
        </p:txBody>
      </p:sp>
      <p:sp>
        <p:nvSpPr>
          <p:cNvPr id="15" name="arrow">
            <a:extLst xmlns:a="http://schemas.openxmlformats.org/drawingml/2006/main">
              <a:ext uri="{FF2B5EF4-FFF2-40B4-BE49-F238E27FC236}">
                <a16:creationId xmlns:a16="http://schemas.microsoft.com/office/drawing/2014/main" id="{06EA3905-5F67-4FC7-AF02-DD799A3E7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352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39B0892D-8CBF-4BF0-ABCA-708685D4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76550"/>
            <a:ext cx="26193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3A3B04E-C386-4997-80B4-51139F75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76550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0">
            <a:solidFill>
              <a:srgbClr val="6D5BD0"/>
            </a:solidFill>
            <a:prstDash val="solid"/>
          </a:ln>
        </p:spPr>
      </p:sp>
      <p:sp>
        <p:nvSpPr>
          <p:cNvPr id="18" name="card-kicker">
            <a:extLst xmlns:a="http://schemas.openxmlformats.org/drawingml/2006/main">
              <a:ext uri="{FF2B5EF4-FFF2-40B4-BE49-F238E27FC236}">
                <a16:creationId xmlns:a16="http://schemas.microsoft.com/office/drawing/2014/main" id="{6AED08A6-E00E-489B-A81A-9B28DD609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21621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P3</a:t>
            </a:r>
          </a:p>
        </p:txBody>
      </p:sp>
      <p:sp>
        <p:nvSpPr>
          <p:cNvPr id="19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D301AFAD-B2D9-4C29-9489-DBA25F69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314700"/>
            <a:ext cx="21621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D5BD0"/>
                </a:solidFill>
              </a:defRPr>
            </a:pPr>
            <a:r>
              <a:rPr sz="1800" b="1">
                <a:solidFill>
                  <a:srgbClr val="6D5BD0"/>
                </a:solidFill>
              </a:rPr>
              <a:t>analyze()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A3E32AA6-E8C6-4C18-AD6B-FB08EF84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52850"/>
            <a:ext cx="21621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склеивает verdict, talc_pct, mask, confidence и consistency_check</a:t>
            </a:r>
          </a:p>
        </p:txBody>
      </p:sp>
      <p:sp>
        <p:nvSpPr>
          <p:cNvPr id="21" name="arrow">
            <a:extLst xmlns:a="http://schemas.openxmlformats.org/drawingml/2006/main">
              <a:ext uri="{FF2B5EF4-FFF2-40B4-BE49-F238E27FC236}">
                <a16:creationId xmlns:a16="http://schemas.microsoft.com/office/drawing/2014/main" id="{B2E68292-8221-4420-B5BE-E14C188F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528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64748B"/>
                </a:solidFill>
              </a:defRPr>
            </a:pPr>
            <a:r>
              <a:rPr sz="2550" b="1">
                <a:solidFill>
                  <a:srgbClr val="64748B"/>
                </a:solidFill>
              </a:rPr>
              <a:t>→</a:t>
            </a:r>
          </a:p>
        </p:txBody>
      </p:sp>
      <p:sp>
        <p:nvSpPr>
          <p:cNvPr id="22" name="card">
            <a:extLst xmlns:a="http://schemas.openxmlformats.org/drawingml/2006/main">
              <a:ext uri="{FF2B5EF4-FFF2-40B4-BE49-F238E27FC236}">
                <a16:creationId xmlns:a16="http://schemas.microsoft.com/office/drawing/2014/main" id="{804C18C7-9982-4546-8413-3C653BB8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314325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2565700-9118-4C91-B3D5-011C69F46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76550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4" name="card-kicker">
            <a:extLst xmlns:a="http://schemas.openxmlformats.org/drawingml/2006/main">
              <a:ext uri="{FF2B5EF4-FFF2-40B4-BE49-F238E27FC236}">
                <a16:creationId xmlns:a16="http://schemas.microsoft.com/office/drawing/2014/main" id="{44681C92-6F78-43A8-9DBD-2D2DCB22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4800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P4</a:t>
            </a:r>
          </a:p>
        </p:txBody>
      </p:sp>
      <p:sp>
        <p:nvSpPr>
          <p:cNvPr id="25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F7D1FBED-0A8F-481A-B254-3968EE11A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31470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Интерфейс</a:t>
            </a:r>
          </a:p>
        </p:txBody>
      </p:sp>
      <p:sp>
        <p:nvSpPr>
          <p:cNvPr id="26" name="card-body">
            <a:extLst xmlns:a="http://schemas.openxmlformats.org/drawingml/2006/main">
              <a:ext uri="{FF2B5EF4-FFF2-40B4-BE49-F238E27FC236}">
                <a16:creationId xmlns:a16="http://schemas.microsoft.com/office/drawing/2014/main" id="{EF254E00-58E4-4D97-8862-29D48F20D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52850"/>
            <a:ext cx="26860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показывает результат, даёт проверку геологом и экспорт</a:t>
            </a:r>
          </a:p>
        </p:txBody>
      </p:sp>
      <p:sp>
        <p:nvSpPr>
          <p:cNvPr id="27" name="rule">
            <a:extLst xmlns:a="http://schemas.openxmlformats.org/drawingml/2006/main">
              <a:ext uri="{FF2B5EF4-FFF2-40B4-BE49-F238E27FC236}">
                <a16:creationId xmlns:a16="http://schemas.microsoft.com/office/drawing/2014/main" id="{03CF90EB-757C-4206-97FD-14DAEACA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191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83180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C766D4-2514-41DE-9E24-8F4C1C053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P1 превращает микрофото в измеримую маску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741C81E-112B-412D-B981-30DA26B5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Сегментация отвечает за видимую часть результата: где тальк и сколько его.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CE291F5-9228-4B0A-BC5A-6DFD9A4DF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09D09A7-13C7-4BA3-BBFD-D5D6FF15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06</a:t>
            </a:r>
          </a:p>
        </p:txBody>
      </p:sp>
      <p:sp>
        <p:nvSpPr>
          <p:cNvPr id="5" name="dark-card">
            <a:extLst xmlns:a="http://schemas.openxmlformats.org/drawingml/2006/main">
              <a:ext uri="{FF2B5EF4-FFF2-40B4-BE49-F238E27FC236}">
                <a16:creationId xmlns:a16="http://schemas.microsoft.com/office/drawing/2014/main" id="{344DD4BB-09A0-44B9-BFBC-66F6D2C8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3143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F94C1A25-623F-4BB9-BE91-C3405E7D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71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D4BF"/>
                </a:solidFill>
              </a:defRPr>
            </a:pPr>
            <a:r>
              <a:rPr sz="1800" b="1">
                <a:solidFill>
                  <a:srgbClr val="2DD4BF"/>
                </a:solidFill>
              </a:rPr>
              <a:t>Нормализация</a:t>
            </a:r>
          </a:p>
        </p:txBody>
      </p:sp>
      <p:sp>
        <p:nvSpPr>
          <p:cNvPr id="7" name="dark-body">
            <a:extLst xmlns:a="http://schemas.openxmlformats.org/drawingml/2006/main">
              <a:ext uri="{FF2B5EF4-FFF2-40B4-BE49-F238E27FC236}">
                <a16:creationId xmlns:a16="http://schemas.microsoft.com/office/drawing/2014/main" id="{1B296275-B61D-4AB3-9C09-8633E213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670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сначала выравнивается освещение и цветовой каст снимка</a:t>
            </a:r>
          </a:p>
        </p:txBody>
      </p:sp>
      <p:sp>
        <p:nvSpPr>
          <p:cNvPr id="8" name="dark-card">
            <a:extLst xmlns:a="http://schemas.openxmlformats.org/drawingml/2006/main">
              <a:ext uri="{FF2B5EF4-FFF2-40B4-BE49-F238E27FC236}">
                <a16:creationId xmlns:a16="http://schemas.microsoft.com/office/drawing/2014/main" id="{515015FF-AB8D-4981-B01F-95D35406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43125"/>
            <a:ext cx="3143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0DFF106C-E0BB-4D9E-9204-C97C8F7F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371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Детекция</a:t>
            </a:r>
          </a:p>
        </p:txBody>
      </p:sp>
      <p:sp>
        <p:nvSpPr>
          <p:cNvPr id="10" name="dark-body">
            <a:extLst xmlns:a="http://schemas.openxmlformats.org/drawingml/2006/main">
              <a:ext uri="{FF2B5EF4-FFF2-40B4-BE49-F238E27FC236}">
                <a16:creationId xmlns:a16="http://schemas.microsoft.com/office/drawing/2014/main" id="{0823CACD-7F28-4C4A-B966-42B1A842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670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ищутся тёмные гладкие зоны, отличающиеся от локального фона</a:t>
            </a:r>
          </a:p>
        </p:txBody>
      </p:sp>
      <p:sp>
        <p:nvSpPr>
          <p:cNvPr id="11" name="dark-card">
            <a:extLst xmlns:a="http://schemas.openxmlformats.org/drawingml/2006/main">
              <a:ext uri="{FF2B5EF4-FFF2-40B4-BE49-F238E27FC236}">
                <a16:creationId xmlns:a16="http://schemas.microsoft.com/office/drawing/2014/main" id="{823AAE2E-EF9E-4BCD-8795-B6E92638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43125"/>
            <a:ext cx="31432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C369637A-1BE8-47A4-B47D-9742276D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71725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Маска</a:t>
            </a:r>
          </a:p>
        </p:txBody>
      </p:sp>
      <p:sp>
        <p:nvSpPr>
          <p:cNvPr id="13" name="dark-body">
            <a:extLst xmlns:a="http://schemas.openxmlformats.org/drawingml/2006/main">
              <a:ext uri="{FF2B5EF4-FFF2-40B4-BE49-F238E27FC236}">
                <a16:creationId xmlns:a16="http://schemas.microsoft.com/office/drawing/2014/main" id="{5DD13C05-3B7B-4BB0-B37E-4795FBE77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67025"/>
            <a:ext cx="2686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найденный тальк накладывается синим слоем поверх исходника</a:t>
            </a:r>
          </a:p>
        </p:txBody>
      </p:sp>
      <p:sp>
        <p:nvSpPr>
          <p:cNvPr id="14" name="arrow">
            <a:extLst xmlns:a="http://schemas.openxmlformats.org/drawingml/2006/main">
              <a:ext uri="{FF2B5EF4-FFF2-40B4-BE49-F238E27FC236}">
                <a16:creationId xmlns:a16="http://schemas.microsoft.com/office/drawing/2014/main" id="{B419541B-661B-4DD3-A533-3E66E588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90A4BC"/>
                </a:solidFill>
              </a:defRPr>
            </a:pPr>
            <a:r>
              <a:rPr sz="2550" b="1">
                <a:solidFill>
                  <a:srgbClr val="90A4BC"/>
                </a:solidFill>
              </a:rPr>
              <a:t>→</a:t>
            </a:r>
          </a:p>
        </p:txBody>
      </p:sp>
      <p:sp>
        <p:nvSpPr>
          <p:cNvPr id="15" name="arrow">
            <a:extLst xmlns:a="http://schemas.openxmlformats.org/drawingml/2006/main">
              <a:ext uri="{FF2B5EF4-FFF2-40B4-BE49-F238E27FC236}">
                <a16:creationId xmlns:a16="http://schemas.microsoft.com/office/drawing/2014/main" id="{BCBF0681-FF80-416F-8650-094B9FEB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57175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90A4BC"/>
                </a:solidFill>
              </a:defRPr>
            </a:pPr>
            <a:r>
              <a:rPr sz="2550" b="1">
                <a:solidFill>
                  <a:srgbClr val="90A4BC"/>
                </a:solidFill>
              </a:rPr>
              <a:t>→</a:t>
            </a:r>
          </a:p>
        </p:txBody>
      </p:sp>
      <p:sp>
        <p:nvSpPr>
          <p:cNvPr id="16" name="output">
            <a:extLst xmlns:a="http://schemas.openxmlformats.org/drawingml/2006/main">
              <a:ext uri="{FF2B5EF4-FFF2-40B4-BE49-F238E27FC236}">
                <a16:creationId xmlns:a16="http://schemas.microsoft.com/office/drawing/2014/main" id="{DC3B7861-BE4C-4DE5-8B10-25920154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33875"/>
            <a:ext cx="91440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output-text">
            <a:extLst xmlns:a="http://schemas.openxmlformats.org/drawingml/2006/main">
              <a:ext uri="{FF2B5EF4-FFF2-40B4-BE49-F238E27FC236}">
                <a16:creationId xmlns:a16="http://schemas.microsoft.com/office/drawing/2014/main" id="{AF989EAB-6C08-4A4C-B60D-1D99756A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629150"/>
            <a:ext cx="8343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8FAFC"/>
                </a:solidFill>
              </a:defRPr>
            </a:pPr>
            <a:r>
              <a:rPr sz="1875" b="1">
                <a:solidFill>
                  <a:srgbClr val="F8FAFC"/>
                </a:solidFill>
              </a:rPr>
              <a:t>Выход P1: talc_mask + talc_pct. Эти поля нужны для объяснения вердикта и для контроля качества геологом.</a:t>
            </a:r>
          </a:p>
        </p:txBody>
      </p:sp>
    </p:spTree>
    <p:extLst>
      <p:ext uri="{BB962C8B-B14F-4D97-AF65-F5344CB8AC3E}">
        <p14:creationId xmlns:p14="http://schemas.microsoft.com/office/powerpoint/2010/main" val="1051932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AFF2693-E59A-4312-8BE1-C541A80A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P1 устойчив к разному свету и масштабу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9109D21-8DD3-4949-AAE0-902802CD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Алгоритм проектировался под реальные снимки, где цвет и яркость сильно гуляют.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BDA08C19-6DA6-4B28-B45F-1EF3E904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B5571A0-4E11-4E01-8E15-EE28F47CB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07</a:t>
            </a:r>
          </a:p>
        </p:txBody>
      </p:sp>
      <p:sp>
        <p:nvSpPr>
          <p:cNvPr id="5" name="main">
            <a:extLst xmlns:a="http://schemas.openxmlformats.org/drawingml/2006/main">
              <a:ext uri="{FF2B5EF4-FFF2-40B4-BE49-F238E27FC236}">
                <a16:creationId xmlns:a16="http://schemas.microsoft.com/office/drawing/2014/main" id="{571DC9C3-ACA0-48AE-8491-64FE35A5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4572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Перед порогами снимок нормализуется, а большие панорамы режутся на тайлы с перекрытием.</a:t>
            </a:r>
          </a:p>
        </p:txBody>
      </p:sp>
      <p:sp>
        <p:nvSpPr>
          <p:cNvPr id="6" name="bullet">
            <a:extLst xmlns:a="http://schemas.openxmlformats.org/drawingml/2006/main">
              <a:ext uri="{FF2B5EF4-FFF2-40B4-BE49-F238E27FC236}">
                <a16:creationId xmlns:a16="http://schemas.microsoft.com/office/drawing/2014/main" id="{1AA628CE-864D-403B-8056-B655A78E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004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D4BF"/>
          </a:solidFill>
          <a:ln xmlns:a="http://schemas.openxmlformats.org/drawingml/2006/main" w="0">
            <a:solidFill>
              <a:srgbClr val="2DD4BF"/>
            </a:solidFill>
            <a:prstDash val="solid"/>
          </a:ln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F76D144-3D80-400D-973E-0D675E81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14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gray-world баланс белого убирает общий цветовой каст</a:t>
            </a:r>
          </a:p>
        </p:txBody>
      </p:sp>
      <p:sp>
        <p:nvSpPr>
          <p:cNvPr id="8" name="bullet">
            <a:extLst xmlns:a="http://schemas.openxmlformats.org/drawingml/2006/main">
              <a:ext uri="{FF2B5EF4-FFF2-40B4-BE49-F238E27FC236}">
                <a16:creationId xmlns:a16="http://schemas.microsoft.com/office/drawing/2014/main" id="{BC7D66EF-EB54-4606-9AA1-3E8135C6F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719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5463F0B0-8CF5-43E2-A5EC-6D9B9C80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локальный контраст помогает отличать тальк от тени</a:t>
            </a:r>
          </a:p>
        </p:txBody>
      </p:sp>
      <p:sp>
        <p:nvSpPr>
          <p:cNvPr id="10" name="bullet">
            <a:extLst xmlns:a="http://schemas.openxmlformats.org/drawingml/2006/main">
              <a:ext uri="{FF2B5EF4-FFF2-40B4-BE49-F238E27FC236}">
                <a16:creationId xmlns:a16="http://schemas.microsoft.com/office/drawing/2014/main" id="{C545EE1B-6384-43B8-942C-BA97B294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434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4530EA6B-9948-4AFF-9377-9E940F86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тайлинг сохраняет путь для больших панорам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45D67ADA-105B-4DE6-A719-2798C3222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4000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C27D142-3D5A-4CBC-8E74-F37C53D68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955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4" name="card-kicker">
            <a:extLst xmlns:a="http://schemas.openxmlformats.org/drawingml/2006/main">
              <a:ext uri="{FF2B5EF4-FFF2-40B4-BE49-F238E27FC236}">
                <a16:creationId xmlns:a16="http://schemas.microsoft.com/office/drawing/2014/main" id="{4AA973CD-9FA2-4A62-817B-B285646D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66950"/>
            <a:ext cx="354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порог</a:t>
            </a:r>
          </a:p>
        </p:txBody>
      </p:sp>
      <p:sp>
        <p:nvSpPr>
          <p:cNvPr id="15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92511651-8228-4C35-94AC-CD1B3F0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TALC_VERDICT_THRESHOLD</a:t>
            </a:r>
          </a:p>
        </p:txBody>
      </p:sp>
      <p:sp>
        <p:nvSpPr>
          <p:cNvPr id="16" name="card-body">
            <a:extLst xmlns:a="http://schemas.openxmlformats.org/drawingml/2006/main">
              <a:ext uri="{FF2B5EF4-FFF2-40B4-BE49-F238E27FC236}">
                <a16:creationId xmlns:a16="http://schemas.microsoft.com/office/drawing/2014/main" id="{9A8B6FB7-3110-4B52-BBEB-8719CFA9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971800"/>
            <a:ext cx="354330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используется для проверки согласованности и fallback, не заменяет P2</a:t>
            </a:r>
          </a:p>
        </p:txBody>
      </p:sp>
      <p:sp>
        <p:nvSpPr>
          <p:cNvPr id="17" name="card">
            <a:extLst xmlns:a="http://schemas.openxmlformats.org/drawingml/2006/main">
              <a:ext uri="{FF2B5EF4-FFF2-40B4-BE49-F238E27FC236}">
                <a16:creationId xmlns:a16="http://schemas.microsoft.com/office/drawing/2014/main" id="{92D21F7A-B70D-41AD-9257-58BCF596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40005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6E3C499-F682-47E6-B349-AE9160EF1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71875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card-kicker">
            <a:extLst xmlns:a="http://schemas.openxmlformats.org/drawingml/2006/main">
              <a:ext uri="{FF2B5EF4-FFF2-40B4-BE49-F238E27FC236}">
                <a16:creationId xmlns:a16="http://schemas.microsoft.com/office/drawing/2014/main" id="{CFA2EFB2-DE29-4071-AA7D-8C226863A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743325"/>
            <a:ext cx="3543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цель P1</a:t>
            </a:r>
          </a:p>
        </p:txBody>
      </p:sp>
      <p:sp>
        <p:nvSpPr>
          <p:cNvPr id="20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F6518D0C-4C6D-4095-81D5-4246FCCC9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010025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ошибка talc_pct ±3%</a:t>
            </a:r>
          </a:p>
        </p:txBody>
      </p:sp>
      <p:sp>
        <p:nvSpPr>
          <p:cNvPr id="21" name="card-body">
            <a:extLst xmlns:a="http://schemas.openxmlformats.org/drawingml/2006/main">
              <a:ext uri="{FF2B5EF4-FFF2-40B4-BE49-F238E27FC236}">
                <a16:creationId xmlns:a16="http://schemas.microsoft.com/office/drawing/2014/main" id="{2006293E-E02E-4FBD-949F-9047C315D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448175"/>
            <a:ext cx="354330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калибруется по синим экспертным обводкам</a:t>
            </a:r>
          </a:p>
        </p:txBody>
      </p:sp>
    </p:spTree>
    <p:extLst>
      <p:ext uri="{BB962C8B-B14F-4D97-AF65-F5344CB8AC3E}">
        <p14:creationId xmlns:p14="http://schemas.microsoft.com/office/powerpoint/2010/main" val="375956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CD1809-1E55-444E-B326-2F12FB5C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P1 ещё нужно откалибровать по обводкам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7843155-92E2-41E4-A714-B7159674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Каркас сегментации готов, но пороги должны пройти проверку на размеченных областях.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E4496A5-F3CE-4834-9AC2-D8DF3B901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364447B-9F7E-4F98-953C-5DF211356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08</a:t>
            </a:r>
          </a:p>
        </p:txBody>
      </p:sp>
      <p:sp>
        <p:nvSpPr>
          <p:cNvPr id="5" name="table-row">
            <a:extLst xmlns:a="http://schemas.openxmlformats.org/drawingml/2006/main">
              <a:ext uri="{FF2B5EF4-FFF2-40B4-BE49-F238E27FC236}">
                <a16:creationId xmlns:a16="http://schemas.microsoft.com/office/drawing/2014/main" id="{DCB9574B-89CF-4937-A54E-F5AADF8C0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1038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table-cell">
            <a:extLst xmlns:a="http://schemas.openxmlformats.org/drawingml/2006/main">
              <a:ext uri="{FF2B5EF4-FFF2-40B4-BE49-F238E27FC236}">
                <a16:creationId xmlns:a16="http://schemas.microsoft.com/office/drawing/2014/main" id="{B6A25E59-3FD4-48D2-85AA-3523F8438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Задача</a:t>
            </a:r>
          </a:p>
        </p:txBody>
      </p:sp>
      <p:sp>
        <p:nvSpPr>
          <p:cNvPr id="7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E5A5E7FC-F48F-4862-9205-3B8678BB0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095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8" name="table-cell">
            <a:extLst xmlns:a="http://schemas.openxmlformats.org/drawingml/2006/main">
              <a:ext uri="{FF2B5EF4-FFF2-40B4-BE49-F238E27FC236}">
                <a16:creationId xmlns:a16="http://schemas.microsoft.com/office/drawing/2014/main" id="{EE9E122F-B05C-4C46-A5C3-A6A80DB4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238375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Что проверяем</a:t>
            </a:r>
          </a:p>
        </p:txBody>
      </p:sp>
      <p:sp>
        <p:nvSpPr>
          <p:cNvPr id="9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DBC6E9CE-F882-4BCD-8ABB-31906DBD4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095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10" name="table-cell">
            <a:extLst xmlns:a="http://schemas.openxmlformats.org/drawingml/2006/main">
              <a:ext uri="{FF2B5EF4-FFF2-40B4-BE49-F238E27FC236}">
                <a16:creationId xmlns:a16="http://schemas.microsoft.com/office/drawing/2014/main" id="{5DD3EB2A-275E-423B-8DF5-069F3EE48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3837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Готовность</a:t>
            </a:r>
          </a:p>
        </p:txBody>
      </p:sp>
      <p:sp>
        <p:nvSpPr>
          <p:cNvPr id="11" name="table-row">
            <a:extLst xmlns:a="http://schemas.openxmlformats.org/drawingml/2006/main">
              <a:ext uri="{FF2B5EF4-FFF2-40B4-BE49-F238E27FC236}">
                <a16:creationId xmlns:a16="http://schemas.microsoft.com/office/drawing/2014/main" id="{8C0978E3-4DAF-4F35-842D-58E2AE5F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09850"/>
            <a:ext cx="1038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table-cell">
            <a:extLst xmlns:a="http://schemas.openxmlformats.org/drawingml/2006/main">
              <a:ext uri="{FF2B5EF4-FFF2-40B4-BE49-F238E27FC236}">
                <a16:creationId xmlns:a16="http://schemas.microsoft.com/office/drawing/2014/main" id="{A9429D73-CA7D-48D1-9513-53483788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extract_blue_annotations</a:t>
            </a:r>
          </a:p>
        </p:txBody>
      </p:sp>
      <p:sp>
        <p:nvSpPr>
          <p:cNvPr id="13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7760A198-6C44-4D96-AE03-DF2FF7E15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609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14" name="table-cell">
            <a:extLst xmlns:a="http://schemas.openxmlformats.org/drawingml/2006/main">
              <a:ext uri="{FF2B5EF4-FFF2-40B4-BE49-F238E27FC236}">
                <a16:creationId xmlns:a16="http://schemas.microsoft.com/office/drawing/2014/main" id="{8E0716FD-D24D-4DC6-AF6C-2D3D71805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752725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достаём экспертные синие контуры</a:t>
            </a:r>
          </a:p>
        </p:txBody>
      </p:sp>
      <p:sp>
        <p:nvSpPr>
          <p:cNvPr id="15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492C0DC0-B6D2-475A-91D1-6D472A31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098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16" name="table-cell">
            <a:extLst xmlns:a="http://schemas.openxmlformats.org/drawingml/2006/main">
              <a:ext uri="{FF2B5EF4-FFF2-40B4-BE49-F238E27FC236}">
                <a16:creationId xmlns:a16="http://schemas.microsoft.com/office/drawing/2014/main" id="{9E85FB1B-6B23-4CF9-8D49-8B5A7D07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527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есть в коде</a:t>
            </a:r>
          </a:p>
        </p:txBody>
      </p:sp>
      <p:sp>
        <p:nvSpPr>
          <p:cNvPr id="17" name="table-row">
            <a:extLst xmlns:a="http://schemas.openxmlformats.org/drawingml/2006/main">
              <a:ext uri="{FF2B5EF4-FFF2-40B4-BE49-F238E27FC236}">
                <a16:creationId xmlns:a16="http://schemas.microsoft.com/office/drawing/2014/main" id="{0132E9EF-B9F3-4A84-99A4-481C6D79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24200"/>
            <a:ext cx="1038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table-cell">
            <a:extLst xmlns:a="http://schemas.openxmlformats.org/drawingml/2006/main">
              <a:ext uri="{FF2B5EF4-FFF2-40B4-BE49-F238E27FC236}">
                <a16:creationId xmlns:a16="http://schemas.microsoft.com/office/drawing/2014/main" id="{AD1DB417-AAA7-4D36-84D3-30FA054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talc_pct</a:t>
            </a:r>
          </a:p>
        </p:txBody>
      </p:sp>
      <p:sp>
        <p:nvSpPr>
          <p:cNvPr id="19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2BA67855-3111-4E59-BB33-9D24AE32F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1242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0" name="table-cell">
            <a:extLst xmlns:a="http://schemas.openxmlformats.org/drawingml/2006/main">
              <a:ext uri="{FF2B5EF4-FFF2-40B4-BE49-F238E27FC236}">
                <a16:creationId xmlns:a16="http://schemas.microsoft.com/office/drawing/2014/main" id="{71B37137-B3DC-4EE7-B309-556DE01ED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267075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сравниваем долю с эталоном</a:t>
            </a:r>
          </a:p>
        </p:txBody>
      </p:sp>
      <p:sp>
        <p:nvSpPr>
          <p:cNvPr id="21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160AA4D0-6C5F-4545-A934-319C891E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242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2" name="table-cell">
            <a:extLst xmlns:a="http://schemas.openxmlformats.org/drawingml/2006/main">
              <a:ext uri="{FF2B5EF4-FFF2-40B4-BE49-F238E27FC236}">
                <a16:creationId xmlns:a16="http://schemas.microsoft.com/office/drawing/2014/main" id="{B1F105CF-03E4-4705-93F9-CC831243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6707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подобрать пороги</a:t>
            </a:r>
          </a:p>
        </p:txBody>
      </p:sp>
      <p:sp>
        <p:nvSpPr>
          <p:cNvPr id="23" name="table-row">
            <a:extLst xmlns:a="http://schemas.openxmlformats.org/drawingml/2006/main">
              <a:ext uri="{FF2B5EF4-FFF2-40B4-BE49-F238E27FC236}">
                <a16:creationId xmlns:a16="http://schemas.microsoft.com/office/drawing/2014/main" id="{A4C85C0E-36CE-4CEB-8AB0-6641254CE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38550"/>
            <a:ext cx="1038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table-cell">
            <a:extLst xmlns:a="http://schemas.openxmlformats.org/drawingml/2006/main">
              <a:ext uri="{FF2B5EF4-FFF2-40B4-BE49-F238E27FC236}">
                <a16:creationId xmlns:a16="http://schemas.microsoft.com/office/drawing/2014/main" id="{6F216682-9EEF-4364-B1AC-48895D8E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панорамы</a:t>
            </a:r>
          </a:p>
        </p:txBody>
      </p:sp>
      <p:sp>
        <p:nvSpPr>
          <p:cNvPr id="25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37ED6697-38FC-4786-8C7F-D556E7E1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6385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6" name="table-cell">
            <a:extLst xmlns:a="http://schemas.openxmlformats.org/drawingml/2006/main">
              <a:ext uri="{FF2B5EF4-FFF2-40B4-BE49-F238E27FC236}">
                <a16:creationId xmlns:a16="http://schemas.microsoft.com/office/drawing/2014/main" id="{0FDBFC47-049A-4F52-B2C8-525045911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81425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укладываемся в бюджет до 5 минут</a:t>
            </a:r>
          </a:p>
        </p:txBody>
      </p:sp>
      <p:sp>
        <p:nvSpPr>
          <p:cNvPr id="27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5054F585-503D-490F-B599-3DDD05A5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6385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8" name="table-cell">
            <a:extLst xmlns:a="http://schemas.openxmlformats.org/drawingml/2006/main">
              <a:ext uri="{FF2B5EF4-FFF2-40B4-BE49-F238E27FC236}">
                <a16:creationId xmlns:a16="http://schemas.microsoft.com/office/drawing/2014/main" id="{A4FA14E5-7EDB-4FA7-8CCE-291C66CEE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814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проверить</a:t>
            </a:r>
          </a:p>
        </p:txBody>
      </p:sp>
      <p:sp>
        <p:nvSpPr>
          <p:cNvPr id="29" name="table-row">
            <a:extLst xmlns:a="http://schemas.openxmlformats.org/drawingml/2006/main">
              <a:ext uri="{FF2B5EF4-FFF2-40B4-BE49-F238E27FC236}">
                <a16:creationId xmlns:a16="http://schemas.microsoft.com/office/drawing/2014/main" id="{F985D8A2-BC9D-4A1D-A6D2-A082744B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52900"/>
            <a:ext cx="1038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table-cell">
            <a:extLst xmlns:a="http://schemas.openxmlformats.org/drawingml/2006/main">
              <a:ext uri="{FF2B5EF4-FFF2-40B4-BE49-F238E27FC236}">
                <a16:creationId xmlns:a16="http://schemas.microsoft.com/office/drawing/2014/main" id="{324B521E-C627-4591-9156-410579F20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9577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ошибки</a:t>
            </a:r>
          </a:p>
        </p:txBody>
      </p:sp>
      <p:sp>
        <p:nvSpPr>
          <p:cNvPr id="31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E383D857-0B61-4F3E-8D6B-24374F08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1529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32" name="table-cell">
            <a:extLst xmlns:a="http://schemas.openxmlformats.org/drawingml/2006/main">
              <a:ext uri="{FF2B5EF4-FFF2-40B4-BE49-F238E27FC236}">
                <a16:creationId xmlns:a16="http://schemas.microsoft.com/office/drawing/2014/main" id="{3D00568F-AC8C-4423-8317-9FEF0E4E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295775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не сегментируем срастания без разметки</a:t>
            </a:r>
          </a:p>
        </p:txBody>
      </p:sp>
      <p:sp>
        <p:nvSpPr>
          <p:cNvPr id="33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A4DA26D7-CA36-4D96-82CF-D4EA20FD4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1529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34" name="table-cell">
            <a:extLst xmlns:a="http://schemas.openxmlformats.org/drawingml/2006/main">
              <a:ext uri="{FF2B5EF4-FFF2-40B4-BE49-F238E27FC236}">
                <a16:creationId xmlns:a16="http://schemas.microsoft.com/office/drawing/2014/main" id="{EAA7ACDA-93E8-4EE8-9895-1929DD13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9577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зафиксировано</a:t>
            </a:r>
          </a:p>
        </p:txBody>
      </p:sp>
      <p:sp>
        <p:nvSpPr>
          <p:cNvPr id="35" name="callout">
            <a:extLst xmlns:a="http://schemas.openxmlformats.org/drawingml/2006/main">
              <a:ext uri="{FF2B5EF4-FFF2-40B4-BE49-F238E27FC236}">
                <a16:creationId xmlns:a16="http://schemas.microsoft.com/office/drawing/2014/main" id="{1C6AEB68-A859-43B2-A1FB-ABBDED1E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86375"/>
            <a:ext cx="103822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B8CDF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callout-text">
            <a:extLst xmlns:a="http://schemas.openxmlformats.org/drawingml/2006/main">
              <a:ext uri="{FF2B5EF4-FFF2-40B4-BE49-F238E27FC236}">
                <a16:creationId xmlns:a16="http://schemas.microsoft.com/office/drawing/2014/main" id="{F5254162-E8DB-479F-8D37-47C72C3A3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95925"/>
            <a:ext cx="979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Смысл P1 для жюри: показать, что тальк не просто влияет на вердикт, а виден на конкретных участках фотографии.</a:t>
            </a:r>
          </a:p>
        </p:txBody>
      </p:sp>
    </p:spTree>
    <p:extLst>
      <p:ext uri="{BB962C8B-B14F-4D97-AF65-F5344CB8AC3E}">
        <p14:creationId xmlns:p14="http://schemas.microsoft.com/office/powerpoint/2010/main" val="7046692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601DAB-6B6C-4DE2-97FA-CCE68B0E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P2 даёт финальный сорт по всему изображению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4B2DB86E-68BC-4722-9A1C-417EBCCB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Именно классификатор должен различать рядовую, труднообогатимую и оталькованную руду.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330DBA3D-D926-49FC-8A02-0B802CA5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FA9E5542-D30D-46E4-8157-16B8419E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09</a:t>
            </a:r>
          </a:p>
        </p:txBody>
      </p:sp>
      <p:sp>
        <p:nvSpPr>
          <p:cNvPr id="5" name="dark-card">
            <a:extLst xmlns:a="http://schemas.openxmlformats.org/drawingml/2006/main">
              <a:ext uri="{FF2B5EF4-FFF2-40B4-BE49-F238E27FC236}">
                <a16:creationId xmlns:a16="http://schemas.microsoft.com/office/drawing/2014/main" id="{B4D61D25-F732-4312-9AA4-A688CC2C1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43125"/>
            <a:ext cx="2857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7108FF07-9054-47B4-AE36-B6D3324F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717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EfficientNet-B0</a:t>
            </a:r>
          </a:p>
        </p:txBody>
      </p:sp>
      <p:sp>
        <p:nvSpPr>
          <p:cNvPr id="7" name="dark-body">
            <a:extLst xmlns:a="http://schemas.openxmlformats.org/drawingml/2006/main">
              <a:ext uri="{FF2B5EF4-FFF2-40B4-BE49-F238E27FC236}">
                <a16:creationId xmlns:a16="http://schemas.microsoft.com/office/drawing/2014/main" id="{7B84B4D7-14A6-4AFA-A947-931CA7B6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67025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быстрый baseline transfer learning на ImageNet-весах</a:t>
            </a:r>
          </a:p>
        </p:txBody>
      </p:sp>
      <p:sp>
        <p:nvSpPr>
          <p:cNvPr id="8" name="dark-card">
            <a:extLst xmlns:a="http://schemas.openxmlformats.org/drawingml/2006/main">
              <a:ext uri="{FF2B5EF4-FFF2-40B4-BE49-F238E27FC236}">
                <a16:creationId xmlns:a16="http://schemas.microsoft.com/office/drawing/2014/main" id="{9FFBE504-A6B6-4585-B3A7-D57E3094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43125"/>
            <a:ext cx="2857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2CEB0F9C-1E30-4065-B566-F1C221118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3717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D4BF"/>
                </a:solidFill>
              </a:defRPr>
            </a:pPr>
            <a:r>
              <a:rPr sz="1800" b="1">
                <a:solidFill>
                  <a:srgbClr val="2DD4BF"/>
                </a:solidFill>
              </a:rPr>
              <a:t>ResNet50</a:t>
            </a:r>
          </a:p>
        </p:txBody>
      </p:sp>
      <p:sp>
        <p:nvSpPr>
          <p:cNvPr id="10" name="dark-body">
            <a:extLst xmlns:a="http://schemas.openxmlformats.org/drawingml/2006/main">
              <a:ext uri="{FF2B5EF4-FFF2-40B4-BE49-F238E27FC236}">
                <a16:creationId xmlns:a16="http://schemas.microsoft.com/office/drawing/2014/main" id="{98C3A94F-49F7-46CF-895D-FBA0B3BD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67025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альтернативный backbone для сравнения качества</a:t>
            </a:r>
          </a:p>
        </p:txBody>
      </p:sp>
      <p:sp>
        <p:nvSpPr>
          <p:cNvPr id="11" name="dark-card">
            <a:extLst xmlns:a="http://schemas.openxmlformats.org/drawingml/2006/main">
              <a:ext uri="{FF2B5EF4-FFF2-40B4-BE49-F238E27FC236}">
                <a16:creationId xmlns:a16="http://schemas.microsoft.com/office/drawing/2014/main" id="{F1C5CB5A-9173-4DDD-946C-3FE3655F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43125"/>
            <a:ext cx="2857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078FE308-AB11-4431-9E79-99983B6DD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371725"/>
            <a:ext cx="2400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3 класса</a:t>
            </a:r>
          </a:p>
        </p:txBody>
      </p:sp>
      <p:sp>
        <p:nvSpPr>
          <p:cNvPr id="13" name="dark-body">
            <a:extLst xmlns:a="http://schemas.openxmlformats.org/drawingml/2006/main">
              <a:ext uri="{FF2B5EF4-FFF2-40B4-BE49-F238E27FC236}">
                <a16:creationId xmlns:a16="http://schemas.microsoft.com/office/drawing/2014/main" id="{3B1CA0E4-E1A4-4A7F-A61D-0410A1B6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67025"/>
            <a:ext cx="2400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ordinary, hard_to_process, talc</a:t>
            </a:r>
          </a:p>
        </p:txBody>
      </p:sp>
      <p:sp>
        <p:nvSpPr>
          <p:cNvPr id="14" name="note">
            <a:extLst xmlns:a="http://schemas.openxmlformats.org/drawingml/2006/main">
              <a:ext uri="{FF2B5EF4-FFF2-40B4-BE49-F238E27FC236}">
                <a16:creationId xmlns:a16="http://schemas.microsoft.com/office/drawing/2014/main" id="{96614940-A318-44BC-B296-3B3F818F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29125"/>
            <a:ext cx="981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8FAFC"/>
                </a:solidFill>
              </a:defRPr>
            </a:pPr>
            <a:r>
              <a:rPr sz="2250" b="1">
                <a:solidFill>
                  <a:srgbClr val="F8FAFC"/>
                </a:solidFill>
              </a:rPr>
              <a:t>P2 смотрит не на один признак, а на общий рисунок шлифа. Поэтому talc_pct не должен подменять классификатор.</a:t>
            </a:r>
          </a:p>
        </p:txBody>
      </p:sp>
    </p:spTree>
    <p:extLst>
      <p:ext uri="{BB962C8B-B14F-4D97-AF65-F5344CB8AC3E}">
        <p14:creationId xmlns:p14="http://schemas.microsoft.com/office/powerpoint/2010/main" val="4971066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154D01-48E1-441D-89D0-7692358FE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P2 обучается без утечки между шлифами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6D3CA95-3D9C-4066-882E-D0B66D5E2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Если картинки одного шлифа попадут и в train, и в val, качество будет фальшиво высоким.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1FED7CE-1260-4EB2-9726-E80D6A84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CDFFB6A-A7D7-480D-AC8B-4F7E4C7E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10</a:t>
            </a:r>
          </a:p>
        </p:txBody>
      </p:sp>
      <p:sp>
        <p:nvSpPr>
          <p:cNvPr id="5" name="claim">
            <a:extLst xmlns:a="http://schemas.openxmlformats.org/drawingml/2006/main">
              <a:ext uri="{FF2B5EF4-FFF2-40B4-BE49-F238E27FC236}">
                <a16:creationId xmlns:a16="http://schemas.microsoft.com/office/drawing/2014/main" id="{4379EED3-F8A5-4C06-89AE-0F3DC079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4953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11827"/>
                </a:solidFill>
              </a:defRPr>
            </a:pPr>
            <a:r>
              <a:rPr sz="2475" b="1">
                <a:solidFill>
                  <a:srgbClr val="111827"/>
                </a:solidFill>
              </a:rPr>
              <a:t>Ключевое правило: split делается по ID шлифа, а не по отдельным изображениям.</a:t>
            </a:r>
          </a:p>
        </p:txBody>
      </p:sp>
      <p:sp>
        <p:nvSpPr>
          <p:cNvPr id="6" name="step">
            <a:extLst xmlns:a="http://schemas.openxmlformats.org/drawingml/2006/main">
              <a:ext uri="{FF2B5EF4-FFF2-40B4-BE49-F238E27FC236}">
                <a16:creationId xmlns:a16="http://schemas.microsoft.com/office/drawing/2014/main" id="{639A981E-D854-4C8A-AFFD-3A5CB82E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chip">
            <a:extLst xmlns:a="http://schemas.openxmlformats.org/drawingml/2006/main">
              <a:ext uri="{FF2B5EF4-FFF2-40B4-BE49-F238E27FC236}">
                <a16:creationId xmlns:a16="http://schemas.microsoft.com/office/drawing/2014/main" id="{E969C36A-5D40-472E-8734-C50E20B5A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90750"/>
            <a:ext cx="7048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8F6EE"/>
          </a:solidFill>
          <a:ln xmlns:a="http://schemas.openxmlformats.org/drawingml/2006/main" w="9525">
            <a:solidFill>
              <a:srgbClr val="16965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chip-text">
            <a:extLst xmlns:a="http://schemas.openxmlformats.org/drawingml/2006/main">
              <a:ext uri="{FF2B5EF4-FFF2-40B4-BE49-F238E27FC236}">
                <a16:creationId xmlns:a16="http://schemas.microsoft.com/office/drawing/2014/main" id="{15E3B5D0-2E1A-44FF-9BA1-C0842CAB2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669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9653"/>
                </a:solidFill>
              </a:defRPr>
            </a:pPr>
            <a:r>
              <a:rPr sz="1125" b="1">
                <a:solidFill>
                  <a:srgbClr val="169653"/>
                </a:solidFill>
              </a:rPr>
              <a:t>01</a:t>
            </a:r>
          </a:p>
        </p:txBody>
      </p:sp>
      <p:sp>
        <p:nvSpPr>
          <p:cNvPr id="9" name="step-heading">
            <a:extLst xmlns:a="http://schemas.openxmlformats.org/drawingml/2006/main">
              <a:ext uri="{FF2B5EF4-FFF2-40B4-BE49-F238E27FC236}">
                <a16:creationId xmlns:a16="http://schemas.microsoft.com/office/drawing/2014/main" id="{036580BC-5426-4474-92CD-63F2196A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GroupShuffleSplit</a:t>
            </a:r>
          </a:p>
        </p:txBody>
      </p:sp>
      <p:sp>
        <p:nvSpPr>
          <p:cNvPr id="10" name="step-body">
            <a:extLst xmlns:a="http://schemas.openxmlformats.org/drawingml/2006/main">
              <a:ext uri="{FF2B5EF4-FFF2-40B4-BE49-F238E27FC236}">
                <a16:creationId xmlns:a16="http://schemas.microsoft.com/office/drawing/2014/main" id="{B577EE56-68ED-4CFB-9E01-FE181ABD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гарантирует, что один шлиф не протекает в обе выборки</a:t>
            </a:r>
          </a:p>
        </p:txBody>
      </p:sp>
      <p:sp>
        <p:nvSpPr>
          <p:cNvPr id="11" name="step">
            <a:extLst xmlns:a="http://schemas.openxmlformats.org/drawingml/2006/main">
              <a:ext uri="{FF2B5EF4-FFF2-40B4-BE49-F238E27FC236}">
                <a16:creationId xmlns:a16="http://schemas.microsoft.com/office/drawing/2014/main" id="{65CE1595-0340-45BC-A8A6-7777F0B9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14750"/>
            <a:ext cx="3714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chip">
            <a:extLst xmlns:a="http://schemas.openxmlformats.org/drawingml/2006/main">
              <a:ext uri="{FF2B5EF4-FFF2-40B4-BE49-F238E27FC236}">
                <a16:creationId xmlns:a16="http://schemas.microsoft.com/office/drawing/2014/main" id="{CB5519CE-EB13-4B77-9E3F-04CB2505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05250"/>
            <a:ext cx="704850" cy="361950"/>
          </a:xfrm>
          <a:prstGeom xmlns:a="http://schemas.openxmlformats.org/drawingml/2006/main" prst="roundRect">
            <a:avLst>
              <a:gd name="adj" fmla="val 31579"/>
            </a:avLst>
          </a:prstGeom>
          <a:solidFill xmlns:a="http://schemas.openxmlformats.org/drawingml/2006/main">
            <a:srgbClr val="EAF1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chip-text">
            <a:extLst xmlns:a="http://schemas.openxmlformats.org/drawingml/2006/main">
              <a:ext uri="{FF2B5EF4-FFF2-40B4-BE49-F238E27FC236}">
                <a16:creationId xmlns:a16="http://schemas.microsoft.com/office/drawing/2014/main" id="{FA3704D4-A2AC-4198-9F3D-9EAE483CD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814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563EB"/>
                </a:solidFill>
              </a:defRPr>
            </a:pPr>
            <a:r>
              <a:rPr sz="1125" b="1">
                <a:solidFill>
                  <a:srgbClr val="2563EB"/>
                </a:solidFill>
              </a:rPr>
              <a:t>02</a:t>
            </a:r>
          </a:p>
        </p:txBody>
      </p:sp>
      <p:sp>
        <p:nvSpPr>
          <p:cNvPr id="14" name="step-heading">
            <a:extLst xmlns:a="http://schemas.openxmlformats.org/drawingml/2006/main">
              <a:ext uri="{FF2B5EF4-FFF2-40B4-BE49-F238E27FC236}">
                <a16:creationId xmlns:a16="http://schemas.microsoft.com/office/drawing/2014/main" id="{65A8E6A8-D9AB-429C-80DC-DC616D7B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62450"/>
            <a:ext cx="3295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Проверка assert</a:t>
            </a:r>
          </a:p>
        </p:txBody>
      </p:sp>
      <p:sp>
        <p:nvSpPr>
          <p:cNvPr id="15" name="step-body">
            <a:extLst xmlns:a="http://schemas.openxmlformats.org/drawingml/2006/main">
              <a:ext uri="{FF2B5EF4-FFF2-40B4-BE49-F238E27FC236}">
                <a16:creationId xmlns:a16="http://schemas.microsoft.com/office/drawing/2014/main" id="{2AE1EC11-535D-4E8E-9DA3-29246B09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3295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>
                <a:solidFill>
                  <a:srgbClr val="64748B"/>
                </a:solidFill>
              </a:defRPr>
            </a:pPr>
            <a:r>
              <a:rPr sz="1163">
                <a:solidFill>
                  <a:srgbClr val="64748B"/>
                </a:solidFill>
              </a:rPr>
              <a:t>код явно падает, если slide_id оказался в train и val</a:t>
            </a:r>
          </a:p>
        </p:txBody>
      </p:sp>
      <p:sp>
        <p:nvSpPr>
          <p:cNvPr id="16" name="bullet">
            <a:extLst xmlns:a="http://schemas.openxmlformats.org/drawingml/2006/main">
              <a:ext uri="{FF2B5EF4-FFF2-40B4-BE49-F238E27FC236}">
                <a16:creationId xmlns:a16="http://schemas.microsoft.com/office/drawing/2014/main" id="{D9D4C360-0A31-40E7-BDBD-C6C13226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909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A8E51473-9D67-4510-9595-5ACEF0EC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ColorJitter и RandomGrayscale защищают от обучения на цвете</a:t>
            </a:r>
          </a:p>
        </p:txBody>
      </p:sp>
      <p:sp>
        <p:nvSpPr>
          <p:cNvPr id="18" name="bullet">
            <a:extLst xmlns:a="http://schemas.openxmlformats.org/drawingml/2006/main">
              <a:ext uri="{FF2B5EF4-FFF2-40B4-BE49-F238E27FC236}">
                <a16:creationId xmlns:a16="http://schemas.microsoft.com/office/drawing/2014/main" id="{61A2DAD9-6AFD-4391-BEA2-B862BE242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62475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A6EE0D42-3D8B-41E1-8AFD-070C74D6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767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class weights и oversampling помогают редкому talc-классу</a:t>
            </a:r>
          </a:p>
        </p:txBody>
      </p:sp>
    </p:spTree>
    <p:extLst>
      <p:ext uri="{BB962C8B-B14F-4D97-AF65-F5344CB8AC3E}">
        <p14:creationId xmlns:p14="http://schemas.microsoft.com/office/powerpoint/2010/main" val="62056680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FF04F6-240C-4EA9-8030-1D5DAC6F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Качество P2 доказывается macro-F1 и матрицей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93EED56-7B59-40F6-B1E7-57CEB531D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Для сдачи нужен честный отчёт по каждому классу, а не только общая accuracy.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C2E06DC-BC21-4D04-8D8A-4B76EF42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85A6B71-FCA6-4E0D-89E8-75F5F9C0C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11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4BBC0F07-F731-4687-AD94-3E455D4A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A380F7AE-3328-4EEA-A206-DB93E8FF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33FB8BD6-85C2-4082-89C5-CD42573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метрика</a:t>
            </a:r>
          </a:p>
        </p:txBody>
      </p:sp>
      <p:sp>
        <p:nvSpPr>
          <p:cNvPr id="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8838F917-E184-4954-A6B4-2BC0BB98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Macro-F1</a:t>
            </a:r>
          </a:p>
        </p:txBody>
      </p:sp>
      <p:sp>
        <p:nvSpPr>
          <p:cNvPr id="9" name="card-body">
            <a:extLst xmlns:a="http://schemas.openxmlformats.org/drawingml/2006/main">
              <a:ext uri="{FF2B5EF4-FFF2-40B4-BE49-F238E27FC236}">
                <a16:creationId xmlns:a16="http://schemas.microsoft.com/office/drawing/2014/main" id="{79AFD24E-7F35-48FD-93A8-F5283F2E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одинаково учитывает все три класса, включая редкую оталькованную руду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4F3900F5-47C6-48EB-8393-5892791FB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19FED1F-E09E-476E-9D97-2BFF7364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2" name="card-kicker">
            <a:extLst xmlns:a="http://schemas.openxmlformats.org/drawingml/2006/main">
              <a:ext uri="{FF2B5EF4-FFF2-40B4-BE49-F238E27FC236}">
                <a16:creationId xmlns:a16="http://schemas.microsoft.com/office/drawing/2014/main" id="{016DF1D9-B85F-415A-8229-178F043E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669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диагностика</a:t>
            </a:r>
          </a:p>
        </p:txBody>
      </p:sp>
      <p:sp>
        <p:nvSpPr>
          <p:cNvPr id="13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FBC18118-6C16-4AA1-9283-63B0C5B4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Confusion matrix</a:t>
            </a:r>
          </a:p>
        </p:txBody>
      </p:sp>
      <p:sp>
        <p:nvSpPr>
          <p:cNvPr id="14" name="card-body">
            <a:extLst xmlns:a="http://schemas.openxmlformats.org/drawingml/2006/main">
              <a:ext uri="{FF2B5EF4-FFF2-40B4-BE49-F238E27FC236}">
                <a16:creationId xmlns:a16="http://schemas.microsoft.com/office/drawing/2014/main" id="{6C7AD42D-BD0F-4924-82ED-B1AE4C06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71800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показывает, какие сорта модель путает между собой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F5CDB912-CABA-4C66-AEFA-D6C4D35D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34290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EF9D7B8-6961-46F5-8A9F-4CBBF046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95500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F64CDDB7-A9A8-4E0A-9591-56937CD6A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артефакт</a:t>
            </a:r>
          </a:p>
        </p:txBody>
      </p:sp>
      <p:sp>
        <p:nvSpPr>
          <p:cNvPr id="1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92D91B9E-641E-4B2A-9676-EFF45A67A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533650"/>
            <a:ext cx="2971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weights.pt</a:t>
            </a:r>
          </a:p>
        </p:txBody>
      </p:sp>
      <p:sp>
        <p:nvSpPr>
          <p:cNvPr id="19" name="card-body">
            <a:extLst xmlns:a="http://schemas.openxmlformats.org/drawingml/2006/main">
              <a:ext uri="{FF2B5EF4-FFF2-40B4-BE49-F238E27FC236}">
                <a16:creationId xmlns:a16="http://schemas.microsoft.com/office/drawing/2014/main" id="{4B54D436-E156-4D09-B90B-F99B7E5D6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971800"/>
            <a:ext cx="2971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после обучения P3 автоматически перестанет использовать fallback</a:t>
            </a:r>
          </a:p>
        </p:txBody>
      </p:sp>
      <p:sp>
        <p:nvSpPr>
          <p:cNvPr id="20" name="bars-title">
            <a:extLst xmlns:a="http://schemas.openxmlformats.org/drawingml/2006/main">
              <a:ext uri="{FF2B5EF4-FFF2-40B4-BE49-F238E27FC236}">
                <a16:creationId xmlns:a16="http://schemas.microsoft.com/office/drawing/2014/main" id="{6C6EDAD9-3669-4FB4-BA5E-ED89B740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0"/>
            <a:ext cx="3905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Ожидаемый отчёт после обучения</a:t>
            </a:r>
          </a:p>
        </p:txBody>
      </p:sp>
      <p:sp>
        <p:nvSpPr>
          <p:cNvPr id="21" name="bar-label">
            <a:extLst xmlns:a="http://schemas.openxmlformats.org/drawingml/2006/main">
              <a:ext uri="{FF2B5EF4-FFF2-40B4-BE49-F238E27FC236}">
                <a16:creationId xmlns:a16="http://schemas.microsoft.com/office/drawing/2014/main" id="{D572CC5D-2901-4E2D-B7A7-F93356ED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ordinary</a:t>
            </a:r>
          </a:p>
        </p:txBody>
      </p:sp>
      <p:sp>
        <p:nvSpPr>
          <p:cNvPr id="22" name="bar-bg">
            <a:extLst xmlns:a="http://schemas.openxmlformats.org/drawingml/2006/main">
              <a:ext uri="{FF2B5EF4-FFF2-40B4-BE49-F238E27FC236}">
                <a16:creationId xmlns:a16="http://schemas.microsoft.com/office/drawing/2014/main" id="{F83B0E29-C1E1-481E-BAFD-6F40E4B0B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143500"/>
            <a:ext cx="24765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EAF1"/>
          </a:solidFill>
          <a:ln xmlns:a="http://schemas.openxmlformats.org/drawingml/2006/main" w="9525">
            <a:solidFill>
              <a:srgbClr val="E6EA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3" name="bar-fill">
            <a:extLst xmlns:a="http://schemas.openxmlformats.org/drawingml/2006/main">
              <a:ext uri="{FF2B5EF4-FFF2-40B4-BE49-F238E27FC236}">
                <a16:creationId xmlns:a16="http://schemas.microsoft.com/office/drawing/2014/main" id="{75643290-35D8-43DF-B20A-17BD371E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143500"/>
            <a:ext cx="193167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24" name="bar-label">
            <a:extLst xmlns:a="http://schemas.openxmlformats.org/drawingml/2006/main">
              <a:ext uri="{FF2B5EF4-FFF2-40B4-BE49-F238E27FC236}">
                <a16:creationId xmlns:a16="http://schemas.microsoft.com/office/drawing/2014/main" id="{DF58F8CB-3CB9-4E69-A0F4-23386DB8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0958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hard_to_process</a:t>
            </a:r>
          </a:p>
        </p:txBody>
      </p:sp>
      <p:sp>
        <p:nvSpPr>
          <p:cNvPr id="25" name="bar-bg">
            <a:extLst xmlns:a="http://schemas.openxmlformats.org/drawingml/2006/main">
              <a:ext uri="{FF2B5EF4-FFF2-40B4-BE49-F238E27FC236}">
                <a16:creationId xmlns:a16="http://schemas.microsoft.com/office/drawing/2014/main" id="{B809FFE6-3D33-40D8-872A-CA75858A2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43500"/>
            <a:ext cx="24765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EAF1"/>
          </a:solidFill>
          <a:ln xmlns:a="http://schemas.openxmlformats.org/drawingml/2006/main" w="9525">
            <a:solidFill>
              <a:srgbClr val="E6EA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bar-fill">
            <a:extLst xmlns:a="http://schemas.openxmlformats.org/drawingml/2006/main">
              <a:ext uri="{FF2B5EF4-FFF2-40B4-BE49-F238E27FC236}">
                <a16:creationId xmlns:a16="http://schemas.microsoft.com/office/drawing/2014/main" id="{5C733AEC-DF8E-4FEF-B325-6ECEC779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43500"/>
            <a:ext cx="158496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7" name="bar-label">
            <a:extLst xmlns:a="http://schemas.openxmlformats.org/drawingml/2006/main">
              <a:ext uri="{FF2B5EF4-FFF2-40B4-BE49-F238E27FC236}">
                <a16:creationId xmlns:a16="http://schemas.microsoft.com/office/drawing/2014/main" id="{FB65FB41-AA17-4B22-B7F3-8AC763F57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talc</a:t>
            </a:r>
          </a:p>
        </p:txBody>
      </p:sp>
      <p:sp>
        <p:nvSpPr>
          <p:cNvPr id="28" name="bar-bg">
            <a:extLst xmlns:a="http://schemas.openxmlformats.org/drawingml/2006/main">
              <a:ext uri="{FF2B5EF4-FFF2-40B4-BE49-F238E27FC236}">
                <a16:creationId xmlns:a16="http://schemas.microsoft.com/office/drawing/2014/main" id="{94C4A1C9-069A-4EBB-AA7F-1ADA0453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667375"/>
            <a:ext cx="247650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6EAF1"/>
          </a:solidFill>
          <a:ln xmlns:a="http://schemas.openxmlformats.org/drawingml/2006/main" w="9525">
            <a:solidFill>
              <a:srgbClr val="E6EAF1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bar-fill">
            <a:extLst xmlns:a="http://schemas.openxmlformats.org/drawingml/2006/main">
              <a:ext uri="{FF2B5EF4-FFF2-40B4-BE49-F238E27FC236}">
                <a16:creationId xmlns:a16="http://schemas.microsoft.com/office/drawing/2014/main" id="{002408FE-BDA8-4F34-BA7A-3637B08A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667375"/>
            <a:ext cx="17335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30" name="bar-note">
            <a:extLst xmlns:a="http://schemas.openxmlformats.org/drawingml/2006/main">
              <a:ext uri="{FF2B5EF4-FFF2-40B4-BE49-F238E27FC236}">
                <a16:creationId xmlns:a16="http://schemas.microsoft.com/office/drawing/2014/main" id="{B2B8BBAF-9C05-4FC8-B794-E4BB7DE8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62600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4748B"/>
                </a:solidFill>
              </a:defRPr>
            </a:pPr>
            <a:r>
              <a:rPr sz="1200">
                <a:solidFill>
                  <a:srgbClr val="64748B"/>
                </a:solidFill>
              </a:rPr>
              <a:t>Числа на этом слайде показаны как формат отчёта; финальные значения появятся после обучения P2 на DATA_DIR.</a:t>
            </a:r>
          </a:p>
        </p:txBody>
      </p:sp>
    </p:spTree>
    <p:extLst>
      <p:ext uri="{BB962C8B-B14F-4D97-AF65-F5344CB8AC3E}">
        <p14:creationId xmlns:p14="http://schemas.microsoft.com/office/powerpoint/2010/main" val="72020382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23660D-2DC4-41B1-8A59-AA2C2DC2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P3 превращает модели в стабильный контракт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E8EF3AA-57D5-4A81-9C69-98D66A1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UI, API и отчёты получают один и тот же словарь результата.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E2BC70F-A07E-4864-9F08-F752DEB9A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7E55FDD-EAF8-4DB3-AA7F-8EB5186E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12</a:t>
            </a:r>
          </a:p>
        </p:txBody>
      </p:sp>
      <p:sp>
        <p:nvSpPr>
          <p:cNvPr id="5" name="table-row">
            <a:extLst xmlns:a="http://schemas.openxmlformats.org/drawingml/2006/main">
              <a:ext uri="{FF2B5EF4-FFF2-40B4-BE49-F238E27FC236}">
                <a16:creationId xmlns:a16="http://schemas.microsoft.com/office/drawing/2014/main" id="{4DAE9C30-ED56-4A7D-B5F5-352BF1BE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table-cell">
            <a:extLst xmlns:a="http://schemas.openxmlformats.org/drawingml/2006/main">
              <a:ext uri="{FF2B5EF4-FFF2-40B4-BE49-F238E27FC236}">
                <a16:creationId xmlns:a16="http://schemas.microsoft.com/office/drawing/2014/main" id="{109D07DA-0B6C-4C03-BF43-68232CDF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Поле</a:t>
            </a:r>
          </a:p>
        </p:txBody>
      </p:sp>
      <p:sp>
        <p:nvSpPr>
          <p:cNvPr id="7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0487677E-5C5E-41F5-91B0-BF4F5D0F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526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8" name="table-cell">
            <a:extLst xmlns:a="http://schemas.openxmlformats.org/drawingml/2006/main">
              <a:ext uri="{FF2B5EF4-FFF2-40B4-BE49-F238E27FC236}">
                <a16:creationId xmlns:a16="http://schemas.microsoft.com/office/drawing/2014/main" id="{C868DB05-8CEA-4C84-ABB3-6538C273F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09550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Что означает</a:t>
            </a:r>
          </a:p>
        </p:txBody>
      </p:sp>
      <p:sp>
        <p:nvSpPr>
          <p:cNvPr id="9" name="table-row">
            <a:extLst xmlns:a="http://schemas.openxmlformats.org/drawingml/2006/main">
              <a:ext uri="{FF2B5EF4-FFF2-40B4-BE49-F238E27FC236}">
                <a16:creationId xmlns:a16="http://schemas.microsoft.com/office/drawing/2014/main" id="{7F371751-EFF4-4493-82C8-37105557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6697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table-cell">
            <a:extLst xmlns:a="http://schemas.openxmlformats.org/drawingml/2006/main">
              <a:ext uri="{FF2B5EF4-FFF2-40B4-BE49-F238E27FC236}">
                <a16:creationId xmlns:a16="http://schemas.microsoft.com/office/drawing/2014/main" id="{DEC8FD40-8028-4CC6-8B8A-542D1FC57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098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verdict</a:t>
            </a:r>
          </a:p>
        </p:txBody>
      </p:sp>
      <p:sp>
        <p:nvSpPr>
          <p:cNvPr id="11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CE7EA3BE-426B-4CFD-AEAE-B9F8B46C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4669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12" name="table-cell">
            <a:extLst xmlns:a="http://schemas.openxmlformats.org/drawingml/2006/main">
              <a:ext uri="{FF2B5EF4-FFF2-40B4-BE49-F238E27FC236}">
                <a16:creationId xmlns:a16="http://schemas.microsoft.com/office/drawing/2014/main" id="{E323028C-DE14-46E6-8BD9-28C548E1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0985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сорт руды: ordinary / hard_to_process / talc</a:t>
            </a:r>
          </a:p>
        </p:txBody>
      </p:sp>
      <p:sp>
        <p:nvSpPr>
          <p:cNvPr id="13" name="table-row">
            <a:extLst xmlns:a="http://schemas.openxmlformats.org/drawingml/2006/main">
              <a:ext uri="{FF2B5EF4-FFF2-40B4-BE49-F238E27FC236}">
                <a16:creationId xmlns:a16="http://schemas.microsoft.com/office/drawing/2014/main" id="{198DBC31-E149-40FB-A278-BCF11868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8132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table-cell">
            <a:extLst xmlns:a="http://schemas.openxmlformats.org/drawingml/2006/main">
              <a:ext uri="{FF2B5EF4-FFF2-40B4-BE49-F238E27FC236}">
                <a16:creationId xmlns:a16="http://schemas.microsoft.com/office/drawing/2014/main" id="{4F2F19D2-BFDD-49FB-ABF8-C89DF36F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talc_pct</a:t>
            </a:r>
          </a:p>
        </p:txBody>
      </p:sp>
      <p:sp>
        <p:nvSpPr>
          <p:cNvPr id="15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085C972C-F2C1-4740-8920-A28393ADD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9813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16" name="table-cell">
            <a:extLst xmlns:a="http://schemas.openxmlformats.org/drawingml/2006/main">
              <a:ext uri="{FF2B5EF4-FFF2-40B4-BE49-F238E27FC236}">
                <a16:creationId xmlns:a16="http://schemas.microsoft.com/office/drawing/2014/main" id="{827BA780-3F7E-44FB-A996-FE1CE515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12420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процент талька от всей площади снимка</a:t>
            </a:r>
          </a:p>
        </p:txBody>
      </p:sp>
      <p:sp>
        <p:nvSpPr>
          <p:cNvPr id="17" name="table-row">
            <a:extLst xmlns:a="http://schemas.openxmlformats.org/drawingml/2006/main">
              <a:ext uri="{FF2B5EF4-FFF2-40B4-BE49-F238E27FC236}">
                <a16:creationId xmlns:a16="http://schemas.microsoft.com/office/drawing/2014/main" id="{98830775-1629-4897-BD8D-F2D2DB190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9567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table-cell">
            <a:extLst xmlns:a="http://schemas.openxmlformats.org/drawingml/2006/main">
              <a:ext uri="{FF2B5EF4-FFF2-40B4-BE49-F238E27FC236}">
                <a16:creationId xmlns:a16="http://schemas.microsoft.com/office/drawing/2014/main" id="{4858AAB1-103F-4FD7-828B-439F1D2C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385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talc_mask_png_b64</a:t>
            </a:r>
          </a:p>
        </p:txBody>
      </p:sp>
      <p:sp>
        <p:nvSpPr>
          <p:cNvPr id="19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6AC8083D-C4A1-49B9-B354-EC264ACE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956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0" name="table-cell">
            <a:extLst xmlns:a="http://schemas.openxmlformats.org/drawingml/2006/main">
              <a:ext uri="{FF2B5EF4-FFF2-40B4-BE49-F238E27FC236}">
                <a16:creationId xmlns:a16="http://schemas.microsoft.com/office/drawing/2014/main" id="{73E34D6C-D43D-427B-A68F-7FAF6E55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3855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картинка с синей маской талька</a:t>
            </a:r>
          </a:p>
        </p:txBody>
      </p:sp>
      <p:sp>
        <p:nvSpPr>
          <p:cNvPr id="21" name="table-row">
            <a:extLst xmlns:a="http://schemas.openxmlformats.org/drawingml/2006/main">
              <a:ext uri="{FF2B5EF4-FFF2-40B4-BE49-F238E27FC236}">
                <a16:creationId xmlns:a16="http://schemas.microsoft.com/office/drawing/2014/main" id="{10CDFC90-F574-4946-94CF-72823CE84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002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table-cell">
            <a:extLst xmlns:a="http://schemas.openxmlformats.org/drawingml/2006/main">
              <a:ext uri="{FF2B5EF4-FFF2-40B4-BE49-F238E27FC236}">
                <a16:creationId xmlns:a16="http://schemas.microsoft.com/office/drawing/2014/main" id="{49E1D41D-05EF-4DB6-8D3D-7DCFC4FA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529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consistency_check</a:t>
            </a:r>
          </a:p>
        </p:txBody>
      </p:sp>
      <p:sp>
        <p:nvSpPr>
          <p:cNvPr id="23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5D75630E-08C2-4276-9FC1-A634DF7C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100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4" name="table-cell">
            <a:extLst xmlns:a="http://schemas.openxmlformats.org/drawingml/2006/main">
              <a:ext uri="{FF2B5EF4-FFF2-40B4-BE49-F238E27FC236}">
                <a16:creationId xmlns:a16="http://schemas.microsoft.com/office/drawing/2014/main" id="{D545D0F4-5A71-401D-95FE-5B3BBA369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15290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проверка согласованности сорта и доли талька</a:t>
            </a:r>
          </a:p>
        </p:txBody>
      </p:sp>
      <p:sp>
        <p:nvSpPr>
          <p:cNvPr id="25" name="table-row">
            <a:extLst xmlns:a="http://schemas.openxmlformats.org/drawingml/2006/main">
              <a:ext uri="{FF2B5EF4-FFF2-40B4-BE49-F238E27FC236}">
                <a16:creationId xmlns:a16="http://schemas.microsoft.com/office/drawing/2014/main" id="{246F661B-C86B-4069-999A-A6667DDF2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2437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table-cell">
            <a:extLst xmlns:a="http://schemas.openxmlformats.org/drawingml/2006/main">
              <a:ext uri="{FF2B5EF4-FFF2-40B4-BE49-F238E27FC236}">
                <a16:creationId xmlns:a16="http://schemas.microsoft.com/office/drawing/2014/main" id="{35D28588-EDFA-445E-865A-58E1CD43D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classifier_confidence</a:t>
            </a:r>
          </a:p>
        </p:txBody>
      </p:sp>
      <p:sp>
        <p:nvSpPr>
          <p:cNvPr id="27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B0B138E3-DFA4-4D63-A161-EC46C4926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52437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28" name="table-cell">
            <a:extLst xmlns:a="http://schemas.openxmlformats.org/drawingml/2006/main">
              <a:ext uri="{FF2B5EF4-FFF2-40B4-BE49-F238E27FC236}">
                <a16:creationId xmlns:a16="http://schemas.microsoft.com/office/drawing/2014/main" id="{8DA214A7-8FBF-4E93-B66D-DCE33CF5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66725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уверенность P2, когда веса уже обучены</a:t>
            </a:r>
          </a:p>
        </p:txBody>
      </p:sp>
      <p:sp>
        <p:nvSpPr>
          <p:cNvPr id="29" name="table-row">
            <a:extLst xmlns:a="http://schemas.openxmlformats.org/drawingml/2006/main">
              <a:ext uri="{FF2B5EF4-FFF2-40B4-BE49-F238E27FC236}">
                <a16:creationId xmlns:a16="http://schemas.microsoft.com/office/drawing/2014/main" id="{E2093509-762F-4CFD-AAEF-0AB9AAA7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38725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table-cell">
            <a:extLst xmlns:a="http://schemas.openxmlformats.org/drawingml/2006/main">
              <a:ext uri="{FF2B5EF4-FFF2-40B4-BE49-F238E27FC236}">
                <a16:creationId xmlns:a16="http://schemas.microsoft.com/office/drawing/2014/main" id="{37FA033D-20FB-44C1-BC67-A81917CD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81600"/>
            <a:ext cx="259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1">
                <a:solidFill>
                  <a:srgbClr val="111827"/>
                </a:solidFill>
              </a:defRPr>
            </a:pPr>
            <a:r>
              <a:rPr sz="1163" b="1">
                <a:solidFill>
                  <a:srgbClr val="111827"/>
                </a:solidFill>
              </a:rPr>
              <a:t>processing_time_sec</a:t>
            </a:r>
          </a:p>
        </p:txBody>
      </p:sp>
      <p:sp>
        <p:nvSpPr>
          <p:cNvPr id="31" name="table-separator">
            <a:extLst xmlns:a="http://schemas.openxmlformats.org/drawingml/2006/main">
              <a:ext uri="{FF2B5EF4-FFF2-40B4-BE49-F238E27FC236}">
                <a16:creationId xmlns:a16="http://schemas.microsoft.com/office/drawing/2014/main" id="{918C1056-93AA-4CCE-B9E8-C698FDC9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38725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9"/>
          </a:solidFill>
          <a:ln xmlns:a="http://schemas.openxmlformats.org/drawingml/2006/main" w="0">
            <a:solidFill>
              <a:srgbClr val="D7DEE9"/>
            </a:solidFill>
            <a:prstDash val="solid"/>
          </a:ln>
        </p:spPr>
      </p:sp>
      <p:sp>
        <p:nvSpPr>
          <p:cNvPr id="32" name="table-cell">
            <a:extLst xmlns:a="http://schemas.openxmlformats.org/drawingml/2006/main">
              <a:ext uri="{FF2B5EF4-FFF2-40B4-BE49-F238E27FC236}">
                <a16:creationId xmlns:a16="http://schemas.microsoft.com/office/drawing/2014/main" id="{83363D5F-F070-407B-85EF-6A67DA762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81600"/>
            <a:ext cx="6972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63" b="0">
                <a:solidFill>
                  <a:srgbClr val="64748B"/>
                </a:solidFill>
              </a:defRPr>
            </a:pPr>
            <a:r>
              <a:rPr sz="1163" b="0">
                <a:solidFill>
                  <a:srgbClr val="64748B"/>
                </a:solidFill>
              </a:rPr>
              <a:t>время обработки снимка</a:t>
            </a:r>
          </a:p>
        </p:txBody>
      </p:sp>
      <p:sp>
        <p:nvSpPr>
          <p:cNvPr id="33" name="dark-card">
            <a:extLst xmlns:a="http://schemas.openxmlformats.org/drawingml/2006/main">
              <a:ext uri="{FF2B5EF4-FFF2-40B4-BE49-F238E27FC236}">
                <a16:creationId xmlns:a16="http://schemas.microsoft.com/office/drawing/2014/main" id="{D82A55F0-A76F-4559-B59A-8C1359E9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953000"/>
            <a:ext cx="2476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4E48210A-5CEC-45CD-87FF-0F88D5EB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181600"/>
            <a:ext cx="2019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Fallback</a:t>
            </a:r>
          </a:p>
        </p:txBody>
      </p:sp>
      <p:sp>
        <p:nvSpPr>
          <p:cNvPr id="35" name="dark-body">
            <a:extLst xmlns:a="http://schemas.openxmlformats.org/drawingml/2006/main">
              <a:ext uri="{FF2B5EF4-FFF2-40B4-BE49-F238E27FC236}">
                <a16:creationId xmlns:a16="http://schemas.microsoft.com/office/drawing/2014/main" id="{6F543EEE-5AD2-4285-93AF-7FDA0B9D1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5676900"/>
            <a:ext cx="2019300" cy="-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если весов P2 ещё нет, демо всё равно не ломается</a:t>
            </a:r>
          </a:p>
        </p:txBody>
      </p:sp>
    </p:spTree>
    <p:extLst>
      <p:ext uri="{BB962C8B-B14F-4D97-AF65-F5344CB8AC3E}">
        <p14:creationId xmlns:p14="http://schemas.microsoft.com/office/powerpoint/2010/main" val="11964289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87FB02-12C4-44A3-A613-3D7B099F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API и Docker удерживают демо живым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7669377-AED5-4829-964D-CE0A6577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P3 закрывает не только код, но и стабильность запуска.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FE3261A7-363F-4C09-9664-476DA3A30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FB969DB-93A2-4F03-B86E-445AF6A3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13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8435B3A5-2852-433F-90D8-92144D6A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FD7765C3-56EC-49F8-9120-7645B393E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9F30AB06-44DD-40F7-8C22-C9EAC346B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FastAPI</a:t>
            </a:r>
          </a:p>
        </p:txBody>
      </p:sp>
      <p:sp>
        <p:nvSpPr>
          <p:cNvPr id="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1259189C-C2C7-49FB-AA12-D4DC76C6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/analyze</a:t>
            </a:r>
          </a:p>
        </p:txBody>
      </p:sp>
      <p:sp>
        <p:nvSpPr>
          <p:cNvPr id="9" name="card-body">
            <a:extLst xmlns:a="http://schemas.openxmlformats.org/drawingml/2006/main">
              <a:ext uri="{FF2B5EF4-FFF2-40B4-BE49-F238E27FC236}">
                <a16:creationId xmlns:a16="http://schemas.microsoft.com/office/drawing/2014/main" id="{0E1F37BE-439E-4DE7-BC53-E3B33046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7180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один файл превращается в JSON контракта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0C473142-7AAC-4B07-98DE-B972B6AD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162F286-D55F-412B-A942-E0FCDA29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955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2" name="card-kicker">
            <a:extLst xmlns:a="http://schemas.openxmlformats.org/drawingml/2006/main">
              <a:ext uri="{FF2B5EF4-FFF2-40B4-BE49-F238E27FC236}">
                <a16:creationId xmlns:a16="http://schemas.microsoft.com/office/drawing/2014/main" id="{88C15819-CD1D-4774-BB7F-D41326D1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2669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Batch</a:t>
            </a:r>
          </a:p>
        </p:txBody>
      </p:sp>
      <p:sp>
        <p:nvSpPr>
          <p:cNvPr id="13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CFDA2594-0417-435E-9811-AD774F75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336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/analyze/batch</a:t>
            </a:r>
          </a:p>
        </p:txBody>
      </p:sp>
      <p:sp>
        <p:nvSpPr>
          <p:cNvPr id="14" name="card-body">
            <a:extLst xmlns:a="http://schemas.openxmlformats.org/drawingml/2006/main">
              <a:ext uri="{FF2B5EF4-FFF2-40B4-BE49-F238E27FC236}">
                <a16:creationId xmlns:a16="http://schemas.microsoft.com/office/drawing/2014/main" id="{870E7FDC-51D9-4205-B942-7C516AD4E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97180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ошибка одного файла не валит всю пачку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7F5C4746-9438-434E-B9E3-8BE6BDEB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95500"/>
            <a:ext cx="31432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631EC3E-B74F-43A3-A141-8CB9D92D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955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5F083FFE-BCAD-4E05-AB03-A21FF1CC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66950"/>
            <a:ext cx="2686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Export</a:t>
            </a:r>
          </a:p>
        </p:txBody>
      </p:sp>
      <p:sp>
        <p:nvSpPr>
          <p:cNvPr id="1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3897744D-FB5F-4F8F-AAD2-C032C2DE1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53365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CSV и PDF</a:t>
            </a:r>
          </a:p>
        </p:txBody>
      </p:sp>
      <p:sp>
        <p:nvSpPr>
          <p:cNvPr id="19" name="card-body">
            <a:extLst xmlns:a="http://schemas.openxmlformats.org/drawingml/2006/main">
              <a:ext uri="{FF2B5EF4-FFF2-40B4-BE49-F238E27FC236}">
                <a16:creationId xmlns:a16="http://schemas.microsoft.com/office/drawing/2014/main" id="{59200227-4543-42FB-84E2-7E088C00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686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метрики и отчёт можно скачать</a:t>
            </a:r>
          </a:p>
        </p:txBody>
      </p:sp>
      <p:sp>
        <p:nvSpPr>
          <p:cNvPr id="20" name="docker">
            <a:extLst xmlns:a="http://schemas.openxmlformats.org/drawingml/2006/main">
              <a:ext uri="{FF2B5EF4-FFF2-40B4-BE49-F238E27FC236}">
                <a16:creationId xmlns:a16="http://schemas.microsoft.com/office/drawing/2014/main" id="{C7EE9544-5AE6-4F81-ABAB-3985D7A4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0"/>
            <a:ext cx="11106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docker-text">
            <a:extLst xmlns:a="http://schemas.openxmlformats.org/drawingml/2006/main">
              <a:ext uri="{FF2B5EF4-FFF2-40B4-BE49-F238E27FC236}">
                <a16:creationId xmlns:a16="http://schemas.microsoft.com/office/drawing/2014/main" id="{99ECF303-CA19-4FE8-9EB5-38EACABA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0535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Dockerfile фиксирует CUDA 12.2 и проверяет GPU. Для живого деплоя главное правило простое: новые правки не должны ломать Streamlit + API.</a:t>
            </a:r>
          </a:p>
        </p:txBody>
      </p:sp>
    </p:spTree>
    <p:extLst>
      <p:ext uri="{BB962C8B-B14F-4D97-AF65-F5344CB8AC3E}">
        <p14:creationId xmlns:p14="http://schemas.microsoft.com/office/powerpoint/2010/main" val="4734871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7C17BB-889E-4628-A7FE-9FACE7658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P4 ведёт геолога от загрузки до вердикта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5E90BCD-96AA-4F81-B3AF-1075393E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Интерфейс локально собирает весь пользовательский путь для демо.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0F19C46-1043-472C-B0D2-6B03AE3E5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A2D321E-357B-4C82-8EF5-37344960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14</a:t>
            </a:r>
          </a:p>
        </p:txBody>
      </p:sp>
      <p:sp>
        <p:nvSpPr>
          <p:cNvPr id="5" name="image-frame">
            <a:extLst xmlns:a="http://schemas.openxmlformats.org/drawingml/2006/main">
              <a:ext uri="{FF2B5EF4-FFF2-40B4-BE49-F238E27FC236}">
                <a16:creationId xmlns:a16="http://schemas.microsoft.com/office/drawing/2014/main" id="{109AE9E3-4BB8-4AF7-9A1D-ABCE97CF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4191000" cy="400050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0B0F17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a015e8050d4552"/>
          <a:srcRect xmlns:a="http://schemas.openxmlformats.org/drawingml/2006/main" l="0" t="18648" r="0" b="186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62000" y="1905000"/>
            <a:ext cx="4000500" cy="3505200"/>
          </a:xfrm>
          <a:prstGeom xmlns:a="http://schemas.openxmlformats.org/drawingml/2006/main" prst="rect">
            <a:avLst/>
          </a:prstGeom>
        </p:spPr>
      </p:pic>
      <p:sp>
        <p:nvSpPr>
          <p:cNvPr id="7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EF223F3E-BB8F-41A2-94EE-CF05734C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86400"/>
            <a:ext cx="3848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6D0DF"/>
                </a:solidFill>
              </a:defRPr>
            </a:pPr>
            <a:r>
              <a:rPr sz="1050">
                <a:solidFill>
                  <a:srgbClr val="C6D0DF"/>
                </a:solidFill>
              </a:rPr>
              <a:t>первый экран Streamlit</a:t>
            </a:r>
          </a:p>
        </p:txBody>
      </p:sp>
      <p:sp>
        <p:nvSpPr>
          <p:cNvPr id="8" name="dark-card">
            <a:extLst xmlns:a="http://schemas.openxmlformats.org/drawingml/2006/main">
              <a:ext uri="{FF2B5EF4-FFF2-40B4-BE49-F238E27FC236}">
                <a16:creationId xmlns:a16="http://schemas.microsoft.com/office/drawing/2014/main" id="{9331B3AC-B92E-4DCB-AB7D-886C12AD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952625"/>
            <a:ext cx="2724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930F99BA-6658-4C5D-8A18-AE84914F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81225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Загрузка</a:t>
            </a:r>
          </a:p>
        </p:txBody>
      </p:sp>
      <p:sp>
        <p:nvSpPr>
          <p:cNvPr id="10" name="dark-body">
            <a:extLst xmlns:a="http://schemas.openxmlformats.org/drawingml/2006/main">
              <a:ext uri="{FF2B5EF4-FFF2-40B4-BE49-F238E27FC236}">
                <a16:creationId xmlns:a16="http://schemas.microsoft.com/office/drawing/2014/main" id="{66F2E51C-311B-4D55-8B18-CD0E2AD8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6765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TIFF, PNG, JPG, BMP; один файл или пачка</a:t>
            </a:r>
          </a:p>
        </p:txBody>
      </p:sp>
      <p:sp>
        <p:nvSpPr>
          <p:cNvPr id="11" name="dark-card">
            <a:extLst xmlns:a="http://schemas.openxmlformats.org/drawingml/2006/main">
              <a:ext uri="{FF2B5EF4-FFF2-40B4-BE49-F238E27FC236}">
                <a16:creationId xmlns:a16="http://schemas.microsoft.com/office/drawing/2014/main" id="{7ABBAEDB-2E25-4915-A801-5727DECF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52625"/>
            <a:ext cx="2724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2FDF34AA-AC78-416E-8AD7-2F04AFD1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81225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D4BF"/>
                </a:solidFill>
              </a:defRPr>
            </a:pPr>
            <a:r>
              <a:rPr sz="1800" b="1">
                <a:solidFill>
                  <a:srgbClr val="2DD4BF"/>
                </a:solidFill>
              </a:rPr>
              <a:t>Вердикт</a:t>
            </a:r>
          </a:p>
        </p:txBody>
      </p:sp>
      <p:sp>
        <p:nvSpPr>
          <p:cNvPr id="13" name="dark-body">
            <a:extLst xmlns:a="http://schemas.openxmlformats.org/drawingml/2006/main">
              <a:ext uri="{FF2B5EF4-FFF2-40B4-BE49-F238E27FC236}">
                <a16:creationId xmlns:a16="http://schemas.microsoft.com/office/drawing/2014/main" id="{02D1D793-4830-4FC2-A5A5-5E4E8B79B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676525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крупная карточка сорта с проверкой согласованности</a:t>
            </a:r>
          </a:p>
        </p:txBody>
      </p:sp>
      <p:sp>
        <p:nvSpPr>
          <p:cNvPr id="14" name="dark-card">
            <a:extLst xmlns:a="http://schemas.openxmlformats.org/drawingml/2006/main">
              <a:ext uri="{FF2B5EF4-FFF2-40B4-BE49-F238E27FC236}">
                <a16:creationId xmlns:a16="http://schemas.microsoft.com/office/drawing/2014/main" id="{7B784995-7D78-4DB9-8834-47439B09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14750"/>
            <a:ext cx="2724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07EFB025-6EA6-4984-A370-A461E798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94335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Метрики</a:t>
            </a:r>
          </a:p>
        </p:txBody>
      </p:sp>
      <p:sp>
        <p:nvSpPr>
          <p:cNvPr id="16" name="dark-body">
            <a:extLst xmlns:a="http://schemas.openxmlformats.org/drawingml/2006/main">
              <a:ext uri="{FF2B5EF4-FFF2-40B4-BE49-F238E27FC236}">
                <a16:creationId xmlns:a16="http://schemas.microsoft.com/office/drawing/2014/main" id="{A5942FB9-CEE9-450C-B5AF-1D3BA22D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43865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talc_pct, confidence, source, processing_time</a:t>
            </a:r>
          </a:p>
        </p:txBody>
      </p:sp>
      <p:sp>
        <p:nvSpPr>
          <p:cNvPr id="17" name="dark-card">
            <a:extLst xmlns:a="http://schemas.openxmlformats.org/drawingml/2006/main">
              <a:ext uri="{FF2B5EF4-FFF2-40B4-BE49-F238E27FC236}">
                <a16:creationId xmlns:a16="http://schemas.microsoft.com/office/drawing/2014/main" id="{2F3D0DD5-4F96-4FC2-892C-E6BFFCE7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14750"/>
            <a:ext cx="2724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1798ADD3-C815-430F-AC00-DD59FB58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43350"/>
            <a:ext cx="2266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Экспорт</a:t>
            </a:r>
          </a:p>
        </p:txBody>
      </p:sp>
      <p:sp>
        <p:nvSpPr>
          <p:cNvPr id="19" name="dark-body">
            <a:extLst xmlns:a="http://schemas.openxmlformats.org/drawingml/2006/main">
              <a:ext uri="{FF2B5EF4-FFF2-40B4-BE49-F238E27FC236}">
                <a16:creationId xmlns:a16="http://schemas.microsoft.com/office/drawing/2014/main" id="{47C38A88-C372-4102-B6A7-4B7E7E9D1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43865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PDF, JSON результата, JSON правки, общий CSV</a:t>
            </a:r>
          </a:p>
        </p:txBody>
      </p:sp>
    </p:spTree>
    <p:extLst>
      <p:ext uri="{BB962C8B-B14F-4D97-AF65-F5344CB8AC3E}">
        <p14:creationId xmlns:p14="http://schemas.microsoft.com/office/powerpoint/2010/main" val="167224011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36804F-7044-432F-B775-6F4FA9BBF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Маску теперь можно двигать мышью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A309FE6-2EAB-43C7-A0EA-C4E012DE7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Старые оси X/Y заменены на привычное взаимодействие с картинкой.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2D9BA8C-5226-4088-A733-7F50A56C9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9E8E954-48B3-49BC-8F16-D82BE5EE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15</a:t>
            </a:r>
          </a:p>
        </p:txBody>
      </p:sp>
      <p:sp>
        <p:nvSpPr>
          <p:cNvPr id="5" name="image-frame">
            <a:extLst xmlns:a="http://schemas.openxmlformats.org/drawingml/2006/main">
              <a:ext uri="{FF2B5EF4-FFF2-40B4-BE49-F238E27FC236}">
                <a16:creationId xmlns:a16="http://schemas.microsoft.com/office/drawing/2014/main" id="{3C679CBC-05A3-469E-835E-4689A5601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0250"/>
            <a:ext cx="49530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0B0F17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ee97ddcd354044"/>
          <a:stretch xmlns:a="http://schemas.openxmlformats.org/drawingml/2006/main"/>
        </p:blipFill>
        <p:spPr>
          <a:xfrm xmlns:a="http://schemas.openxmlformats.org/drawingml/2006/main">
            <a:off x="628650" y="2641467"/>
            <a:ext cx="4762500" cy="1460767"/>
          </a:xfrm>
          <a:prstGeom xmlns:a="http://schemas.openxmlformats.org/drawingml/2006/main" prst="rect">
            <a:avLst/>
          </a:prstGeom>
        </p:spPr>
      </p:pic>
      <p:sp>
        <p:nvSpPr>
          <p:cNvPr id="7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C7699490-485B-41BA-BFD4-B47BEB2C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24400"/>
            <a:ext cx="461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C6D0DF"/>
                </a:solidFill>
              </a:defRPr>
            </a:pPr>
            <a:r>
              <a:rPr sz="1050">
                <a:solidFill>
                  <a:srgbClr val="C6D0DF"/>
                </a:solidFill>
              </a:rPr>
              <a:t>верхняя карточка результата</a:t>
            </a:r>
          </a:p>
        </p:txBody>
      </p:sp>
      <p:sp>
        <p:nvSpPr>
          <p:cNvPr id="8" name="card">
            <a:extLst xmlns:a="http://schemas.openxmlformats.org/drawingml/2006/main">
              <a:ext uri="{FF2B5EF4-FFF2-40B4-BE49-F238E27FC236}">
                <a16:creationId xmlns:a16="http://schemas.microsoft.com/office/drawing/2014/main" id="{06FACDBD-D3EA-44F3-A000-309CDA8BD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4476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D23D536D-6B3D-496B-A99C-A7C83A11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9550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0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FB4EEC3C-47DD-4A82-910E-025A159AC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24100"/>
            <a:ext cx="4019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Перемещение</a:t>
            </a:r>
          </a:p>
        </p:txBody>
      </p:sp>
      <p:sp>
        <p:nvSpPr>
          <p:cNvPr id="11" name="card-body">
            <a:extLst xmlns:a="http://schemas.openxmlformats.org/drawingml/2006/main">
              <a:ext uri="{FF2B5EF4-FFF2-40B4-BE49-F238E27FC236}">
                <a16:creationId xmlns:a16="http://schemas.microsoft.com/office/drawing/2014/main" id="{2424C0CF-192C-41BC-AAC7-94DAA60C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819400"/>
            <a:ext cx="40195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drag мышью двигает изображение внутри viewer</a:t>
            </a:r>
          </a:p>
        </p:txBody>
      </p:sp>
      <p:sp>
        <p:nvSpPr>
          <p:cNvPr id="12" name="card">
            <a:extLst xmlns:a="http://schemas.openxmlformats.org/drawingml/2006/main">
              <a:ext uri="{FF2B5EF4-FFF2-40B4-BE49-F238E27FC236}">
                <a16:creationId xmlns:a16="http://schemas.microsoft.com/office/drawing/2014/main" id="{D4DB1B84-DCDF-43D4-A9C4-5407D94B2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4476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6E54717-353B-40F1-AE3A-86FDB7AA3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86125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4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C80480D6-FBCE-4DD6-BA6B-37459E330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14725"/>
            <a:ext cx="4019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Зум</a:t>
            </a:r>
          </a:p>
        </p:txBody>
      </p:sp>
      <p:sp>
        <p:nvSpPr>
          <p:cNvPr id="15" name="card-body">
            <a:extLst xmlns:a="http://schemas.openxmlformats.org/drawingml/2006/main">
              <a:ext uri="{FF2B5EF4-FFF2-40B4-BE49-F238E27FC236}">
                <a16:creationId xmlns:a16="http://schemas.microsoft.com/office/drawing/2014/main" id="{3A121453-2D7A-418A-B34B-6D5289B0A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10025"/>
            <a:ext cx="40195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колесо мыши увеличивает точку под курсором</a:t>
            </a:r>
          </a:p>
        </p:txBody>
      </p:sp>
      <p:sp>
        <p:nvSpPr>
          <p:cNvPr id="16" name="card">
            <a:extLst xmlns:a="http://schemas.openxmlformats.org/drawingml/2006/main">
              <a:ext uri="{FF2B5EF4-FFF2-40B4-BE49-F238E27FC236}">
                <a16:creationId xmlns:a16="http://schemas.microsoft.com/office/drawing/2014/main" id="{EC2E7A8A-9C81-4DD3-B8C8-B125F7557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44767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55277106-1EC7-482A-AD91-07665295D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676F5D87-DDA6-45CC-A735-F7B8E242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705350"/>
            <a:ext cx="4019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Сброс</a:t>
            </a:r>
          </a:p>
        </p:txBody>
      </p:sp>
      <p:sp>
        <p:nvSpPr>
          <p:cNvPr id="19" name="card-body">
            <a:extLst xmlns:a="http://schemas.openxmlformats.org/drawingml/2006/main">
              <a:ext uri="{FF2B5EF4-FFF2-40B4-BE49-F238E27FC236}">
                <a16:creationId xmlns:a16="http://schemas.microsoft.com/office/drawing/2014/main" id="{1CD33858-840F-4CFB-A82D-1B396CF8E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00650"/>
            <a:ext cx="4019550" cy="3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двойной клик или кнопка возвращают начальный вид</a:t>
            </a:r>
          </a:p>
        </p:txBody>
      </p:sp>
    </p:spTree>
    <p:extLst>
      <p:ext uri="{BB962C8B-B14F-4D97-AF65-F5344CB8AC3E}">
        <p14:creationId xmlns:p14="http://schemas.microsoft.com/office/powerpoint/2010/main" val="1228061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0C3CC9-802B-4097-9FAC-C88F6EED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Отчёты превращают результат в сдаваемый артефакт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57BFCED-B331-46A2-8CE3-1852CF12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После анализа можно отдать не только экран, но и файлы для проверки.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81888699-FCEB-4DE3-B415-FB724427C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C4B1599-548C-44D2-96CF-71B04FD37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16</a:t>
            </a:r>
          </a:p>
        </p:txBody>
      </p:sp>
      <p:sp>
        <p:nvSpPr>
          <p:cNvPr id="5" name="card">
            <a:extLst xmlns:a="http://schemas.openxmlformats.org/drawingml/2006/main">
              <a:ext uri="{FF2B5EF4-FFF2-40B4-BE49-F238E27FC236}">
                <a16:creationId xmlns:a16="http://schemas.microsoft.com/office/drawing/2014/main" id="{D06DCBD4-D61E-4712-B740-87865BFD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47875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BB9DB41-9D2C-43FA-B37F-FFD1E7756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4787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ECE98EE8-5778-4087-B346-65BC660A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193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PDF</a:t>
            </a:r>
          </a:p>
        </p:txBody>
      </p:sp>
      <p:sp>
        <p:nvSpPr>
          <p:cNvPr id="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499AF3BF-3AE6-4967-896D-64A20B9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860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Отчёт по снимку</a:t>
            </a:r>
          </a:p>
        </p:txBody>
      </p:sp>
      <p:sp>
        <p:nvSpPr>
          <p:cNvPr id="9" name="card-body">
            <a:extLst xmlns:a="http://schemas.openxmlformats.org/drawingml/2006/main">
              <a:ext uri="{FF2B5EF4-FFF2-40B4-BE49-F238E27FC236}">
                <a16:creationId xmlns:a16="http://schemas.microsoft.com/office/drawing/2014/main" id="{AFBB925A-683A-4B6B-9486-0BB81785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24175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вердикт, таблица метрик, исходник и маска талька</a:t>
            </a:r>
          </a:p>
        </p:txBody>
      </p:sp>
      <p:sp>
        <p:nvSpPr>
          <p:cNvPr id="10" name="card">
            <a:extLst xmlns:a="http://schemas.openxmlformats.org/drawingml/2006/main">
              <a:ext uri="{FF2B5EF4-FFF2-40B4-BE49-F238E27FC236}">
                <a16:creationId xmlns:a16="http://schemas.microsoft.com/office/drawing/2014/main" id="{2F91C96B-C7A9-4FBA-BDCF-E8F64836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47875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card-accent">
            <a:extLst xmlns:a="http://schemas.openxmlformats.org/drawingml/2006/main">
              <a:ext uri="{FF2B5EF4-FFF2-40B4-BE49-F238E27FC236}">
                <a16:creationId xmlns:a16="http://schemas.microsoft.com/office/drawing/2014/main" id="{19A7DE3C-33BD-4099-83D4-D3F5F41A4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4787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2" name="card-kicker">
            <a:extLst xmlns:a="http://schemas.openxmlformats.org/drawingml/2006/main">
              <a:ext uri="{FF2B5EF4-FFF2-40B4-BE49-F238E27FC236}">
                <a16:creationId xmlns:a16="http://schemas.microsoft.com/office/drawing/2014/main" id="{DB417EB8-66EF-4CB7-A441-E3849E322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2193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JSON</a:t>
            </a:r>
          </a:p>
        </p:txBody>
      </p:sp>
      <p:sp>
        <p:nvSpPr>
          <p:cNvPr id="13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9B878F65-107D-475D-83BE-435E6A6F8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4860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Результат</a:t>
            </a:r>
          </a:p>
        </p:txBody>
      </p:sp>
      <p:sp>
        <p:nvSpPr>
          <p:cNvPr id="14" name="card-body">
            <a:extLst xmlns:a="http://schemas.openxmlformats.org/drawingml/2006/main">
              <a:ext uri="{FF2B5EF4-FFF2-40B4-BE49-F238E27FC236}">
                <a16:creationId xmlns:a16="http://schemas.microsoft.com/office/drawing/2014/main" id="{916EF12A-7AAC-4C93-A2BB-B2D3756A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924175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сырой контракт analyze() для интеграции и отладки</a:t>
            </a:r>
          </a:p>
        </p:txBody>
      </p:sp>
      <p:sp>
        <p:nvSpPr>
          <p:cNvPr id="15" name="card">
            <a:extLst xmlns:a="http://schemas.openxmlformats.org/drawingml/2006/main">
              <a:ext uri="{FF2B5EF4-FFF2-40B4-BE49-F238E27FC236}">
                <a16:creationId xmlns:a16="http://schemas.microsoft.com/office/drawing/2014/main" id="{15F27703-C88B-4E1C-BBE7-D5291615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47875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12A388A-3265-44D3-8DE7-001C81CBF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4787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7" name="card-kicker">
            <a:extLst xmlns:a="http://schemas.openxmlformats.org/drawingml/2006/main">
              <a:ext uri="{FF2B5EF4-FFF2-40B4-BE49-F238E27FC236}">
                <a16:creationId xmlns:a16="http://schemas.microsoft.com/office/drawing/2014/main" id="{89D8583A-89D0-409F-A335-576AAC71B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193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JSON</a:t>
            </a:r>
          </a:p>
        </p:txBody>
      </p:sp>
      <p:sp>
        <p:nvSpPr>
          <p:cNvPr id="18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0CC0D867-8597-4A6B-A57B-BC00E061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860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Правка геолога</a:t>
            </a:r>
          </a:p>
        </p:txBody>
      </p:sp>
      <p:sp>
        <p:nvSpPr>
          <p:cNvPr id="19" name="card-body">
            <a:extLst xmlns:a="http://schemas.openxmlformats.org/drawingml/2006/main">
              <a:ext uri="{FF2B5EF4-FFF2-40B4-BE49-F238E27FC236}">
                <a16:creationId xmlns:a16="http://schemas.microsoft.com/office/drawing/2014/main" id="{7D19AE52-4121-4511-A00C-7774E4B1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24175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подтверждение или исправленный сорт с комментарием</a:t>
            </a:r>
          </a:p>
        </p:txBody>
      </p:sp>
      <p:sp>
        <p:nvSpPr>
          <p:cNvPr id="20" name="card">
            <a:extLst xmlns:a="http://schemas.openxmlformats.org/drawingml/2006/main">
              <a:ext uri="{FF2B5EF4-FFF2-40B4-BE49-F238E27FC236}">
                <a16:creationId xmlns:a16="http://schemas.microsoft.com/office/drawing/2014/main" id="{F6ABC3BF-7150-4BF1-ADE9-361E3A64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381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5F8D76B-EF68-4653-B262-AE9F0FB6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666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0">
            <a:solidFill>
              <a:srgbClr val="6D5BD0"/>
            </a:solidFill>
            <a:prstDash val="solid"/>
          </a:ln>
        </p:spPr>
      </p:sp>
      <p:sp>
        <p:nvSpPr>
          <p:cNvPr id="22" name="card-kicker">
            <a:extLst xmlns:a="http://schemas.openxmlformats.org/drawingml/2006/main">
              <a:ext uri="{FF2B5EF4-FFF2-40B4-BE49-F238E27FC236}">
                <a16:creationId xmlns:a16="http://schemas.microsoft.com/office/drawing/2014/main" id="{CDD9FACD-3DEE-42EF-9129-11295CAF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19325"/>
            <a:ext cx="1924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4748B"/>
                </a:solidFill>
              </a:defRPr>
            </a:pPr>
            <a:r>
              <a:rPr sz="975" b="1">
                <a:solidFill>
                  <a:srgbClr val="64748B"/>
                </a:solidFill>
              </a:rPr>
              <a:t>CSV</a:t>
            </a:r>
          </a:p>
        </p:txBody>
      </p:sp>
      <p:sp>
        <p:nvSpPr>
          <p:cNvPr id="23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54EC2C7B-024E-457F-B76D-3FCC15AD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860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D5BD0"/>
                </a:solidFill>
              </a:defRPr>
            </a:pPr>
            <a:r>
              <a:rPr sz="1800" b="1">
                <a:solidFill>
                  <a:srgbClr val="6D5BD0"/>
                </a:solidFill>
              </a:rPr>
              <a:t>Batch</a:t>
            </a:r>
          </a:p>
        </p:txBody>
      </p:sp>
      <p:sp>
        <p:nvSpPr>
          <p:cNvPr id="24" name="card-body">
            <a:extLst xmlns:a="http://schemas.openxmlformats.org/drawingml/2006/main">
              <a:ext uri="{FF2B5EF4-FFF2-40B4-BE49-F238E27FC236}">
                <a16:creationId xmlns:a16="http://schemas.microsoft.com/office/drawing/2014/main" id="{B34B87A1-62A4-4340-B302-D1BB0173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24175"/>
            <a:ext cx="1924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сводка по всем загруженным изображениям</a:t>
            </a:r>
          </a:p>
        </p:txBody>
      </p:sp>
      <p:sp>
        <p:nvSpPr>
          <p:cNvPr id="25" name="submission">
            <a:extLst xmlns:a="http://schemas.openxmlformats.org/drawingml/2006/main">
              <a:ext uri="{FF2B5EF4-FFF2-40B4-BE49-F238E27FC236}">
                <a16:creationId xmlns:a16="http://schemas.microsoft.com/office/drawing/2014/main" id="{788F4775-B6B1-4E0B-9815-7F026D652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72000"/>
            <a:ext cx="107823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5F7FB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submission-text">
            <a:extLst xmlns:a="http://schemas.openxmlformats.org/drawingml/2006/main">
              <a:ext uri="{FF2B5EF4-FFF2-40B4-BE49-F238E27FC236}">
                <a16:creationId xmlns:a16="http://schemas.microsoft.com/office/drawing/2014/main" id="{8AA75534-B758-4405-9CD2-BF87E6B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1017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Для финальной сдачи подготовлены: репозиторий, облако с материалами, презентация, живая ссылка на деплой, README и сценарий демо-видео.</a:t>
            </a:r>
          </a:p>
        </p:txBody>
      </p:sp>
    </p:spTree>
    <p:extLst>
      <p:ext uri="{BB962C8B-B14F-4D97-AF65-F5344CB8AC3E}">
        <p14:creationId xmlns:p14="http://schemas.microsoft.com/office/powerpoint/2010/main" val="36656437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C86B2C-14E6-4A82-83BD-4D45272B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11827"/>
                </a:solidFill>
              </a:defRPr>
            </a:pPr>
            <a:r>
              <a:rPr sz="2925" b="1">
                <a:solidFill>
                  <a:srgbClr val="111827"/>
                </a:solidFill>
              </a:rPr>
              <a:t>Команда видит, что готово и что осталось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4952D60-D8BF-427B-8AE5-4050A18F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4748B"/>
                </a:solidFill>
              </a:defRPr>
            </a:pPr>
            <a:r>
              <a:rPr sz="1575">
                <a:solidFill>
                  <a:srgbClr val="64748B"/>
                </a:solidFill>
              </a:rPr>
              <a:t>Сдача собрана вокруг владельцев P1-P4, поэтому финальные действия не смешиваются.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7309B291-D2F0-4C6D-B967-03110BB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4748B"/>
                </a:solidFill>
              </a:defRPr>
            </a:pPr>
            <a:r>
              <a:rPr sz="1125">
                <a:solidFill>
                  <a:srgbClr val="64748B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AEF59C0-EAEF-4501-B4ED-248C5F45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17</a:t>
            </a:r>
          </a:p>
        </p:txBody>
      </p:sp>
      <p:sp>
        <p:nvSpPr>
          <p:cNvPr id="5" name="section-band">
            <a:extLst xmlns:a="http://schemas.openxmlformats.org/drawingml/2006/main">
              <a:ext uri="{FF2B5EF4-FFF2-40B4-BE49-F238E27FC236}">
                <a16:creationId xmlns:a16="http://schemas.microsoft.com/office/drawing/2014/main" id="{29191E7E-C151-4C15-996B-4EF1B0B4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A76CF904-7D13-4A34-A4DF-D9B7B152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P1</a:t>
            </a:r>
          </a:p>
        </p:txBody>
      </p:sp>
      <p:sp>
        <p:nvSpPr>
          <p:cNvPr id="7" name="section-band">
            <a:extLst xmlns:a="http://schemas.openxmlformats.org/drawingml/2006/main">
              <a:ext uri="{FF2B5EF4-FFF2-40B4-BE49-F238E27FC236}">
                <a16:creationId xmlns:a16="http://schemas.microsoft.com/office/drawing/2014/main" id="{26297922-05B0-429E-8D1A-B9CDBAD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0955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69653"/>
          </a:solidFill>
          <a:ln xmlns:a="http://schemas.openxmlformats.org/drawingml/2006/main" w="9525">
            <a:solidFill>
              <a:srgbClr val="16965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13D8358F-9866-4240-A74E-7EF288CD6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9" name="section-band">
            <a:extLst xmlns:a="http://schemas.openxmlformats.org/drawingml/2006/main">
              <a:ext uri="{FF2B5EF4-FFF2-40B4-BE49-F238E27FC236}">
                <a16:creationId xmlns:a16="http://schemas.microsoft.com/office/drawing/2014/main" id="{A2AC527B-9D55-4E95-8EE4-8C39255DE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955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6D5BD0"/>
          </a:solidFill>
          <a:ln xmlns:a="http://schemas.openxmlformats.org/drawingml/2006/main" w="9525">
            <a:solidFill>
              <a:srgbClr val="6D5BD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521EBA99-91E1-4E7E-912F-63FC5DA65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098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1" name="section-band">
            <a:extLst xmlns:a="http://schemas.openxmlformats.org/drawingml/2006/main">
              <a:ext uri="{FF2B5EF4-FFF2-40B4-BE49-F238E27FC236}">
                <a16:creationId xmlns:a16="http://schemas.microsoft.com/office/drawing/2014/main" id="{9555B2FB-570A-4250-BCA5-89FC7ABD1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95500"/>
            <a:ext cx="171450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9525">
            <a:solidFill>
              <a:srgbClr val="D9770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section-label">
            <a:extLst xmlns:a="http://schemas.openxmlformats.org/drawingml/2006/main">
              <a:ext uri="{FF2B5EF4-FFF2-40B4-BE49-F238E27FC236}">
                <a16:creationId xmlns:a16="http://schemas.microsoft.com/office/drawing/2014/main" id="{083E270B-A28A-4726-856F-DE1B76A09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09800"/>
            <a:ext cx="1371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13" name="card">
            <a:extLst xmlns:a="http://schemas.openxmlformats.org/drawingml/2006/main">
              <a:ext uri="{FF2B5EF4-FFF2-40B4-BE49-F238E27FC236}">
                <a16:creationId xmlns:a16="http://schemas.microsoft.com/office/drawing/2014/main" id="{C50C305B-B7BB-469C-9803-29179EDE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9875"/>
            <a:ext cx="2286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B6A66F0-44B4-45CB-835A-EB22501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9875"/>
            <a:ext cx="666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390EA893-2348-4B7B-9EFC-1F6CD4AA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38475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563EB"/>
                </a:solidFill>
              </a:defRPr>
            </a:pPr>
            <a:r>
              <a:rPr sz="1800" b="1">
                <a:solidFill>
                  <a:srgbClr val="2563EB"/>
                </a:solidFill>
              </a:rPr>
              <a:t>Тальк</a:t>
            </a:r>
          </a:p>
        </p:txBody>
      </p:sp>
      <p:sp>
        <p:nvSpPr>
          <p:cNvPr id="16" name="card-body">
            <a:extLst xmlns:a="http://schemas.openxmlformats.org/drawingml/2006/main">
              <a:ext uri="{FF2B5EF4-FFF2-40B4-BE49-F238E27FC236}">
                <a16:creationId xmlns:a16="http://schemas.microsoft.com/office/drawing/2014/main" id="{3D59B21A-DC4B-433A-9DAC-5C7FF48C3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1828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готов каркас; осталось откалибровать пороги и проверить панорамы</a:t>
            </a:r>
          </a:p>
        </p:txBody>
      </p:sp>
      <p:sp>
        <p:nvSpPr>
          <p:cNvPr id="17" name="card">
            <a:extLst xmlns:a="http://schemas.openxmlformats.org/drawingml/2006/main">
              <a:ext uri="{FF2B5EF4-FFF2-40B4-BE49-F238E27FC236}">
                <a16:creationId xmlns:a16="http://schemas.microsoft.com/office/drawing/2014/main" id="{912F54F9-34A2-4D22-8EE0-E53905AA5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09875"/>
            <a:ext cx="2286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card-accent">
            <a:extLst xmlns:a="http://schemas.openxmlformats.org/drawingml/2006/main">
              <a:ext uri="{FF2B5EF4-FFF2-40B4-BE49-F238E27FC236}">
                <a16:creationId xmlns:a16="http://schemas.microsoft.com/office/drawing/2014/main" id="{2AF287C7-9853-4EF4-BF51-B5918588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809875"/>
            <a:ext cx="666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9653"/>
          </a:solidFill>
          <a:ln xmlns:a="http://schemas.openxmlformats.org/drawingml/2006/main" w="0">
            <a:solidFill>
              <a:srgbClr val="169653"/>
            </a:solidFill>
            <a:prstDash val="solid"/>
          </a:ln>
        </p:spPr>
      </p:sp>
      <p:sp>
        <p:nvSpPr>
          <p:cNvPr id="19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1BD0F42C-7BBC-4F11-B34E-CA6731D0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038475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Классификатор</a:t>
            </a:r>
          </a:p>
        </p:txBody>
      </p:sp>
      <p:sp>
        <p:nvSpPr>
          <p:cNvPr id="20" name="card-body">
            <a:extLst xmlns:a="http://schemas.openxmlformats.org/drawingml/2006/main">
              <a:ext uri="{FF2B5EF4-FFF2-40B4-BE49-F238E27FC236}">
                <a16:creationId xmlns:a16="http://schemas.microsoft.com/office/drawing/2014/main" id="{43CA36E3-0456-4117-8019-675B55C9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33775"/>
            <a:ext cx="1828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код готов; осталось обучить веса и приложить macro-F1</a:t>
            </a:r>
          </a:p>
        </p:txBody>
      </p:sp>
      <p:sp>
        <p:nvSpPr>
          <p:cNvPr id="21" name="card">
            <a:extLst xmlns:a="http://schemas.openxmlformats.org/drawingml/2006/main">
              <a:ext uri="{FF2B5EF4-FFF2-40B4-BE49-F238E27FC236}">
                <a16:creationId xmlns:a16="http://schemas.microsoft.com/office/drawing/2014/main" id="{9CAFA8BF-A9E8-487B-AB69-9328C114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09875"/>
            <a:ext cx="2286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card-accent">
            <a:extLst xmlns:a="http://schemas.openxmlformats.org/drawingml/2006/main">
              <a:ext uri="{FF2B5EF4-FFF2-40B4-BE49-F238E27FC236}">
                <a16:creationId xmlns:a16="http://schemas.microsoft.com/office/drawing/2014/main" id="{08D27DB7-D245-4DD2-8367-91AA3EFDB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09875"/>
            <a:ext cx="666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5BD0"/>
          </a:solidFill>
          <a:ln xmlns:a="http://schemas.openxmlformats.org/drawingml/2006/main" w="0">
            <a:solidFill>
              <a:srgbClr val="6D5BD0"/>
            </a:solidFill>
            <a:prstDash val="solid"/>
          </a:ln>
        </p:spPr>
      </p:sp>
      <p:sp>
        <p:nvSpPr>
          <p:cNvPr id="23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7BD8822A-F184-4F47-8649-1DFEF49CB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038475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D5BD0"/>
                </a:solidFill>
              </a:defRPr>
            </a:pPr>
            <a:r>
              <a:rPr sz="1800" b="1">
                <a:solidFill>
                  <a:srgbClr val="6D5BD0"/>
                </a:solidFill>
              </a:rPr>
              <a:t>Интеграция</a:t>
            </a:r>
          </a:p>
        </p:txBody>
      </p:sp>
      <p:sp>
        <p:nvSpPr>
          <p:cNvPr id="24" name="card-body">
            <a:extLst xmlns:a="http://schemas.openxmlformats.org/drawingml/2006/main">
              <a:ext uri="{FF2B5EF4-FFF2-40B4-BE49-F238E27FC236}">
                <a16:creationId xmlns:a16="http://schemas.microsoft.com/office/drawing/2014/main" id="{E0EEFD9F-8562-488E-9EEE-FC6AF979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533775"/>
            <a:ext cx="1828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API/Docker готовы; проверить PDF/CSV на реальных снимках</a:t>
            </a:r>
          </a:p>
        </p:txBody>
      </p:sp>
      <p:sp>
        <p:nvSpPr>
          <p:cNvPr id="25" name="card">
            <a:extLst xmlns:a="http://schemas.openxmlformats.org/drawingml/2006/main">
              <a:ext uri="{FF2B5EF4-FFF2-40B4-BE49-F238E27FC236}">
                <a16:creationId xmlns:a16="http://schemas.microsoft.com/office/drawing/2014/main" id="{4D4ADD09-3F5F-417B-AAD6-574E0195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09875"/>
            <a:ext cx="2286000" cy="1905000"/>
          </a:xfrm>
          <a:prstGeom xmlns:a="http://schemas.openxmlformats.org/drawingml/2006/main" prst="roundRect">
            <a:avLst>
              <a:gd name="adj" fmla="val 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6" name="card-accent">
            <a:extLst xmlns:a="http://schemas.openxmlformats.org/drawingml/2006/main">
              <a:ext uri="{FF2B5EF4-FFF2-40B4-BE49-F238E27FC236}">
                <a16:creationId xmlns:a16="http://schemas.microsoft.com/office/drawing/2014/main" id="{3ED4C467-B943-4231-8D57-FD2B5CA96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809875"/>
            <a:ext cx="66675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27" name="card-heading">
            <a:extLst xmlns:a="http://schemas.openxmlformats.org/drawingml/2006/main">
              <a:ext uri="{FF2B5EF4-FFF2-40B4-BE49-F238E27FC236}">
                <a16:creationId xmlns:a16="http://schemas.microsoft.com/office/drawing/2014/main" id="{793C12C5-8426-48FF-9A9D-7C3C89E8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38475"/>
            <a:ext cx="1828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Сдача</a:t>
            </a:r>
          </a:p>
        </p:txBody>
      </p:sp>
      <p:sp>
        <p:nvSpPr>
          <p:cNvPr id="28" name="card-body">
            <a:extLst xmlns:a="http://schemas.openxmlformats.org/drawingml/2006/main">
              <a:ext uri="{FF2B5EF4-FFF2-40B4-BE49-F238E27FC236}">
                <a16:creationId xmlns:a16="http://schemas.microsoft.com/office/drawing/2014/main" id="{FE0F4DDA-A23F-4AC0-B1D9-5BAEEB87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533775"/>
            <a:ext cx="18288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263244"/>
                </a:solidFill>
              </a:defRPr>
            </a:pPr>
            <a:r>
              <a:rPr sz="1275">
                <a:solidFill>
                  <a:srgbClr val="263244"/>
                </a:solidFill>
              </a:rPr>
              <a:t>UI, README, ноутбук, презентация и сценарий видео собраны</a:t>
            </a:r>
          </a:p>
        </p:txBody>
      </p:sp>
    </p:spTree>
    <p:extLst>
      <p:ext uri="{BB962C8B-B14F-4D97-AF65-F5344CB8AC3E}">
        <p14:creationId xmlns:p14="http://schemas.microsoft.com/office/powerpoint/2010/main" val="19058574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E11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5DD651-1E2A-4BE6-B95A-BB1F5C9E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8FAFC"/>
                </a:solidFill>
              </a:defRPr>
            </a:pPr>
            <a:r>
              <a:rPr sz="2925" b="1">
                <a:solidFill>
                  <a:srgbClr val="F8FAFC"/>
                </a:solidFill>
              </a:rPr>
              <a:t>Финальный эффект: быстрее, одинаковее, проверяемо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07331DC-A3CB-4D15-8C4F-8B7EFFA2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AB6C7"/>
                </a:solidFill>
              </a:defRPr>
            </a:pPr>
            <a:r>
              <a:rPr sz="1575">
                <a:solidFill>
                  <a:srgbClr val="AAB6C7"/>
                </a:solidFill>
              </a:rPr>
              <a:t>Геолог остаётся в контуре принятия решения, но рутина становится автоматической.</a:t>
            </a:r>
          </a:p>
        </p:txBody>
      </p:sp>
      <p:sp>
        <p:nvSpPr>
          <p:cNvPr id="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A3F1EED-8C2C-4937-9133-94917F7F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4CFD322-8B43-4961-B1D2-D9D2CCC3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18</a:t>
            </a:r>
          </a:p>
        </p:txBody>
      </p:sp>
      <p:sp>
        <p:nvSpPr>
          <p:cNvPr id="5" name="big">
            <a:extLst xmlns:a="http://schemas.openxmlformats.org/drawingml/2006/main">
              <a:ext uri="{FF2B5EF4-FFF2-40B4-BE49-F238E27FC236}">
                <a16:creationId xmlns:a16="http://schemas.microsoft.com/office/drawing/2014/main" id="{999ACD01-70FA-4699-9832-D6199FB45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286000"/>
            <a:ext cx="981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8FAFC"/>
                </a:solidFill>
              </a:defRPr>
            </a:pPr>
            <a:r>
              <a:rPr sz="3150" b="1">
                <a:solidFill>
                  <a:srgbClr val="F8FAFC"/>
                </a:solidFill>
              </a:rPr>
              <a:t>Фото аншлифа → сорт руды → карта талька → подтверждённый отчёт</a:t>
            </a:r>
          </a:p>
        </p:txBody>
      </p:sp>
      <p:sp>
        <p:nvSpPr>
          <p:cNvPr id="6" name="dark-card">
            <a:extLst xmlns:a="http://schemas.openxmlformats.org/drawingml/2006/main">
              <a:ext uri="{FF2B5EF4-FFF2-40B4-BE49-F238E27FC236}">
                <a16:creationId xmlns:a16="http://schemas.microsoft.com/office/drawing/2014/main" id="{49C25C72-E116-4675-8C6F-2E6D3AD0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05250"/>
            <a:ext cx="2667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66D90F05-CA74-49EF-9C4E-4770AE0B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133850"/>
            <a:ext cx="2209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69653"/>
                </a:solidFill>
              </a:defRPr>
            </a:pPr>
            <a:r>
              <a:rPr sz="1800" b="1">
                <a:solidFill>
                  <a:srgbClr val="169653"/>
                </a:solidFill>
              </a:rPr>
              <a:t>Для геолога</a:t>
            </a:r>
          </a:p>
        </p:txBody>
      </p:sp>
      <p:sp>
        <p:nvSpPr>
          <p:cNvPr id="8" name="dark-body">
            <a:extLst xmlns:a="http://schemas.openxmlformats.org/drawingml/2006/main">
              <a:ext uri="{FF2B5EF4-FFF2-40B4-BE49-F238E27FC236}">
                <a16:creationId xmlns:a16="http://schemas.microsoft.com/office/drawing/2014/main" id="{EF2226CE-DF46-45BC-B8C0-A159E360C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4629150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меньше ручной рутины и больше проверяемости</a:t>
            </a:r>
          </a:p>
        </p:txBody>
      </p:sp>
      <p:sp>
        <p:nvSpPr>
          <p:cNvPr id="9" name="dark-card">
            <a:extLst xmlns:a="http://schemas.openxmlformats.org/drawingml/2006/main">
              <a:ext uri="{FF2B5EF4-FFF2-40B4-BE49-F238E27FC236}">
                <a16:creationId xmlns:a16="http://schemas.microsoft.com/office/drawing/2014/main" id="{1E5B4A8E-C6A6-4CAF-91E4-0F9A6054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05250"/>
            <a:ext cx="2667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09E64CC9-9091-4F5D-9429-DFD31468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33850"/>
            <a:ext cx="2209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DD4BF"/>
                </a:solidFill>
              </a:defRPr>
            </a:pPr>
            <a:r>
              <a:rPr sz="1800" b="1">
                <a:solidFill>
                  <a:srgbClr val="2DD4BF"/>
                </a:solidFill>
              </a:rPr>
              <a:t>Для команды</a:t>
            </a:r>
          </a:p>
        </p:txBody>
      </p:sp>
      <p:sp>
        <p:nvSpPr>
          <p:cNvPr id="11" name="dark-body">
            <a:extLst xmlns:a="http://schemas.openxmlformats.org/drawingml/2006/main">
              <a:ext uri="{FF2B5EF4-FFF2-40B4-BE49-F238E27FC236}">
                <a16:creationId xmlns:a16="http://schemas.microsoft.com/office/drawing/2014/main" id="{04971A83-2BA4-495B-AF2F-6919950A2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единый контракт между P1, P2, P3 и P4</a:t>
            </a:r>
          </a:p>
        </p:txBody>
      </p:sp>
      <p:sp>
        <p:nvSpPr>
          <p:cNvPr id="12" name="dark-card">
            <a:extLst xmlns:a="http://schemas.openxmlformats.org/drawingml/2006/main">
              <a:ext uri="{FF2B5EF4-FFF2-40B4-BE49-F238E27FC236}">
                <a16:creationId xmlns:a16="http://schemas.microsoft.com/office/drawing/2014/main" id="{4D1B68AE-BA0D-48E7-BA9F-40FB3087E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05250"/>
            <a:ext cx="2667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92132"/>
          </a:solidFill>
          <a:ln xmlns:a="http://schemas.openxmlformats.org/drawingml/2006/main" w="9525">
            <a:solidFill>
              <a:srgbClr val="2E3A5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dark-heading">
            <a:extLst xmlns:a="http://schemas.openxmlformats.org/drawingml/2006/main">
              <a:ext uri="{FF2B5EF4-FFF2-40B4-BE49-F238E27FC236}">
                <a16:creationId xmlns:a16="http://schemas.microsoft.com/office/drawing/2014/main" id="{83C838FD-361A-4CFD-A12E-3F0AFBBB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133850"/>
            <a:ext cx="2209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D97706"/>
                </a:solidFill>
              </a:defRPr>
            </a:pPr>
            <a:r>
              <a:rPr sz="1800" b="1">
                <a:solidFill>
                  <a:srgbClr val="D97706"/>
                </a:solidFill>
              </a:rPr>
              <a:t>Для сдачи</a:t>
            </a:r>
          </a:p>
        </p:txBody>
      </p:sp>
      <p:sp>
        <p:nvSpPr>
          <p:cNvPr id="14" name="dark-body">
            <a:extLst xmlns:a="http://schemas.openxmlformats.org/drawingml/2006/main">
              <a:ext uri="{FF2B5EF4-FFF2-40B4-BE49-F238E27FC236}">
                <a16:creationId xmlns:a16="http://schemas.microsoft.com/office/drawing/2014/main" id="{14D4994D-F273-4FD4-B526-232DF451B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2475" y="4629150"/>
            <a:ext cx="2209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DDE7F5"/>
                </a:solidFill>
              </a:defRPr>
            </a:pPr>
            <a:r>
              <a:rPr sz="1275">
                <a:solidFill>
                  <a:srgbClr val="DDE7F5"/>
                </a:solidFill>
              </a:rPr>
              <a:t>живой UI, презентация, README и отчётные файлы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073D355B-BB17-4634-A037-E0060FC30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AAB6C7"/>
                </a:solidFill>
              </a:defRPr>
            </a:pPr>
            <a:r>
              <a:rPr sz="1125">
                <a:solidFill>
                  <a:srgbClr val="AAB6C7"/>
                </a:solidFill>
              </a:rPr>
              <a:t>Скажи мне, кто твой шлиф</a:t>
            </a:r>
          </a:p>
        </p:txBody>
      </p:sp>
      <p:sp>
        <p:nvSpPr>
          <p:cNvPr id="1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1685E23-E220-4189-8AB8-CFD34E2C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28650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AB6C7"/>
                </a:solidFill>
              </a:defRPr>
            </a:pPr>
            <a:r>
              <a:rPr sz="1125" b="1">
                <a:solidFill>
                  <a:srgbClr val="AAB6C7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1028246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2026-07-03T16:58:17.7510000Z</dcterms:created>
  <dcterms:modified xsi:type="dcterms:W3CDTF">2026-07-03T16:58:17.7510000Z</dcterms:modified>
</coreProperties>
</file>