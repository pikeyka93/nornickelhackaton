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2CF84DF7-2C34-4FC6-943D-BF127091905F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Норникель хакатон · компьютерное зрение для аншлифов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B92F2899-F876-47B8-8EFD-CB6B5AA5F0A6}"/>
              </a:ext>
            </a:extLst>
          </p:cNvPr>
          <p:cNvSpPr>
            <a:spLocks noGrp="1"/>
          </p:cNvSpPr>
          <p:nvPr/>
        </p:nvSpPr>
        <p:spPr>
          <a:xfrm>
            <a:off x="533400" y="1238250"/>
            <a:ext cx="58102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025" b="1">
                <a:solidFill>
                  <a:srgbClr val="F8FAFC"/>
                </a:solidFill>
              </a:defRPr>
            </a:pPr>
            <a:r>
              <a:rPr sz="5025" b="1">
                <a:solidFill>
                  <a:srgbClr val="F8FAFC"/>
                </a:solidFill>
              </a:rPr>
              <a:t>Скажи мне,</a:t>
            </a:r>
          </a:p>
          <a:p>
            <a:pPr>
              <a:defRPr sz="5025" b="1">
                <a:solidFill>
                  <a:srgbClr val="F8FAFC"/>
                </a:solidFill>
              </a:defRPr>
            </a:pPr>
            <a:r>
              <a:rPr sz="5025" b="1">
                <a:solidFill>
                  <a:srgbClr val="F8FAFC"/>
                </a:solidFill>
              </a:rPr>
              <a:t>кто твой шлиф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996AC42F-8EB9-49C7-B095-BDBBAB976184}"/>
              </a:ext>
            </a:extLst>
          </p:cNvPr>
          <p:cNvSpPr>
            <a:spLocks noGrp="1"/>
          </p:cNvSpPr>
          <p:nvPr/>
        </p:nvSpPr>
        <p:spPr>
          <a:xfrm>
            <a:off x="533400" y="3286125"/>
            <a:ext cx="55721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CAD5E4"/>
                </a:solidFill>
              </a:defRPr>
            </a:pPr>
            <a:r>
              <a:rPr sz="1875">
                <a:solidFill>
                  <a:srgbClr val="CAD5E4"/>
                </a:solidFill>
              </a:rPr>
              <a:t>Программа по фото среза руды определяет её сорт и показывает, где на снимке тальк.</a:t>
            </a:r>
          </a:p>
        </p:txBody>
      </p:sp>
      <p:sp>
        <p:nvSpPr>
          <p:cNvPr id="4" name="dark-card">
            <a:extLst>
              <a:ext uri="{FF2B5EF4-FFF2-40B4-BE49-F238E27FC236}">
                <a16:creationId xmlns:a16="http://schemas.microsoft.com/office/drawing/2014/main" id="{465BEEC8-C5C5-492D-B7D6-9ADE9AC5C770}"/>
              </a:ext>
            </a:extLst>
          </p:cNvPr>
          <p:cNvSpPr>
            <a:spLocks noGrp="1"/>
          </p:cNvSpPr>
          <p:nvPr/>
        </p:nvSpPr>
        <p:spPr>
          <a:xfrm>
            <a:off x="533400" y="485775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dark-heading">
            <a:extLst>
              <a:ext uri="{FF2B5EF4-FFF2-40B4-BE49-F238E27FC236}">
                <a16:creationId xmlns:a16="http://schemas.microsoft.com/office/drawing/2014/main" id="{B8DF83B4-F15A-43DF-8DE6-CFDE74FF96C5}"/>
              </a:ext>
            </a:extLst>
          </p:cNvPr>
          <p:cNvSpPr>
            <a:spLocks noGrp="1"/>
          </p:cNvSpPr>
          <p:nvPr/>
        </p:nvSpPr>
        <p:spPr>
          <a:xfrm>
            <a:off x="762000" y="50863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Сорт</a:t>
            </a:r>
          </a:p>
        </p:txBody>
      </p:sp>
      <p:sp>
        <p:nvSpPr>
          <p:cNvPr id="6" name="dark-body">
            <a:extLst>
              <a:ext uri="{FF2B5EF4-FFF2-40B4-BE49-F238E27FC236}">
                <a16:creationId xmlns:a16="http://schemas.microsoft.com/office/drawing/2014/main" id="{32157898-A71C-4BFD-BE59-23DA5F930E7B}"/>
              </a:ext>
            </a:extLst>
          </p:cNvPr>
          <p:cNvSpPr>
            <a:spLocks noGrp="1"/>
          </p:cNvSpPr>
          <p:nvPr/>
        </p:nvSpPr>
        <p:spPr>
          <a:xfrm>
            <a:off x="762000" y="5581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главный ответ для геолога</a:t>
            </a:r>
          </a:p>
        </p:txBody>
      </p:sp>
      <p:sp>
        <p:nvSpPr>
          <p:cNvPr id="7" name="dark-card">
            <a:extLst>
              <a:ext uri="{FF2B5EF4-FFF2-40B4-BE49-F238E27FC236}">
                <a16:creationId xmlns:a16="http://schemas.microsoft.com/office/drawing/2014/main" id="{70B6F4C6-9445-4BAB-B5AD-B973FAD17B8C}"/>
              </a:ext>
            </a:extLst>
          </p:cNvPr>
          <p:cNvSpPr>
            <a:spLocks noGrp="1"/>
          </p:cNvSpPr>
          <p:nvPr/>
        </p:nvSpPr>
        <p:spPr>
          <a:xfrm>
            <a:off x="2990850" y="485775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dark-heading">
            <a:extLst>
              <a:ext uri="{FF2B5EF4-FFF2-40B4-BE49-F238E27FC236}">
                <a16:creationId xmlns:a16="http://schemas.microsoft.com/office/drawing/2014/main" id="{9E6D4745-8F00-4692-9CF0-B08FD3FD5529}"/>
              </a:ext>
            </a:extLst>
          </p:cNvPr>
          <p:cNvSpPr>
            <a:spLocks noGrp="1"/>
          </p:cNvSpPr>
          <p:nvPr/>
        </p:nvSpPr>
        <p:spPr>
          <a:xfrm>
            <a:off x="3219450" y="50863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Тальк</a:t>
            </a:r>
          </a:p>
        </p:txBody>
      </p:sp>
      <p:sp>
        <p:nvSpPr>
          <p:cNvPr id="9" name="dark-body">
            <a:extLst>
              <a:ext uri="{FF2B5EF4-FFF2-40B4-BE49-F238E27FC236}">
                <a16:creationId xmlns:a16="http://schemas.microsoft.com/office/drawing/2014/main" id="{A0EEA000-5641-4D9E-877B-26E52E224660}"/>
              </a:ext>
            </a:extLst>
          </p:cNvPr>
          <p:cNvSpPr>
            <a:spLocks noGrp="1"/>
          </p:cNvSpPr>
          <p:nvPr/>
        </p:nvSpPr>
        <p:spPr>
          <a:xfrm>
            <a:off x="3219450" y="5581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маска и процент площади</a:t>
            </a:r>
          </a:p>
        </p:txBody>
      </p:sp>
      <p:sp>
        <p:nvSpPr>
          <p:cNvPr id="10" name="dark-card">
            <a:extLst>
              <a:ext uri="{FF2B5EF4-FFF2-40B4-BE49-F238E27FC236}">
                <a16:creationId xmlns:a16="http://schemas.microsoft.com/office/drawing/2014/main" id="{672E34A4-C4B4-439C-B13C-EB84C6517BCE}"/>
              </a:ext>
            </a:extLst>
          </p:cNvPr>
          <p:cNvSpPr>
            <a:spLocks noGrp="1"/>
          </p:cNvSpPr>
          <p:nvPr/>
        </p:nvSpPr>
        <p:spPr>
          <a:xfrm>
            <a:off x="5448300" y="485775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dark-heading">
            <a:extLst>
              <a:ext uri="{FF2B5EF4-FFF2-40B4-BE49-F238E27FC236}">
                <a16:creationId xmlns:a16="http://schemas.microsoft.com/office/drawing/2014/main" id="{4FFC46FD-8067-4331-9F68-4955723178E4}"/>
              </a:ext>
            </a:extLst>
          </p:cNvPr>
          <p:cNvSpPr>
            <a:spLocks noGrp="1"/>
          </p:cNvSpPr>
          <p:nvPr/>
        </p:nvSpPr>
        <p:spPr>
          <a:xfrm>
            <a:off x="5676900" y="50863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Отчёт</a:t>
            </a:r>
          </a:p>
        </p:txBody>
      </p:sp>
      <p:sp>
        <p:nvSpPr>
          <p:cNvPr id="12" name="dark-body">
            <a:extLst>
              <a:ext uri="{FF2B5EF4-FFF2-40B4-BE49-F238E27FC236}">
                <a16:creationId xmlns:a16="http://schemas.microsoft.com/office/drawing/2014/main" id="{F888AE72-A721-4E98-BA5F-9A5A1E0097F8}"/>
              </a:ext>
            </a:extLst>
          </p:cNvPr>
          <p:cNvSpPr>
            <a:spLocks noGrp="1"/>
          </p:cNvSpPr>
          <p:nvPr/>
        </p:nvSpPr>
        <p:spPr>
          <a:xfrm>
            <a:off x="5676900" y="5581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PDF/CSV/JSON для сдачи</a:t>
            </a:r>
          </a:p>
        </p:txBody>
      </p:sp>
      <p:sp>
        <p:nvSpPr>
          <p:cNvPr id="13" name="image-frame">
            <a:extLst>
              <a:ext uri="{FF2B5EF4-FFF2-40B4-BE49-F238E27FC236}">
                <a16:creationId xmlns:a16="http://schemas.microsoft.com/office/drawing/2014/main" id="{BAA3491A-E985-4D76-BC1D-EB6E0BB20530}"/>
              </a:ext>
            </a:extLst>
          </p:cNvPr>
          <p:cNvSpPr>
            <a:spLocks noGrp="1"/>
          </p:cNvSpPr>
          <p:nvPr/>
        </p:nvSpPr>
        <p:spPr>
          <a:xfrm>
            <a:off x="8096250" y="990600"/>
            <a:ext cx="3314700" cy="4953000"/>
          </a:xfrm>
          <a:prstGeom prst="roundRect">
            <a:avLst>
              <a:gd name="adj" fmla="val 3448"/>
            </a:avLst>
          </a:prstGeom>
          <a:solidFill>
            <a:srgbClr val="0B0F17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rcRect l="1034" r="1034"/>
          <a:stretch>
            <a:fillRect/>
          </a:stretch>
        </p:blipFill>
        <p:spPr>
          <a:xfrm>
            <a:off x="8191500" y="1085850"/>
            <a:ext cx="3124200" cy="4457700"/>
          </a:xfrm>
          <a:prstGeom prst="rect">
            <a:avLst/>
          </a:prstGeom>
        </p:spPr>
      </p:pic>
      <p:sp>
        <p:nvSpPr>
          <p:cNvPr id="15" name="image-caption">
            <a:extLst>
              <a:ext uri="{FF2B5EF4-FFF2-40B4-BE49-F238E27FC236}">
                <a16:creationId xmlns:a16="http://schemas.microsoft.com/office/drawing/2014/main" id="{5B374F1D-41FA-4285-AF09-9A58630EDCC7}"/>
              </a:ext>
            </a:extLst>
          </p:cNvPr>
          <p:cNvSpPr>
            <a:spLocks noGrp="1"/>
          </p:cNvSpPr>
          <p:nvPr/>
        </p:nvSpPr>
        <p:spPr>
          <a:xfrm>
            <a:off x="8267700" y="561975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C6D0DF"/>
                </a:solidFill>
              </a:defRPr>
            </a:pPr>
            <a:r>
              <a:rPr sz="1050">
                <a:solidFill>
                  <a:srgbClr val="C6D0DF"/>
                </a:solidFill>
              </a:rPr>
              <a:t>локальный Streamlit-интерфейс</a:t>
            </a:r>
          </a:p>
        </p:txBody>
      </p:sp>
      <p:sp>
        <p:nvSpPr>
          <p:cNvPr id="16" name="footer-left">
            <a:extLst>
              <a:ext uri="{FF2B5EF4-FFF2-40B4-BE49-F238E27FC236}">
                <a16:creationId xmlns:a16="http://schemas.microsoft.com/office/drawing/2014/main" id="{19F577A4-3AA8-408E-AC18-A007CE51091C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17" name="footer-number">
            <a:extLst>
              <a:ext uri="{FF2B5EF4-FFF2-40B4-BE49-F238E27FC236}">
                <a16:creationId xmlns:a16="http://schemas.microsoft.com/office/drawing/2014/main" id="{3496D683-BA80-4976-B18A-D9FF7B5FCF8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051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24D9F924-FA9E-4811-B575-C6814F5255B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Ручная оценка слишком зависит от человека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766EB07-BAF1-4DC8-B3B9-736915A0BFA6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Геолог видит срез руды под микроскопом и на глаз решает, насколько легко её обогащать.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659B74F7-CEA3-42AA-9E5E-4356E4D117AA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E5A1EC2E-E02E-4CF3-8EDF-621B3FC9CC5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C2F9E2FB-EC0D-4AA5-B323-3880B968B75A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4762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Проблема не в том, что эксперт ошибается. Проблема в том, что один и тот же поток снимков сложно оценивать быстро и одинаково.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DACEDA36-B3C6-4972-B3A7-2B06DDCF1A5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49530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4C522010-1EE7-40EA-AE32-D326034A9758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66675" cy="99060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8" name="card-kicker">
            <a:extLst>
              <a:ext uri="{FF2B5EF4-FFF2-40B4-BE49-F238E27FC236}">
                <a16:creationId xmlns:a16="http://schemas.microsoft.com/office/drawing/2014/main" id="{4BBF8BA4-DA67-4A68-9CBF-BD935465D903}"/>
              </a:ext>
            </a:extLst>
          </p:cNvPr>
          <p:cNvSpPr>
            <a:spLocks noGrp="1"/>
          </p:cNvSpPr>
          <p:nvPr/>
        </p:nvSpPr>
        <p:spPr>
          <a:xfrm>
            <a:off x="6324600" y="217170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9" name="card-heading">
            <a:extLst>
              <a:ext uri="{FF2B5EF4-FFF2-40B4-BE49-F238E27FC236}">
                <a16:creationId xmlns:a16="http://schemas.microsoft.com/office/drawing/2014/main" id="{B7B0B9B8-A24B-45BB-8064-811F7602F292}"/>
              </a:ext>
            </a:extLst>
          </p:cNvPr>
          <p:cNvSpPr>
            <a:spLocks noGrp="1"/>
          </p:cNvSpPr>
          <p:nvPr/>
        </p:nvSpPr>
        <p:spPr>
          <a:xfrm>
            <a:off x="6324600" y="24384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на глаз долго и субъективно</a:t>
            </a:r>
          </a:p>
        </p:txBody>
      </p:sp>
      <p:sp>
        <p:nvSpPr>
          <p:cNvPr id="10" name="card-body">
            <a:extLst>
              <a:ext uri="{FF2B5EF4-FFF2-40B4-BE49-F238E27FC236}">
                <a16:creationId xmlns:a16="http://schemas.microsoft.com/office/drawing/2014/main" id="{FE534E41-7BD4-4C22-8092-80B6A4295569}"/>
              </a:ext>
            </a:extLst>
          </p:cNvPr>
          <p:cNvSpPr>
            <a:spLocks noGrp="1"/>
          </p:cNvSpPr>
          <p:nvPr/>
        </p:nvSpPr>
        <p:spPr>
          <a:xfrm>
            <a:off x="6324600" y="2876550"/>
            <a:ext cx="44958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субъективность влияет на сортировку</a:t>
            </a:r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C24F0DC1-39D7-4D31-B1E6-D30D23A727FC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49530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card-accent">
            <a:extLst>
              <a:ext uri="{FF2B5EF4-FFF2-40B4-BE49-F238E27FC236}">
                <a16:creationId xmlns:a16="http://schemas.microsoft.com/office/drawing/2014/main" id="{72C48801-862E-4671-901A-211722F46B3C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66675" cy="990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3" name="card-kicker">
            <a:extLst>
              <a:ext uri="{FF2B5EF4-FFF2-40B4-BE49-F238E27FC236}">
                <a16:creationId xmlns:a16="http://schemas.microsoft.com/office/drawing/2014/main" id="{A92381BE-24AE-495D-B5DE-E921516B2E5E}"/>
              </a:ext>
            </a:extLst>
          </p:cNvPr>
          <p:cNvSpPr>
            <a:spLocks noGrp="1"/>
          </p:cNvSpPr>
          <p:nvPr/>
        </p:nvSpPr>
        <p:spPr>
          <a:xfrm>
            <a:off x="6324600" y="342900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14" name="card-heading">
            <a:extLst>
              <a:ext uri="{FF2B5EF4-FFF2-40B4-BE49-F238E27FC236}">
                <a16:creationId xmlns:a16="http://schemas.microsoft.com/office/drawing/2014/main" id="{4B08B67B-F6D1-4EE4-B92C-D61B03C35485}"/>
              </a:ext>
            </a:extLst>
          </p:cNvPr>
          <p:cNvSpPr>
            <a:spLocks noGrp="1"/>
          </p:cNvSpPr>
          <p:nvPr/>
        </p:nvSpPr>
        <p:spPr>
          <a:xfrm>
            <a:off x="6324600" y="36957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разные геологи могут дать разные оценки</a:t>
            </a:r>
          </a:p>
        </p:txBody>
      </p:sp>
      <p:sp>
        <p:nvSpPr>
          <p:cNvPr id="15" name="card-body">
            <a:extLst>
              <a:ext uri="{FF2B5EF4-FFF2-40B4-BE49-F238E27FC236}">
                <a16:creationId xmlns:a16="http://schemas.microsoft.com/office/drawing/2014/main" id="{B6B07A0D-7A21-48B7-89CB-81651C3E5B6B}"/>
              </a:ext>
            </a:extLst>
          </p:cNvPr>
          <p:cNvSpPr>
            <a:spLocks noGrp="1"/>
          </p:cNvSpPr>
          <p:nvPr/>
        </p:nvSpPr>
        <p:spPr>
          <a:xfrm>
            <a:off x="6324600" y="4133850"/>
            <a:ext cx="44958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нужен единый критерий для команды</a:t>
            </a:r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800451C0-54B2-4718-AB00-BF251EC12ADD}"/>
              </a:ext>
            </a:extLst>
          </p:cNvPr>
          <p:cNvSpPr>
            <a:spLocks noGrp="1"/>
          </p:cNvSpPr>
          <p:nvPr/>
        </p:nvSpPr>
        <p:spPr>
          <a:xfrm>
            <a:off x="6096000" y="4514850"/>
            <a:ext cx="49530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card-accent">
            <a:extLst>
              <a:ext uri="{FF2B5EF4-FFF2-40B4-BE49-F238E27FC236}">
                <a16:creationId xmlns:a16="http://schemas.microsoft.com/office/drawing/2014/main" id="{5228409F-8E81-4104-8292-2FECE5E56C57}"/>
              </a:ext>
            </a:extLst>
          </p:cNvPr>
          <p:cNvSpPr>
            <a:spLocks noGrp="1"/>
          </p:cNvSpPr>
          <p:nvPr/>
        </p:nvSpPr>
        <p:spPr>
          <a:xfrm>
            <a:off x="6096000" y="4514850"/>
            <a:ext cx="66675" cy="990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card-kicker">
            <a:extLst>
              <a:ext uri="{FF2B5EF4-FFF2-40B4-BE49-F238E27FC236}">
                <a16:creationId xmlns:a16="http://schemas.microsoft.com/office/drawing/2014/main" id="{C9AB548F-1815-457B-B142-4C0EBF04DBD9}"/>
              </a:ext>
            </a:extLst>
          </p:cNvPr>
          <p:cNvSpPr>
            <a:spLocks noGrp="1"/>
          </p:cNvSpPr>
          <p:nvPr/>
        </p:nvSpPr>
        <p:spPr>
          <a:xfrm>
            <a:off x="6324600" y="468630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19" name="card-heading">
            <a:extLst>
              <a:ext uri="{FF2B5EF4-FFF2-40B4-BE49-F238E27FC236}">
                <a16:creationId xmlns:a16="http://schemas.microsoft.com/office/drawing/2014/main" id="{B35A6732-4007-4239-BE55-C6C63FF0D99F}"/>
              </a:ext>
            </a:extLst>
          </p:cNvPr>
          <p:cNvSpPr>
            <a:spLocks noGrp="1"/>
          </p:cNvSpPr>
          <p:nvPr/>
        </p:nvSpPr>
        <p:spPr>
          <a:xfrm>
            <a:off x="6324600" y="4953000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поток снимков трудно разбирать вручную</a:t>
            </a:r>
          </a:p>
        </p:txBody>
      </p:sp>
      <p:sp>
        <p:nvSpPr>
          <p:cNvPr id="20" name="card-body">
            <a:extLst>
              <a:ext uri="{FF2B5EF4-FFF2-40B4-BE49-F238E27FC236}">
                <a16:creationId xmlns:a16="http://schemas.microsoft.com/office/drawing/2014/main" id="{A3CB17C7-7D34-4A30-B65F-028C8F223CC8}"/>
              </a:ext>
            </a:extLst>
          </p:cNvPr>
          <p:cNvSpPr>
            <a:spLocks noGrp="1"/>
          </p:cNvSpPr>
          <p:nvPr/>
        </p:nvSpPr>
        <p:spPr>
          <a:xfrm>
            <a:off x="6324600" y="5391150"/>
            <a:ext cx="44958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нужна обработка без ручного bottleneck</a:t>
            </a:r>
          </a:p>
        </p:txBody>
      </p:sp>
    </p:spTree>
    <p:extLst>
      <p:ext uri="{BB962C8B-B14F-4D97-AF65-F5344CB8AC3E}">
        <p14:creationId xmlns:p14="http://schemas.microsoft.com/office/powerpoint/2010/main" val="184195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8788EE36-DA10-4CB4-8A0E-5FFB4EDA569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Система возвращает сорт и карту талька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7053436-3098-44EE-A3E3-C07A1CE79D70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AAB6C7"/>
                </a:solidFill>
              </a:defRPr>
            </a:pPr>
            <a:r>
              <a:rPr sz="1575">
                <a:solidFill>
                  <a:srgbClr val="AAB6C7"/>
                </a:solidFill>
              </a:rPr>
              <a:t>На выходе геолог получает не только класс, но и объяснение на изображении.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DA199572-CC63-483A-B462-D2D2E1134564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994F9A2C-BF61-418A-BF04-499465375F4C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03</a:t>
            </a:r>
          </a:p>
        </p:txBody>
      </p:sp>
      <p:sp>
        <p:nvSpPr>
          <p:cNvPr id="5" name="image-frame">
            <a:extLst>
              <a:ext uri="{FF2B5EF4-FFF2-40B4-BE49-F238E27FC236}">
                <a16:creationId xmlns:a16="http://schemas.microsoft.com/office/drawing/2014/main" id="{15ECC949-6F83-4827-963C-40D559D28315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6191250" cy="3352800"/>
          </a:xfrm>
          <a:prstGeom prst="roundRect">
            <a:avLst>
              <a:gd name="adj" fmla="val 3409"/>
            </a:avLst>
          </a:prstGeom>
          <a:solidFill>
            <a:srgbClr val="0B0F17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2556342"/>
            <a:ext cx="6000750" cy="1840566"/>
          </a:xfrm>
          <a:prstGeom prst="rect">
            <a:avLst/>
          </a:prstGeom>
        </p:spPr>
      </p:pic>
      <p:sp>
        <p:nvSpPr>
          <p:cNvPr id="7" name="image-caption">
            <a:extLst>
              <a:ext uri="{FF2B5EF4-FFF2-40B4-BE49-F238E27FC236}">
                <a16:creationId xmlns:a16="http://schemas.microsoft.com/office/drawing/2014/main" id="{41FDFB9C-C39D-47D4-AD99-8EE58BC81C70}"/>
              </a:ext>
            </a:extLst>
          </p:cNvPr>
          <p:cNvSpPr>
            <a:spLocks noGrp="1"/>
          </p:cNvSpPr>
          <p:nvPr/>
        </p:nvSpPr>
        <p:spPr>
          <a:xfrm>
            <a:off x="704850" y="4981575"/>
            <a:ext cx="584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C6D0DF"/>
                </a:solidFill>
              </a:defRPr>
            </a:pPr>
            <a:r>
              <a:rPr sz="1050">
                <a:solidFill>
                  <a:srgbClr val="C6D0DF"/>
                </a:solidFill>
              </a:rPr>
              <a:t>пример экрана результата</a:t>
            </a:r>
          </a:p>
        </p:txBody>
      </p:sp>
      <p:sp>
        <p:nvSpPr>
          <p:cNvPr id="8" name="dark-card">
            <a:extLst>
              <a:ext uri="{FF2B5EF4-FFF2-40B4-BE49-F238E27FC236}">
                <a16:creationId xmlns:a16="http://schemas.microsoft.com/office/drawing/2014/main" id="{CAD09360-B756-41E7-A67E-EC3FB228D94B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3810000" cy="1028700"/>
          </a:xfrm>
          <a:prstGeom prst="roundRect">
            <a:avLst>
              <a:gd name="adj" fmla="val 1111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dark-heading">
            <a:extLst>
              <a:ext uri="{FF2B5EF4-FFF2-40B4-BE49-F238E27FC236}">
                <a16:creationId xmlns:a16="http://schemas.microsoft.com/office/drawing/2014/main" id="{5D6E5392-5D95-43BA-A618-148ECEB473CC}"/>
              </a:ext>
            </a:extLst>
          </p:cNvPr>
          <p:cNvSpPr>
            <a:spLocks noGrp="1"/>
          </p:cNvSpPr>
          <p:nvPr/>
        </p:nvSpPr>
        <p:spPr>
          <a:xfrm>
            <a:off x="7467600" y="2181225"/>
            <a:ext cx="335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1. Вердикт</a:t>
            </a:r>
          </a:p>
        </p:txBody>
      </p:sp>
      <p:sp>
        <p:nvSpPr>
          <p:cNvPr id="10" name="dark-body">
            <a:extLst>
              <a:ext uri="{FF2B5EF4-FFF2-40B4-BE49-F238E27FC236}">
                <a16:creationId xmlns:a16="http://schemas.microsoft.com/office/drawing/2014/main" id="{E3EB3E9D-A429-4C06-992D-EF17638CEEB6}"/>
              </a:ext>
            </a:extLst>
          </p:cNvPr>
          <p:cNvSpPr>
            <a:spLocks noGrp="1"/>
          </p:cNvSpPr>
          <p:nvPr/>
        </p:nvSpPr>
        <p:spPr>
          <a:xfrm>
            <a:off x="7467600" y="2676525"/>
            <a:ext cx="3352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один из трёх сортов руды выводится крупно и понятно</a:t>
            </a:r>
          </a:p>
        </p:txBody>
      </p:sp>
      <p:sp>
        <p:nvSpPr>
          <p:cNvPr id="11" name="dark-card">
            <a:extLst>
              <a:ext uri="{FF2B5EF4-FFF2-40B4-BE49-F238E27FC236}">
                <a16:creationId xmlns:a16="http://schemas.microsoft.com/office/drawing/2014/main" id="{0426FE30-52DB-4163-B61B-07A05E27B7A4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3810000" cy="1028700"/>
          </a:xfrm>
          <a:prstGeom prst="roundRect">
            <a:avLst>
              <a:gd name="adj" fmla="val 1111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dark-heading">
            <a:extLst>
              <a:ext uri="{FF2B5EF4-FFF2-40B4-BE49-F238E27FC236}">
                <a16:creationId xmlns:a16="http://schemas.microsoft.com/office/drawing/2014/main" id="{78211139-2FA7-4C34-AAA0-7553312DAD8C}"/>
              </a:ext>
            </a:extLst>
          </p:cNvPr>
          <p:cNvSpPr>
            <a:spLocks noGrp="1"/>
          </p:cNvSpPr>
          <p:nvPr/>
        </p:nvSpPr>
        <p:spPr>
          <a:xfrm>
            <a:off x="7467600" y="3486150"/>
            <a:ext cx="335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2. Маска</a:t>
            </a:r>
          </a:p>
        </p:txBody>
      </p:sp>
      <p:sp>
        <p:nvSpPr>
          <p:cNvPr id="13" name="dark-body">
            <a:extLst>
              <a:ext uri="{FF2B5EF4-FFF2-40B4-BE49-F238E27FC236}">
                <a16:creationId xmlns:a16="http://schemas.microsoft.com/office/drawing/2014/main" id="{0C8ACB16-25BD-4B42-9E9F-CF4E09CA138C}"/>
              </a:ext>
            </a:extLst>
          </p:cNvPr>
          <p:cNvSpPr>
            <a:spLocks noGrp="1"/>
          </p:cNvSpPr>
          <p:nvPr/>
        </p:nvSpPr>
        <p:spPr>
          <a:xfrm>
            <a:off x="7467600" y="3981450"/>
            <a:ext cx="3352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тальк подсвечивается на снимке синим цветом</a:t>
            </a:r>
          </a:p>
        </p:txBody>
      </p:sp>
      <p:sp>
        <p:nvSpPr>
          <p:cNvPr id="14" name="dark-card">
            <a:extLst>
              <a:ext uri="{FF2B5EF4-FFF2-40B4-BE49-F238E27FC236}">
                <a16:creationId xmlns:a16="http://schemas.microsoft.com/office/drawing/2014/main" id="{04F8B575-CA2D-467E-A3C1-20739F10BE63}"/>
              </a:ext>
            </a:extLst>
          </p:cNvPr>
          <p:cNvSpPr>
            <a:spLocks noGrp="1"/>
          </p:cNvSpPr>
          <p:nvPr/>
        </p:nvSpPr>
        <p:spPr>
          <a:xfrm>
            <a:off x="7239000" y="4562475"/>
            <a:ext cx="3810000" cy="1028700"/>
          </a:xfrm>
          <a:prstGeom prst="roundRect">
            <a:avLst>
              <a:gd name="adj" fmla="val 1111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dark-heading">
            <a:extLst>
              <a:ext uri="{FF2B5EF4-FFF2-40B4-BE49-F238E27FC236}">
                <a16:creationId xmlns:a16="http://schemas.microsoft.com/office/drawing/2014/main" id="{3570AA0F-85F8-4456-BD5D-70400F839488}"/>
              </a:ext>
            </a:extLst>
          </p:cNvPr>
          <p:cNvSpPr>
            <a:spLocks noGrp="1"/>
          </p:cNvSpPr>
          <p:nvPr/>
        </p:nvSpPr>
        <p:spPr>
          <a:xfrm>
            <a:off x="7467600" y="4791075"/>
            <a:ext cx="335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3. Метрики</a:t>
            </a:r>
          </a:p>
        </p:txBody>
      </p:sp>
      <p:sp>
        <p:nvSpPr>
          <p:cNvPr id="16" name="dark-body">
            <a:extLst>
              <a:ext uri="{FF2B5EF4-FFF2-40B4-BE49-F238E27FC236}">
                <a16:creationId xmlns:a16="http://schemas.microsoft.com/office/drawing/2014/main" id="{59EBD6B2-F45D-43DC-A55B-7BB558726590}"/>
              </a:ext>
            </a:extLst>
          </p:cNvPr>
          <p:cNvSpPr>
            <a:spLocks noGrp="1"/>
          </p:cNvSpPr>
          <p:nvPr/>
        </p:nvSpPr>
        <p:spPr>
          <a:xfrm>
            <a:off x="7467600" y="5286375"/>
            <a:ext cx="3352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процент талька, источник ответа и время обработки уходят в отчёт</a:t>
            </a:r>
          </a:p>
        </p:txBody>
      </p:sp>
    </p:spTree>
    <p:extLst>
      <p:ext uri="{BB962C8B-B14F-4D97-AF65-F5344CB8AC3E}">
        <p14:creationId xmlns:p14="http://schemas.microsoft.com/office/powerpoint/2010/main" val="203730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715760EC-F26F-448A-8B52-89D7CC330DEE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Три сорта задают разные технологические действия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F62A6E4-F430-4EA4-B81D-8A985C3E431A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Классы простые для интерфейса, но важные для последующей переработки.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C502A32F-FD73-4173-97FC-6F484C05F017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9973AA4D-54E6-4326-A80B-12D05A2ECEE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B1C5CCA3-7FE0-4EE6-9AA1-4ECA77876FA9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276600" cy="2667000"/>
          </a:xfrm>
          <a:prstGeom prst="roundRect">
            <a:avLst>
              <a:gd name="adj" fmla="val 4286"/>
            </a:avLst>
          </a:prstGeom>
          <a:solidFill>
            <a:srgbClr val="E8F6EE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33BFE511-1BAB-449F-BBB2-3D02DC53C88C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66675" cy="266700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7" name="card-heading">
            <a:extLst>
              <a:ext uri="{FF2B5EF4-FFF2-40B4-BE49-F238E27FC236}">
                <a16:creationId xmlns:a16="http://schemas.microsoft.com/office/drawing/2014/main" id="{07F6086D-E886-47F5-BBA8-D096F67546FD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Рядовая</a:t>
            </a:r>
          </a:p>
        </p:txBody>
      </p:sp>
      <p:sp>
        <p:nvSpPr>
          <p:cNvPr id="8" name="card-body">
            <a:extLst>
              <a:ext uri="{FF2B5EF4-FFF2-40B4-BE49-F238E27FC236}">
                <a16:creationId xmlns:a16="http://schemas.microsoft.com/office/drawing/2014/main" id="{66FE209C-64BB-45AF-BBB5-2E5BE877C314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28194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обычная руда, нормально обогащается</a:t>
            </a:r>
          </a:p>
        </p:txBody>
      </p:sp>
      <p:sp>
        <p:nvSpPr>
          <p:cNvPr id="9" name="class-num-0">
            <a:extLst>
              <a:ext uri="{FF2B5EF4-FFF2-40B4-BE49-F238E27FC236}">
                <a16:creationId xmlns:a16="http://schemas.microsoft.com/office/drawing/2014/main" id="{B36F6CF8-F0F9-4529-9DB8-DA65E30CA28F}"/>
              </a:ext>
            </a:extLst>
          </p:cNvPr>
          <p:cNvSpPr>
            <a:spLocks noGrp="1"/>
          </p:cNvSpPr>
          <p:nvPr/>
        </p:nvSpPr>
        <p:spPr>
          <a:xfrm>
            <a:off x="2800350" y="3714750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75" b="1">
                <a:solidFill>
                  <a:srgbClr val="169653"/>
                </a:solidFill>
              </a:defRPr>
            </a:pPr>
            <a:r>
              <a:rPr sz="3375" b="1">
                <a:solidFill>
                  <a:srgbClr val="169653"/>
                </a:solidFill>
              </a:rPr>
              <a:t>01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B153474D-C2D3-4F18-B730-82BE7E9D6E8C}"/>
              </a:ext>
            </a:extLst>
          </p:cNvPr>
          <p:cNvSpPr>
            <a:spLocks noGrp="1"/>
          </p:cNvSpPr>
          <p:nvPr/>
        </p:nvSpPr>
        <p:spPr>
          <a:xfrm>
            <a:off x="4267200" y="2095500"/>
            <a:ext cx="3276600" cy="2667000"/>
          </a:xfrm>
          <a:prstGeom prst="roundRect">
            <a:avLst>
              <a:gd name="adj" fmla="val 4286"/>
            </a:avLst>
          </a:prstGeom>
          <a:solidFill>
            <a:srgbClr val="FFF3D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719C6E7C-4878-4F83-AA55-75195CBDE8A0}"/>
              </a:ext>
            </a:extLst>
          </p:cNvPr>
          <p:cNvSpPr>
            <a:spLocks noGrp="1"/>
          </p:cNvSpPr>
          <p:nvPr/>
        </p:nvSpPr>
        <p:spPr>
          <a:xfrm>
            <a:off x="4267200" y="2095500"/>
            <a:ext cx="66675" cy="2667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card-heading">
            <a:extLst>
              <a:ext uri="{FF2B5EF4-FFF2-40B4-BE49-F238E27FC236}">
                <a16:creationId xmlns:a16="http://schemas.microsoft.com/office/drawing/2014/main" id="{D4375E2A-B41C-4536-95B0-A2C53BB7C0DE}"/>
              </a:ext>
            </a:extLst>
          </p:cNvPr>
          <p:cNvSpPr>
            <a:spLocks noGrp="1"/>
          </p:cNvSpPr>
          <p:nvPr/>
        </p:nvSpPr>
        <p:spPr>
          <a:xfrm>
            <a:off x="4495800" y="2324100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Труднообогатимая</a:t>
            </a:r>
          </a:p>
        </p:txBody>
      </p:sp>
      <p:sp>
        <p:nvSpPr>
          <p:cNvPr id="13" name="card-body">
            <a:extLst>
              <a:ext uri="{FF2B5EF4-FFF2-40B4-BE49-F238E27FC236}">
                <a16:creationId xmlns:a16="http://schemas.microsoft.com/office/drawing/2014/main" id="{BE7382D7-4E10-4E67-89EA-6BEA7472704B}"/>
              </a:ext>
            </a:extLst>
          </p:cNvPr>
          <p:cNvSpPr>
            <a:spLocks noGrp="1"/>
          </p:cNvSpPr>
          <p:nvPr/>
        </p:nvSpPr>
        <p:spPr>
          <a:xfrm>
            <a:off x="4495800" y="2819400"/>
            <a:ext cx="28194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металл извлекается сложнее</a:t>
            </a:r>
          </a:p>
        </p:txBody>
      </p:sp>
      <p:sp>
        <p:nvSpPr>
          <p:cNvPr id="14" name="class-num-1">
            <a:extLst>
              <a:ext uri="{FF2B5EF4-FFF2-40B4-BE49-F238E27FC236}">
                <a16:creationId xmlns:a16="http://schemas.microsoft.com/office/drawing/2014/main" id="{445EC6A7-431F-4B0E-B725-5E6922605599}"/>
              </a:ext>
            </a:extLst>
          </p:cNvPr>
          <p:cNvSpPr>
            <a:spLocks noGrp="1"/>
          </p:cNvSpPr>
          <p:nvPr/>
        </p:nvSpPr>
        <p:spPr>
          <a:xfrm>
            <a:off x="6534150" y="3714750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75" b="1">
                <a:solidFill>
                  <a:srgbClr val="D97706"/>
                </a:solidFill>
              </a:defRPr>
            </a:pPr>
            <a:r>
              <a:rPr sz="3375" b="1">
                <a:solidFill>
                  <a:srgbClr val="D97706"/>
                </a:solidFill>
              </a:rPr>
              <a:t>02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61A50359-0D6F-4A28-B881-CCF3639E8151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3276600" cy="2667000"/>
          </a:xfrm>
          <a:prstGeom prst="roundRect">
            <a:avLst>
              <a:gd name="adj" fmla="val 4286"/>
            </a:avLst>
          </a:prstGeom>
          <a:solidFill>
            <a:srgbClr val="EAF1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card-accent">
            <a:extLst>
              <a:ext uri="{FF2B5EF4-FFF2-40B4-BE49-F238E27FC236}">
                <a16:creationId xmlns:a16="http://schemas.microsoft.com/office/drawing/2014/main" id="{D03C6178-6691-4B77-AE62-DD85C8BD768D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66675" cy="2667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card-heading">
            <a:extLst>
              <a:ext uri="{FF2B5EF4-FFF2-40B4-BE49-F238E27FC236}">
                <a16:creationId xmlns:a16="http://schemas.microsoft.com/office/drawing/2014/main" id="{792E1CF3-3AF0-47A7-B126-37CDD9EF31E3}"/>
              </a:ext>
            </a:extLst>
          </p:cNvPr>
          <p:cNvSpPr>
            <a:spLocks noGrp="1"/>
          </p:cNvSpPr>
          <p:nvPr/>
        </p:nvSpPr>
        <p:spPr>
          <a:xfrm>
            <a:off x="8229600" y="2324100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Оталькованная</a:t>
            </a:r>
          </a:p>
        </p:txBody>
      </p:sp>
      <p:sp>
        <p:nvSpPr>
          <p:cNvPr id="18" name="card-body">
            <a:extLst>
              <a:ext uri="{FF2B5EF4-FFF2-40B4-BE49-F238E27FC236}">
                <a16:creationId xmlns:a16="http://schemas.microsoft.com/office/drawing/2014/main" id="{B395B802-B08E-480B-89D1-31B7E295DBFE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194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много талька, который мешает переработке</a:t>
            </a:r>
          </a:p>
        </p:txBody>
      </p:sp>
      <p:sp>
        <p:nvSpPr>
          <p:cNvPr id="19" name="class-num-2">
            <a:extLst>
              <a:ext uri="{FF2B5EF4-FFF2-40B4-BE49-F238E27FC236}">
                <a16:creationId xmlns:a16="http://schemas.microsoft.com/office/drawing/2014/main" id="{9156F933-251F-4FC5-AB0D-BDA91191323D}"/>
              </a:ext>
            </a:extLst>
          </p:cNvPr>
          <p:cNvSpPr>
            <a:spLocks noGrp="1"/>
          </p:cNvSpPr>
          <p:nvPr/>
        </p:nvSpPr>
        <p:spPr>
          <a:xfrm>
            <a:off x="10267950" y="3714750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75" b="1">
                <a:solidFill>
                  <a:srgbClr val="2563EB"/>
                </a:solidFill>
              </a:defRPr>
            </a:pPr>
            <a:r>
              <a:rPr sz="33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0" name="note">
            <a:extLst>
              <a:ext uri="{FF2B5EF4-FFF2-40B4-BE49-F238E27FC236}">
                <a16:creationId xmlns:a16="http://schemas.microsoft.com/office/drawing/2014/main" id="{00CF7B9F-4493-4BC8-915C-C6F00A4A61E2}"/>
              </a:ext>
            </a:extLst>
          </p:cNvPr>
          <p:cNvSpPr>
            <a:spLocks noGrp="1"/>
          </p:cNvSpPr>
          <p:nvPr/>
        </p:nvSpPr>
        <p:spPr>
          <a:xfrm>
            <a:off x="533400" y="5286375"/>
            <a:ext cx="10668000" cy="685800"/>
          </a:xfrm>
          <a:prstGeom prst="roundRect">
            <a:avLst>
              <a:gd name="adj" fmla="val 16667"/>
            </a:avLst>
          </a:prstGeom>
          <a:solidFill>
            <a:srgbClr val="F5F7FB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note-text">
            <a:extLst>
              <a:ext uri="{FF2B5EF4-FFF2-40B4-BE49-F238E27FC236}">
                <a16:creationId xmlns:a16="http://schemas.microsoft.com/office/drawing/2014/main" id="{359F245B-DF79-46B4-BD02-7287287C5A51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Важно: ordinary и hard_to_process разделяет только классификатор P2. Сегментация P1 отвечает за тальк, а не за срастания.</a:t>
            </a:r>
          </a:p>
        </p:txBody>
      </p:sp>
    </p:spTree>
    <p:extLst>
      <p:ext uri="{BB962C8B-B14F-4D97-AF65-F5344CB8AC3E}">
        <p14:creationId xmlns:p14="http://schemas.microsoft.com/office/powerpoint/2010/main" val="84999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title">
            <a:extLst>
              <a:ext uri="{FF2B5EF4-FFF2-40B4-BE49-F238E27FC236}">
                <a16:creationId xmlns:a16="http://schemas.microsoft.com/office/drawing/2014/main" id="{A304EB9C-0411-4A73-9754-AA266F43CFBA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Архитектура разделяет “что это” и “где тальк”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13A48AD-35CB-4895-900E-F481FEDB3427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Две независимые ветки дают разные части ответа, а P3 собирает их в единый результат.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EBA3D725-0BCB-4E3D-A232-908CA73454DC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BB52FF30-8406-4FBD-ADD2-E1DDA428224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step">
            <a:extLst>
              <a:ext uri="{FF2B5EF4-FFF2-40B4-BE49-F238E27FC236}">
                <a16:creationId xmlns:a16="http://schemas.microsoft.com/office/drawing/2014/main" id="{D4363B7E-C4C9-4733-8C43-FC4E076D6F4B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333625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chip">
            <a:extLst>
              <a:ext uri="{FF2B5EF4-FFF2-40B4-BE49-F238E27FC236}">
                <a16:creationId xmlns:a16="http://schemas.microsoft.com/office/drawing/2014/main" id="{D94992E3-B97E-4773-94A2-9200E3187B99}"/>
              </a:ext>
            </a:extLst>
          </p:cNvPr>
          <p:cNvSpPr>
            <a:spLocks noGrp="1"/>
          </p:cNvSpPr>
          <p:nvPr/>
        </p:nvSpPr>
        <p:spPr>
          <a:xfrm>
            <a:off x="895350" y="2524125"/>
            <a:ext cx="704850" cy="361950"/>
          </a:xfrm>
          <a:prstGeom prst="roundRect">
            <a:avLst>
              <a:gd name="adj" fmla="val 31579"/>
            </a:avLst>
          </a:prstGeom>
          <a:solidFill>
            <a:srgbClr val="E8F6EE"/>
          </a:solidFill>
          <a:ln w="9525">
            <a:solidFill>
              <a:srgbClr val="16965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chip-text">
            <a:extLst>
              <a:ext uri="{FF2B5EF4-FFF2-40B4-BE49-F238E27FC236}">
                <a16:creationId xmlns:a16="http://schemas.microsoft.com/office/drawing/2014/main" id="{BB4D6821-E425-4036-9927-9CF60123C35E}"/>
              </a:ext>
            </a:extLst>
          </p:cNvPr>
          <p:cNvSpPr>
            <a:spLocks noGrp="1"/>
          </p:cNvSpPr>
          <p:nvPr/>
        </p:nvSpPr>
        <p:spPr>
          <a:xfrm>
            <a:off x="1028700" y="260032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69653"/>
                </a:solidFill>
              </a:defRPr>
            </a:pPr>
            <a:r>
              <a:rPr sz="1125" b="1">
                <a:solidFill>
                  <a:srgbClr val="169653"/>
                </a:solidFill>
              </a:rPr>
              <a:t>P2</a:t>
            </a:r>
          </a:p>
        </p:txBody>
      </p:sp>
      <p:sp>
        <p:nvSpPr>
          <p:cNvPr id="8" name="step-heading">
            <a:extLst>
              <a:ext uri="{FF2B5EF4-FFF2-40B4-BE49-F238E27FC236}">
                <a16:creationId xmlns:a16="http://schemas.microsoft.com/office/drawing/2014/main" id="{3FC4DF49-EAAC-47F4-ACEA-8DE33F7FBC71}"/>
              </a:ext>
            </a:extLst>
          </p:cNvPr>
          <p:cNvSpPr>
            <a:spLocks noGrp="1"/>
          </p:cNvSpPr>
          <p:nvPr/>
        </p:nvSpPr>
        <p:spPr>
          <a:xfrm>
            <a:off x="895350" y="2981325"/>
            <a:ext cx="1914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Классификатор</a:t>
            </a:r>
          </a:p>
        </p:txBody>
      </p:sp>
      <p:sp>
        <p:nvSpPr>
          <p:cNvPr id="9" name="step-body">
            <a:extLst>
              <a:ext uri="{FF2B5EF4-FFF2-40B4-BE49-F238E27FC236}">
                <a16:creationId xmlns:a16="http://schemas.microsoft.com/office/drawing/2014/main" id="{D06B4D43-B37E-4AA9-9F0F-7C502E738C5F}"/>
              </a:ext>
            </a:extLst>
          </p:cNvPr>
          <p:cNvSpPr>
            <a:spLocks noGrp="1"/>
          </p:cNvSpPr>
          <p:nvPr/>
        </p:nvSpPr>
        <p:spPr>
          <a:xfrm>
            <a:off x="895350" y="3343275"/>
            <a:ext cx="19145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4748B"/>
                </a:solidFill>
              </a:defRPr>
            </a:pPr>
            <a:r>
              <a:rPr sz="1163">
                <a:solidFill>
                  <a:srgbClr val="64748B"/>
                </a:solidFill>
              </a:rPr>
              <a:t>смотрит на снимок целиком и отдаёт сорт</a:t>
            </a:r>
          </a:p>
        </p:txBody>
      </p:sp>
      <p:sp>
        <p:nvSpPr>
          <p:cNvPr id="10" name="step">
            <a:extLst>
              <a:ext uri="{FF2B5EF4-FFF2-40B4-BE49-F238E27FC236}">
                <a16:creationId xmlns:a16="http://schemas.microsoft.com/office/drawing/2014/main" id="{397DE70D-73AA-40FB-A179-56D2116CA50D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333625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chip">
            <a:extLst>
              <a:ext uri="{FF2B5EF4-FFF2-40B4-BE49-F238E27FC236}">
                <a16:creationId xmlns:a16="http://schemas.microsoft.com/office/drawing/2014/main" id="{073439C0-49A5-4FDC-BE99-09CB8B64DC02}"/>
              </a:ext>
            </a:extLst>
          </p:cNvPr>
          <p:cNvSpPr>
            <a:spLocks noGrp="1"/>
          </p:cNvSpPr>
          <p:nvPr/>
        </p:nvSpPr>
        <p:spPr>
          <a:xfrm>
            <a:off x="895350" y="4429125"/>
            <a:ext cx="704850" cy="361950"/>
          </a:xfrm>
          <a:prstGeom prst="roundRect">
            <a:avLst>
              <a:gd name="adj" fmla="val 31579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chip-text">
            <a:extLst>
              <a:ext uri="{FF2B5EF4-FFF2-40B4-BE49-F238E27FC236}">
                <a16:creationId xmlns:a16="http://schemas.microsoft.com/office/drawing/2014/main" id="{DE3A41BC-3D44-4755-8E2A-E7FFF336FC12}"/>
              </a:ext>
            </a:extLst>
          </p:cNvPr>
          <p:cNvSpPr>
            <a:spLocks noGrp="1"/>
          </p:cNvSpPr>
          <p:nvPr/>
        </p:nvSpPr>
        <p:spPr>
          <a:xfrm>
            <a:off x="1028700" y="450532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P1</a:t>
            </a:r>
          </a:p>
        </p:txBody>
      </p:sp>
      <p:sp>
        <p:nvSpPr>
          <p:cNvPr id="13" name="step-heading">
            <a:extLst>
              <a:ext uri="{FF2B5EF4-FFF2-40B4-BE49-F238E27FC236}">
                <a16:creationId xmlns:a16="http://schemas.microsoft.com/office/drawing/2014/main" id="{2B20886F-885A-44D3-AFFC-37904E4FEC73}"/>
              </a:ext>
            </a:extLst>
          </p:cNvPr>
          <p:cNvSpPr>
            <a:spLocks noGrp="1"/>
          </p:cNvSpPr>
          <p:nvPr/>
        </p:nvSpPr>
        <p:spPr>
          <a:xfrm>
            <a:off x="895350" y="4886325"/>
            <a:ext cx="1914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Сегментация</a:t>
            </a:r>
          </a:p>
        </p:txBody>
      </p:sp>
      <p:sp>
        <p:nvSpPr>
          <p:cNvPr id="14" name="step-body">
            <a:extLst>
              <a:ext uri="{FF2B5EF4-FFF2-40B4-BE49-F238E27FC236}">
                <a16:creationId xmlns:a16="http://schemas.microsoft.com/office/drawing/2014/main" id="{A003F73A-8461-4564-85A5-2FEC5D50D4D4}"/>
              </a:ext>
            </a:extLst>
          </p:cNvPr>
          <p:cNvSpPr>
            <a:spLocks noGrp="1"/>
          </p:cNvSpPr>
          <p:nvPr/>
        </p:nvSpPr>
        <p:spPr>
          <a:xfrm>
            <a:off x="895350" y="5248275"/>
            <a:ext cx="19145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4748B"/>
                </a:solidFill>
              </a:defRPr>
            </a:pPr>
            <a:r>
              <a:rPr sz="1163">
                <a:solidFill>
                  <a:srgbClr val="64748B"/>
                </a:solidFill>
              </a:rPr>
              <a:t>строит маску талька и считает talc_pct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6EA3905-5F67-4FC7-AF02-DD799A3E7DF7}"/>
              </a:ext>
            </a:extLst>
          </p:cNvPr>
          <p:cNvSpPr>
            <a:spLocks noGrp="1"/>
          </p:cNvSpPr>
          <p:nvPr/>
        </p:nvSpPr>
        <p:spPr>
          <a:xfrm>
            <a:off x="3276600" y="335280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39B0892D-8CBF-4BF0-ABCA-708685D471CE}"/>
              </a:ext>
            </a:extLst>
          </p:cNvPr>
          <p:cNvSpPr>
            <a:spLocks noGrp="1"/>
          </p:cNvSpPr>
          <p:nvPr/>
        </p:nvSpPr>
        <p:spPr>
          <a:xfrm>
            <a:off x="4076700" y="2876550"/>
            <a:ext cx="261937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card-accent">
            <a:extLst>
              <a:ext uri="{FF2B5EF4-FFF2-40B4-BE49-F238E27FC236}">
                <a16:creationId xmlns:a16="http://schemas.microsoft.com/office/drawing/2014/main" id="{D3A3B04E-C386-4997-80B4-51139F753BC3}"/>
              </a:ext>
            </a:extLst>
          </p:cNvPr>
          <p:cNvSpPr>
            <a:spLocks noGrp="1"/>
          </p:cNvSpPr>
          <p:nvPr/>
        </p:nvSpPr>
        <p:spPr>
          <a:xfrm>
            <a:off x="4076700" y="2876550"/>
            <a:ext cx="66675" cy="1524000"/>
          </a:xfrm>
          <a:prstGeom prst="rect">
            <a:avLst/>
          </a:prstGeom>
          <a:solidFill>
            <a:srgbClr val="6D5BD0"/>
          </a:solidFill>
          <a:ln w="0">
            <a:solidFill>
              <a:srgbClr val="6D5BD0"/>
            </a:solidFill>
            <a:prstDash val="solid"/>
          </a:ln>
        </p:spPr>
      </p:sp>
      <p:sp>
        <p:nvSpPr>
          <p:cNvPr id="18" name="card-kicker">
            <a:extLst>
              <a:ext uri="{FF2B5EF4-FFF2-40B4-BE49-F238E27FC236}">
                <a16:creationId xmlns:a16="http://schemas.microsoft.com/office/drawing/2014/main" id="{6AED08A6-E00E-489B-A81A-9B28DD609B07}"/>
              </a:ext>
            </a:extLst>
          </p:cNvPr>
          <p:cNvSpPr>
            <a:spLocks noGrp="1"/>
          </p:cNvSpPr>
          <p:nvPr/>
        </p:nvSpPr>
        <p:spPr>
          <a:xfrm>
            <a:off x="4305300" y="3048000"/>
            <a:ext cx="2162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P3</a:t>
            </a:r>
          </a:p>
        </p:txBody>
      </p:sp>
      <p:sp>
        <p:nvSpPr>
          <p:cNvPr id="19" name="card-heading">
            <a:extLst>
              <a:ext uri="{FF2B5EF4-FFF2-40B4-BE49-F238E27FC236}">
                <a16:creationId xmlns:a16="http://schemas.microsoft.com/office/drawing/2014/main" id="{D301AFAD-B2D9-4C29-9489-DBA25F6930A7}"/>
              </a:ext>
            </a:extLst>
          </p:cNvPr>
          <p:cNvSpPr>
            <a:spLocks noGrp="1"/>
          </p:cNvSpPr>
          <p:nvPr/>
        </p:nvSpPr>
        <p:spPr>
          <a:xfrm>
            <a:off x="4305300" y="3314700"/>
            <a:ext cx="2162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6D5BD0"/>
                </a:solidFill>
              </a:defRPr>
            </a:pPr>
            <a:r>
              <a:rPr sz="1800" b="1">
                <a:solidFill>
                  <a:srgbClr val="6D5BD0"/>
                </a:solidFill>
              </a:rPr>
              <a:t>analyze()</a:t>
            </a:r>
          </a:p>
        </p:txBody>
      </p:sp>
      <p:sp>
        <p:nvSpPr>
          <p:cNvPr id="20" name="card-body">
            <a:extLst>
              <a:ext uri="{FF2B5EF4-FFF2-40B4-BE49-F238E27FC236}">
                <a16:creationId xmlns:a16="http://schemas.microsoft.com/office/drawing/2014/main" id="{A3E32AA6-E8C6-4C18-AD6B-FB08EF843DB5}"/>
              </a:ext>
            </a:extLst>
          </p:cNvPr>
          <p:cNvSpPr>
            <a:spLocks noGrp="1"/>
          </p:cNvSpPr>
          <p:nvPr/>
        </p:nvSpPr>
        <p:spPr>
          <a:xfrm>
            <a:off x="4305300" y="3752850"/>
            <a:ext cx="2162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склеивает verdict, talc_pct, mask, confidence и consistency_check</a:t>
            </a:r>
          </a:p>
        </p:txBody>
      </p:sp>
      <p:sp>
        <p:nvSpPr>
          <p:cNvPr id="21" name="arrow">
            <a:extLst>
              <a:ext uri="{FF2B5EF4-FFF2-40B4-BE49-F238E27FC236}">
                <a16:creationId xmlns:a16="http://schemas.microsoft.com/office/drawing/2014/main" id="{B2E68292-8221-4420-B5BE-E14C188FBACA}"/>
              </a:ext>
            </a:extLst>
          </p:cNvPr>
          <p:cNvSpPr>
            <a:spLocks noGrp="1"/>
          </p:cNvSpPr>
          <p:nvPr/>
        </p:nvSpPr>
        <p:spPr>
          <a:xfrm>
            <a:off x="6934200" y="335280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card">
            <a:extLst>
              <a:ext uri="{FF2B5EF4-FFF2-40B4-BE49-F238E27FC236}">
                <a16:creationId xmlns:a16="http://schemas.microsoft.com/office/drawing/2014/main" id="{804C18C7-9982-4546-8413-3C653BB86EC5}"/>
              </a:ext>
            </a:extLst>
          </p:cNvPr>
          <p:cNvSpPr>
            <a:spLocks noGrp="1"/>
          </p:cNvSpPr>
          <p:nvPr/>
        </p:nvSpPr>
        <p:spPr>
          <a:xfrm>
            <a:off x="7734300" y="287655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card-accent">
            <a:extLst>
              <a:ext uri="{FF2B5EF4-FFF2-40B4-BE49-F238E27FC236}">
                <a16:creationId xmlns:a16="http://schemas.microsoft.com/office/drawing/2014/main" id="{52565700-9118-4C91-B3D5-011C69F4682D}"/>
              </a:ext>
            </a:extLst>
          </p:cNvPr>
          <p:cNvSpPr>
            <a:spLocks noGrp="1"/>
          </p:cNvSpPr>
          <p:nvPr/>
        </p:nvSpPr>
        <p:spPr>
          <a:xfrm>
            <a:off x="7734300" y="2876550"/>
            <a:ext cx="66675" cy="1524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card-kicker">
            <a:extLst>
              <a:ext uri="{FF2B5EF4-FFF2-40B4-BE49-F238E27FC236}">
                <a16:creationId xmlns:a16="http://schemas.microsoft.com/office/drawing/2014/main" id="{44681C92-6F78-43A8-9DBD-2D2DCB221CB7}"/>
              </a:ext>
            </a:extLst>
          </p:cNvPr>
          <p:cNvSpPr>
            <a:spLocks noGrp="1"/>
          </p:cNvSpPr>
          <p:nvPr/>
        </p:nvSpPr>
        <p:spPr>
          <a:xfrm>
            <a:off x="7962900" y="304800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P4</a:t>
            </a:r>
          </a:p>
        </p:txBody>
      </p:sp>
      <p:sp>
        <p:nvSpPr>
          <p:cNvPr id="25" name="card-heading">
            <a:extLst>
              <a:ext uri="{FF2B5EF4-FFF2-40B4-BE49-F238E27FC236}">
                <a16:creationId xmlns:a16="http://schemas.microsoft.com/office/drawing/2014/main" id="{F7D1FBED-0A8F-481A-B254-3968EE11A88A}"/>
              </a:ext>
            </a:extLst>
          </p:cNvPr>
          <p:cNvSpPr>
            <a:spLocks noGrp="1"/>
          </p:cNvSpPr>
          <p:nvPr/>
        </p:nvSpPr>
        <p:spPr>
          <a:xfrm>
            <a:off x="7962900" y="33147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Интерфейс</a:t>
            </a:r>
          </a:p>
        </p:txBody>
      </p:sp>
      <p:sp>
        <p:nvSpPr>
          <p:cNvPr id="26" name="card-body">
            <a:extLst>
              <a:ext uri="{FF2B5EF4-FFF2-40B4-BE49-F238E27FC236}">
                <a16:creationId xmlns:a16="http://schemas.microsoft.com/office/drawing/2014/main" id="{EF254E00-58E4-4D97-8862-29D48F20DDE1}"/>
              </a:ext>
            </a:extLst>
          </p:cNvPr>
          <p:cNvSpPr>
            <a:spLocks noGrp="1"/>
          </p:cNvSpPr>
          <p:nvPr/>
        </p:nvSpPr>
        <p:spPr>
          <a:xfrm>
            <a:off x="7962900" y="375285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показывает результат, даёт проверку геологом и экспорт</a:t>
            </a:r>
          </a:p>
        </p:txBody>
      </p:sp>
      <p:sp>
        <p:nvSpPr>
          <p:cNvPr id="27" name="rule">
            <a:extLst>
              <a:ext uri="{FF2B5EF4-FFF2-40B4-BE49-F238E27FC236}">
                <a16:creationId xmlns:a16="http://schemas.microsoft.com/office/drawing/2014/main" id="{03CF90EB-757C-4206-97FD-14DAEACADD1A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191750" cy="38100"/>
          </a:xfrm>
          <a:prstGeom prst="rect">
            <a:avLst/>
          </a:prstGeom>
          <a:solidFill>
            <a:srgbClr val="2DD4BF"/>
          </a:solidFill>
          <a:ln w="0">
            <a:solidFill>
              <a:srgbClr val="2DD4B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831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EBC766D4-2514-41DE-9E24-8F4C1C0531E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P1 превращает микрофото в измеримую маску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741C81E-112B-412D-B981-30DA26B52037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AAB6C7"/>
                </a:solidFill>
              </a:defRPr>
            </a:pPr>
            <a:r>
              <a:rPr sz="1575">
                <a:solidFill>
                  <a:srgbClr val="AAB6C7"/>
                </a:solidFill>
              </a:rPr>
              <a:t>Сегментация отвечает за видимую часть результата: где тальк и сколько его.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4CE291F5-9228-4B0A-BC5A-6DFD9A4DFA4B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A09D09A7-13C7-4BA3-BBFD-D5D6FF15115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06</a:t>
            </a:r>
          </a:p>
        </p:txBody>
      </p:sp>
      <p:sp>
        <p:nvSpPr>
          <p:cNvPr id="5" name="dark-card">
            <a:extLst>
              <a:ext uri="{FF2B5EF4-FFF2-40B4-BE49-F238E27FC236}">
                <a16:creationId xmlns:a16="http://schemas.microsoft.com/office/drawing/2014/main" id="{344DD4BB-09A0-44B9-BFBC-66F6D2C897FA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dark-heading">
            <a:extLst>
              <a:ext uri="{FF2B5EF4-FFF2-40B4-BE49-F238E27FC236}">
                <a16:creationId xmlns:a16="http://schemas.microsoft.com/office/drawing/2014/main" id="{F94C1A25-623F-4BB9-BE91-C3405E7D5435}"/>
              </a:ext>
            </a:extLst>
          </p:cNvPr>
          <p:cNvSpPr>
            <a:spLocks noGrp="1"/>
          </p:cNvSpPr>
          <p:nvPr/>
        </p:nvSpPr>
        <p:spPr>
          <a:xfrm>
            <a:off x="895350" y="2371725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Нормализация</a:t>
            </a:r>
          </a:p>
        </p:txBody>
      </p:sp>
      <p:sp>
        <p:nvSpPr>
          <p:cNvPr id="7" name="dark-body">
            <a:extLst>
              <a:ext uri="{FF2B5EF4-FFF2-40B4-BE49-F238E27FC236}">
                <a16:creationId xmlns:a16="http://schemas.microsoft.com/office/drawing/2014/main" id="{1B296275-B61D-4AB3-9C09-8633E2139EFF}"/>
              </a:ext>
            </a:extLst>
          </p:cNvPr>
          <p:cNvSpPr>
            <a:spLocks noGrp="1"/>
          </p:cNvSpPr>
          <p:nvPr/>
        </p:nvSpPr>
        <p:spPr>
          <a:xfrm>
            <a:off x="895350" y="2867025"/>
            <a:ext cx="2686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сначала выравнивается освещение и цветовой каст снимка</a:t>
            </a:r>
          </a:p>
        </p:txBody>
      </p:sp>
      <p:sp>
        <p:nvSpPr>
          <p:cNvPr id="8" name="dark-card">
            <a:extLst>
              <a:ext uri="{FF2B5EF4-FFF2-40B4-BE49-F238E27FC236}">
                <a16:creationId xmlns:a16="http://schemas.microsoft.com/office/drawing/2014/main" id="{515015FF-AB8D-4981-B01F-95D35406FF74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dark-heading">
            <a:extLst>
              <a:ext uri="{FF2B5EF4-FFF2-40B4-BE49-F238E27FC236}">
                <a16:creationId xmlns:a16="http://schemas.microsoft.com/office/drawing/2014/main" id="{0DFF106C-E0BB-4D9E-9204-C97C8F7F1891}"/>
              </a:ext>
            </a:extLst>
          </p:cNvPr>
          <p:cNvSpPr>
            <a:spLocks noGrp="1"/>
          </p:cNvSpPr>
          <p:nvPr/>
        </p:nvSpPr>
        <p:spPr>
          <a:xfrm>
            <a:off x="4752975" y="2371725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Детекция</a:t>
            </a:r>
          </a:p>
        </p:txBody>
      </p:sp>
      <p:sp>
        <p:nvSpPr>
          <p:cNvPr id="10" name="dark-body">
            <a:extLst>
              <a:ext uri="{FF2B5EF4-FFF2-40B4-BE49-F238E27FC236}">
                <a16:creationId xmlns:a16="http://schemas.microsoft.com/office/drawing/2014/main" id="{0823CACD-7F28-4C4A-B966-42B1A842CFE1}"/>
              </a:ext>
            </a:extLst>
          </p:cNvPr>
          <p:cNvSpPr>
            <a:spLocks noGrp="1"/>
          </p:cNvSpPr>
          <p:nvPr/>
        </p:nvSpPr>
        <p:spPr>
          <a:xfrm>
            <a:off x="4752975" y="2867025"/>
            <a:ext cx="2686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ищутся тёмные гладкие зоны, отличающиеся от локального фона</a:t>
            </a:r>
          </a:p>
        </p:txBody>
      </p:sp>
      <p:sp>
        <p:nvSpPr>
          <p:cNvPr id="11" name="dark-card">
            <a:extLst>
              <a:ext uri="{FF2B5EF4-FFF2-40B4-BE49-F238E27FC236}">
                <a16:creationId xmlns:a16="http://schemas.microsoft.com/office/drawing/2014/main" id="{823AAE2E-EF9E-4BCD-8795-B6E9263809DB}"/>
              </a:ext>
            </a:extLst>
          </p:cNvPr>
          <p:cNvSpPr>
            <a:spLocks noGrp="1"/>
          </p:cNvSpPr>
          <p:nvPr/>
        </p:nvSpPr>
        <p:spPr>
          <a:xfrm>
            <a:off x="8382000" y="2143125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dark-heading">
            <a:extLst>
              <a:ext uri="{FF2B5EF4-FFF2-40B4-BE49-F238E27FC236}">
                <a16:creationId xmlns:a16="http://schemas.microsoft.com/office/drawing/2014/main" id="{C369637A-1BE8-47A4-B47D-9742276D8D39}"/>
              </a:ext>
            </a:extLst>
          </p:cNvPr>
          <p:cNvSpPr>
            <a:spLocks noGrp="1"/>
          </p:cNvSpPr>
          <p:nvPr/>
        </p:nvSpPr>
        <p:spPr>
          <a:xfrm>
            <a:off x="8610600" y="2371725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Маска</a:t>
            </a:r>
          </a:p>
        </p:txBody>
      </p:sp>
      <p:sp>
        <p:nvSpPr>
          <p:cNvPr id="13" name="dark-body">
            <a:extLst>
              <a:ext uri="{FF2B5EF4-FFF2-40B4-BE49-F238E27FC236}">
                <a16:creationId xmlns:a16="http://schemas.microsoft.com/office/drawing/2014/main" id="{5DD13C05-3B7B-4BB0-B37E-4795FBE770E5}"/>
              </a:ext>
            </a:extLst>
          </p:cNvPr>
          <p:cNvSpPr>
            <a:spLocks noGrp="1"/>
          </p:cNvSpPr>
          <p:nvPr/>
        </p:nvSpPr>
        <p:spPr>
          <a:xfrm>
            <a:off x="8610600" y="2867025"/>
            <a:ext cx="2686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найденный тальк накладывается синим слоем поверх исходника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B419541B-661B-4DD3-A533-3E66E5882306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90A4BC"/>
                </a:solidFill>
              </a:defRPr>
            </a:pPr>
            <a:r>
              <a:rPr sz="2550" b="1">
                <a:solidFill>
                  <a:srgbClr val="90A4BC"/>
                </a:solidFill>
              </a:rPr>
              <a:t>→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BCBF0681-FF80-416F-8650-094B9FEB6662}"/>
              </a:ext>
            </a:extLst>
          </p:cNvPr>
          <p:cNvSpPr>
            <a:spLocks noGrp="1"/>
          </p:cNvSpPr>
          <p:nvPr/>
        </p:nvSpPr>
        <p:spPr>
          <a:xfrm>
            <a:off x="7762875" y="25717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90A4BC"/>
                </a:solidFill>
              </a:defRPr>
            </a:pPr>
            <a:r>
              <a:rPr sz="2550" b="1">
                <a:solidFill>
                  <a:srgbClr val="90A4BC"/>
                </a:solidFill>
              </a:rPr>
              <a:t>→</a:t>
            </a:r>
          </a:p>
        </p:txBody>
      </p:sp>
      <p:sp>
        <p:nvSpPr>
          <p:cNvPr id="16" name="output">
            <a:extLst>
              <a:ext uri="{FF2B5EF4-FFF2-40B4-BE49-F238E27FC236}">
                <a16:creationId xmlns:a16="http://schemas.microsoft.com/office/drawing/2014/main" id="{DC3B7861-BE4C-4DE5-8B10-2592015402BF}"/>
              </a:ext>
            </a:extLst>
          </p:cNvPr>
          <p:cNvSpPr>
            <a:spLocks noGrp="1"/>
          </p:cNvSpPr>
          <p:nvPr/>
        </p:nvSpPr>
        <p:spPr>
          <a:xfrm>
            <a:off x="1524000" y="4333875"/>
            <a:ext cx="9144000" cy="1009650"/>
          </a:xfrm>
          <a:prstGeom prst="roundRect">
            <a:avLst>
              <a:gd name="adj" fmla="val 1132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output-text">
            <a:extLst>
              <a:ext uri="{FF2B5EF4-FFF2-40B4-BE49-F238E27FC236}">
                <a16:creationId xmlns:a16="http://schemas.microsoft.com/office/drawing/2014/main" id="{AF989EAB-6C08-4A4C-B60D-1D99756A4EFD}"/>
              </a:ext>
            </a:extLst>
          </p:cNvPr>
          <p:cNvSpPr>
            <a:spLocks noGrp="1"/>
          </p:cNvSpPr>
          <p:nvPr/>
        </p:nvSpPr>
        <p:spPr>
          <a:xfrm>
            <a:off x="1924050" y="462915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Выход P1: talc_mask + talc_pct. Эти поля нужны для объяснения вердикта и для контроля качества геологом.</a:t>
            </a:r>
          </a:p>
        </p:txBody>
      </p:sp>
    </p:spTree>
    <p:extLst>
      <p:ext uri="{BB962C8B-B14F-4D97-AF65-F5344CB8AC3E}">
        <p14:creationId xmlns:p14="http://schemas.microsoft.com/office/powerpoint/2010/main" val="105193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9AFF2693-E59A-4312-8BE1-C541A80AF85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P1 устойчив к разному свету и масштабу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9109D21-8DD3-4949-AAE0-902802CD8DD4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Алгоритм проектировался под реальные снимки, где цвет и яркость сильно гуляют.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BDA08C19-6DA6-4B28-B45F-1EF3E904FE36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0B5571A0-4E11-4E01-8E15-EE28F47CB65E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main">
            <a:extLst>
              <a:ext uri="{FF2B5EF4-FFF2-40B4-BE49-F238E27FC236}">
                <a16:creationId xmlns:a16="http://schemas.microsoft.com/office/drawing/2014/main" id="{571DC9C3-ACA0-48AE-8491-64FE35A59B04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4572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Перед порогами снимок нормализуется, а большие панорамы режутся на тайлы с перекрытием.</a:t>
            </a:r>
          </a:p>
        </p:txBody>
      </p:sp>
      <p:sp>
        <p:nvSpPr>
          <p:cNvPr id="6" name="bullet">
            <a:extLst>
              <a:ext uri="{FF2B5EF4-FFF2-40B4-BE49-F238E27FC236}">
                <a16:creationId xmlns:a16="http://schemas.microsoft.com/office/drawing/2014/main" id="{1AA628CE-864D-403B-8056-B655A78E3217}"/>
              </a:ext>
            </a:extLst>
          </p:cNvPr>
          <p:cNvSpPr>
            <a:spLocks noGrp="1"/>
          </p:cNvSpPr>
          <p:nvPr/>
        </p:nvSpPr>
        <p:spPr>
          <a:xfrm>
            <a:off x="533400" y="3800475"/>
            <a:ext cx="133350" cy="133350"/>
          </a:xfrm>
          <a:prstGeom prst="rect">
            <a:avLst/>
          </a:prstGeom>
          <a:solidFill>
            <a:srgbClr val="2DD4BF"/>
          </a:solidFill>
          <a:ln w="0">
            <a:solidFill>
              <a:srgbClr val="2DD4BF"/>
            </a:solidFill>
            <a:prstDash val="solid"/>
          </a:ln>
        </p:spPr>
      </p:sp>
      <p:sp>
        <p:nvSpPr>
          <p:cNvPr id="7" name="bullet-text">
            <a:extLst>
              <a:ext uri="{FF2B5EF4-FFF2-40B4-BE49-F238E27FC236}">
                <a16:creationId xmlns:a16="http://schemas.microsoft.com/office/drawing/2014/main" id="{3F76D144-3D80-400D-973E-0D675E8155BD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gray-world баланс белого убирает общий цветовой каст</a:t>
            </a:r>
          </a:p>
        </p:txBody>
      </p:sp>
      <p:sp>
        <p:nvSpPr>
          <p:cNvPr id="8" name="bullet">
            <a:extLst>
              <a:ext uri="{FF2B5EF4-FFF2-40B4-BE49-F238E27FC236}">
                <a16:creationId xmlns:a16="http://schemas.microsoft.com/office/drawing/2014/main" id="{BC7D66EF-EB54-4606-9AA1-3E8135C6FE08}"/>
              </a:ext>
            </a:extLst>
          </p:cNvPr>
          <p:cNvSpPr>
            <a:spLocks noGrp="1"/>
          </p:cNvSpPr>
          <p:nvPr/>
        </p:nvSpPr>
        <p:spPr>
          <a:xfrm>
            <a:off x="533400" y="437197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bullet-text">
            <a:extLst>
              <a:ext uri="{FF2B5EF4-FFF2-40B4-BE49-F238E27FC236}">
                <a16:creationId xmlns:a16="http://schemas.microsoft.com/office/drawing/2014/main" id="{5463F0B0-8CF5-43E2-A5EC-6D9B9C80B32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локальный контраст помогает отличать тальк от тени</a:t>
            </a:r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C545EE1B-6384-43B8-942C-BA97B294AFC5}"/>
              </a:ext>
            </a:extLst>
          </p:cNvPr>
          <p:cNvSpPr>
            <a:spLocks noGrp="1"/>
          </p:cNvSpPr>
          <p:nvPr/>
        </p:nvSpPr>
        <p:spPr>
          <a:xfrm>
            <a:off x="533400" y="4943475"/>
            <a:ext cx="133350" cy="13335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11" name="bullet-text">
            <a:extLst>
              <a:ext uri="{FF2B5EF4-FFF2-40B4-BE49-F238E27FC236}">
                <a16:creationId xmlns:a16="http://schemas.microsoft.com/office/drawing/2014/main" id="{4530EA6B-9948-4AFF-9377-9E940F86C27A}"/>
              </a:ext>
            </a:extLst>
          </p:cNvPr>
          <p:cNvSpPr>
            <a:spLocks noGrp="1"/>
          </p:cNvSpPr>
          <p:nvPr/>
        </p:nvSpPr>
        <p:spPr>
          <a:xfrm>
            <a:off x="819150" y="48577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тайлинг сохраняет путь для больших панорам</a:t>
            </a:r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45D67ADA-105B-4DE6-A719-2798C3222D21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000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card-accent">
            <a:extLst>
              <a:ext uri="{FF2B5EF4-FFF2-40B4-BE49-F238E27FC236}">
                <a16:creationId xmlns:a16="http://schemas.microsoft.com/office/drawing/2014/main" id="{7C27D142-3D5A-4CBC-8E74-F37C53D68EE5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66675" cy="1047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4" name="card-kicker">
            <a:extLst>
              <a:ext uri="{FF2B5EF4-FFF2-40B4-BE49-F238E27FC236}">
                <a16:creationId xmlns:a16="http://schemas.microsoft.com/office/drawing/2014/main" id="{4AA973CD-9FA2-4A62-817B-B285646D6BD2}"/>
              </a:ext>
            </a:extLst>
          </p:cNvPr>
          <p:cNvSpPr>
            <a:spLocks noGrp="1"/>
          </p:cNvSpPr>
          <p:nvPr/>
        </p:nvSpPr>
        <p:spPr>
          <a:xfrm>
            <a:off x="6800850" y="22669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порог</a:t>
            </a:r>
          </a:p>
        </p:txBody>
      </p:sp>
      <p:sp>
        <p:nvSpPr>
          <p:cNvPr id="15" name="card-heading">
            <a:extLst>
              <a:ext uri="{FF2B5EF4-FFF2-40B4-BE49-F238E27FC236}">
                <a16:creationId xmlns:a16="http://schemas.microsoft.com/office/drawing/2014/main" id="{92511651-8228-4C35-94AC-CD1B3F045DC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TALC_VERDICT_THRESHOLD</a:t>
            </a:r>
          </a:p>
        </p:txBody>
      </p:sp>
      <p:sp>
        <p:nvSpPr>
          <p:cNvPr id="16" name="card-body">
            <a:extLst>
              <a:ext uri="{FF2B5EF4-FFF2-40B4-BE49-F238E27FC236}">
                <a16:creationId xmlns:a16="http://schemas.microsoft.com/office/drawing/2014/main" id="{9A8B6FB7-3110-4B52-BBEB-8719CFA965C4}"/>
              </a:ext>
            </a:extLst>
          </p:cNvPr>
          <p:cNvSpPr>
            <a:spLocks noGrp="1"/>
          </p:cNvSpPr>
          <p:nvPr/>
        </p:nvSpPr>
        <p:spPr>
          <a:xfrm>
            <a:off x="6800850" y="2971800"/>
            <a:ext cx="35433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используется для проверки согласованности и fallback, не заменяет P2</a:t>
            </a:r>
          </a:p>
        </p:txBody>
      </p:sp>
      <p:sp>
        <p:nvSpPr>
          <p:cNvPr id="17" name="card">
            <a:extLst>
              <a:ext uri="{FF2B5EF4-FFF2-40B4-BE49-F238E27FC236}">
                <a16:creationId xmlns:a16="http://schemas.microsoft.com/office/drawing/2014/main" id="{92D21F7A-B70D-41AD-9257-58BCF596F7A5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4000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card-accent">
            <a:extLst>
              <a:ext uri="{FF2B5EF4-FFF2-40B4-BE49-F238E27FC236}">
                <a16:creationId xmlns:a16="http://schemas.microsoft.com/office/drawing/2014/main" id="{86E3C499-F682-47E6-B349-AE9160EF106A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66675" cy="10477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9" name="card-kicker">
            <a:extLst>
              <a:ext uri="{FF2B5EF4-FFF2-40B4-BE49-F238E27FC236}">
                <a16:creationId xmlns:a16="http://schemas.microsoft.com/office/drawing/2014/main" id="{CFA2EFB2-DE29-4071-AA7D-8C226863A704}"/>
              </a:ext>
            </a:extLst>
          </p:cNvPr>
          <p:cNvSpPr>
            <a:spLocks noGrp="1"/>
          </p:cNvSpPr>
          <p:nvPr/>
        </p:nvSpPr>
        <p:spPr>
          <a:xfrm>
            <a:off x="6800850" y="37433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цель P1</a:t>
            </a:r>
          </a:p>
        </p:txBody>
      </p:sp>
      <p:sp>
        <p:nvSpPr>
          <p:cNvPr id="20" name="card-heading">
            <a:extLst>
              <a:ext uri="{FF2B5EF4-FFF2-40B4-BE49-F238E27FC236}">
                <a16:creationId xmlns:a16="http://schemas.microsoft.com/office/drawing/2014/main" id="{F6518D0C-4C6D-4095-81D5-4246FCCC9BB3}"/>
              </a:ext>
            </a:extLst>
          </p:cNvPr>
          <p:cNvSpPr>
            <a:spLocks noGrp="1"/>
          </p:cNvSpPr>
          <p:nvPr/>
        </p:nvSpPr>
        <p:spPr>
          <a:xfrm>
            <a:off x="6800850" y="4010025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ошибка talc_pct ±3%</a:t>
            </a:r>
          </a:p>
        </p:txBody>
      </p:sp>
      <p:sp>
        <p:nvSpPr>
          <p:cNvPr id="21" name="card-body">
            <a:extLst>
              <a:ext uri="{FF2B5EF4-FFF2-40B4-BE49-F238E27FC236}">
                <a16:creationId xmlns:a16="http://schemas.microsoft.com/office/drawing/2014/main" id="{2006293E-E02E-4FBD-949F-9047C315D8D6}"/>
              </a:ext>
            </a:extLst>
          </p:cNvPr>
          <p:cNvSpPr>
            <a:spLocks noGrp="1"/>
          </p:cNvSpPr>
          <p:nvPr/>
        </p:nvSpPr>
        <p:spPr>
          <a:xfrm>
            <a:off x="6800850" y="4448175"/>
            <a:ext cx="35433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калибруется по синим экспертным обводкам</a:t>
            </a:r>
          </a:p>
        </p:txBody>
      </p:sp>
    </p:spTree>
    <p:extLst>
      <p:ext uri="{BB962C8B-B14F-4D97-AF65-F5344CB8AC3E}">
        <p14:creationId xmlns:p14="http://schemas.microsoft.com/office/powerpoint/2010/main" val="37595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title">
            <a:extLst>
              <a:ext uri="{FF2B5EF4-FFF2-40B4-BE49-F238E27FC236}">
                <a16:creationId xmlns:a16="http://schemas.microsoft.com/office/drawing/2014/main" id="{C2CD1809-1E55-444E-B326-2F12FB5C0BB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P1 ещё нужно откалибровать по обводкам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7843155-92E2-41E4-A714-B7159674E0C7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Каркас сегментации готов, но пороги должны пройти проверку на размеченных областях.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7E4496A5-F3CE-4834-9AC2-D8DF3B9012EF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F364447B-9F7E-4F98-953C-5DF2113567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table-row">
            <a:extLst>
              <a:ext uri="{FF2B5EF4-FFF2-40B4-BE49-F238E27FC236}">
                <a16:creationId xmlns:a16="http://schemas.microsoft.com/office/drawing/2014/main" id="{DCB9574B-89CF-4937-A54E-F5AADF8C0F73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10382250" cy="514350"/>
          </a:xfrm>
          <a:prstGeom prst="rect">
            <a:avLst/>
          </a:prstGeom>
          <a:solidFill>
            <a:srgbClr val="2563EB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table-cell">
            <a:extLst>
              <a:ext uri="{FF2B5EF4-FFF2-40B4-BE49-F238E27FC236}">
                <a16:creationId xmlns:a16="http://schemas.microsoft.com/office/drawing/2014/main" id="{B6A25E59-3FD4-48D2-85AA-3523F843872B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Задача</a:t>
            </a:r>
          </a:p>
        </p:txBody>
      </p:sp>
      <p:sp>
        <p:nvSpPr>
          <p:cNvPr id="7" name="table-separator">
            <a:extLst>
              <a:ext uri="{FF2B5EF4-FFF2-40B4-BE49-F238E27FC236}">
                <a16:creationId xmlns:a16="http://schemas.microsoft.com/office/drawing/2014/main" id="{E5A5E7FC-F48F-4862-9205-3B8678BB0E42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8" name="table-cell">
            <a:extLst>
              <a:ext uri="{FF2B5EF4-FFF2-40B4-BE49-F238E27FC236}">
                <a16:creationId xmlns:a16="http://schemas.microsoft.com/office/drawing/2014/main" id="{EE9E122F-B05C-4C46-A5C3-A6A80DB4D1E4}"/>
              </a:ext>
            </a:extLst>
          </p:cNvPr>
          <p:cNvSpPr>
            <a:spLocks noGrp="1"/>
          </p:cNvSpPr>
          <p:nvPr/>
        </p:nvSpPr>
        <p:spPr>
          <a:xfrm>
            <a:off x="3924300" y="2238375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Что проверяем</a:t>
            </a:r>
          </a:p>
        </p:txBody>
      </p:sp>
      <p:sp>
        <p:nvSpPr>
          <p:cNvPr id="9" name="table-separator">
            <a:extLst>
              <a:ext uri="{FF2B5EF4-FFF2-40B4-BE49-F238E27FC236}">
                <a16:creationId xmlns:a16="http://schemas.microsoft.com/office/drawing/2014/main" id="{DBC6E9CE-F882-4BCD-8ABB-31906DBD4409}"/>
              </a:ext>
            </a:extLst>
          </p:cNvPr>
          <p:cNvSpPr>
            <a:spLocks noGrp="1"/>
          </p:cNvSpPr>
          <p:nvPr/>
        </p:nvSpPr>
        <p:spPr>
          <a:xfrm>
            <a:off x="8724900" y="209550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5DD3EB2A-275E-423B-8DF5-069F3EE4872E}"/>
              </a:ext>
            </a:extLst>
          </p:cNvPr>
          <p:cNvSpPr>
            <a:spLocks noGrp="1"/>
          </p:cNvSpPr>
          <p:nvPr/>
        </p:nvSpPr>
        <p:spPr>
          <a:xfrm>
            <a:off x="8877300" y="22383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Готовность</a:t>
            </a:r>
          </a:p>
        </p:txBody>
      </p:sp>
      <p:sp>
        <p:nvSpPr>
          <p:cNvPr id="11" name="table-row">
            <a:extLst>
              <a:ext uri="{FF2B5EF4-FFF2-40B4-BE49-F238E27FC236}">
                <a16:creationId xmlns:a16="http://schemas.microsoft.com/office/drawing/2014/main" id="{8C0978E3-4DAF-4F35-842D-58E2AE5F17BE}"/>
              </a:ext>
            </a:extLst>
          </p:cNvPr>
          <p:cNvSpPr>
            <a:spLocks noGrp="1"/>
          </p:cNvSpPr>
          <p:nvPr/>
        </p:nvSpPr>
        <p:spPr>
          <a:xfrm>
            <a:off x="533400" y="2609850"/>
            <a:ext cx="10382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table-cell">
            <a:extLst>
              <a:ext uri="{FF2B5EF4-FFF2-40B4-BE49-F238E27FC236}">
                <a16:creationId xmlns:a16="http://schemas.microsoft.com/office/drawing/2014/main" id="{A9429D73-CA7D-48D1-9513-5348378824A7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extract_blue_annotations</a:t>
            </a:r>
          </a:p>
        </p:txBody>
      </p:sp>
      <p:sp>
        <p:nvSpPr>
          <p:cNvPr id="13" name="table-separator">
            <a:extLst>
              <a:ext uri="{FF2B5EF4-FFF2-40B4-BE49-F238E27FC236}">
                <a16:creationId xmlns:a16="http://schemas.microsoft.com/office/drawing/2014/main" id="{7760A198-6C44-4D96-AE03-DF2FF7E1551F}"/>
              </a:ext>
            </a:extLst>
          </p:cNvPr>
          <p:cNvSpPr>
            <a:spLocks noGrp="1"/>
          </p:cNvSpPr>
          <p:nvPr/>
        </p:nvSpPr>
        <p:spPr>
          <a:xfrm>
            <a:off x="3771900" y="260985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8E0716FD-D24D-4DC6-AF6C-2D3D71805C19}"/>
              </a:ext>
            </a:extLst>
          </p:cNvPr>
          <p:cNvSpPr>
            <a:spLocks noGrp="1"/>
          </p:cNvSpPr>
          <p:nvPr/>
        </p:nvSpPr>
        <p:spPr>
          <a:xfrm>
            <a:off x="3924300" y="2752725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достаём экспертные синие контуры</a:t>
            </a:r>
          </a:p>
        </p:txBody>
      </p:sp>
      <p:sp>
        <p:nvSpPr>
          <p:cNvPr id="15" name="table-separator">
            <a:extLst>
              <a:ext uri="{FF2B5EF4-FFF2-40B4-BE49-F238E27FC236}">
                <a16:creationId xmlns:a16="http://schemas.microsoft.com/office/drawing/2014/main" id="{492C0DC0-B6D2-475A-91D1-6D472A31C50A}"/>
              </a:ext>
            </a:extLst>
          </p:cNvPr>
          <p:cNvSpPr>
            <a:spLocks noGrp="1"/>
          </p:cNvSpPr>
          <p:nvPr/>
        </p:nvSpPr>
        <p:spPr>
          <a:xfrm>
            <a:off x="8724900" y="260985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9E85FB1B-6B23-4CF9-8D49-8B5A7D07933E}"/>
              </a:ext>
            </a:extLst>
          </p:cNvPr>
          <p:cNvSpPr>
            <a:spLocks noGrp="1"/>
          </p:cNvSpPr>
          <p:nvPr/>
        </p:nvSpPr>
        <p:spPr>
          <a:xfrm>
            <a:off x="8877300" y="275272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есть в коде</a:t>
            </a:r>
          </a:p>
        </p:txBody>
      </p:sp>
      <p:sp>
        <p:nvSpPr>
          <p:cNvPr id="17" name="table-row">
            <a:extLst>
              <a:ext uri="{FF2B5EF4-FFF2-40B4-BE49-F238E27FC236}">
                <a16:creationId xmlns:a16="http://schemas.microsoft.com/office/drawing/2014/main" id="{0132E9EF-B9F3-4A84-99A4-481C6D79A8B9}"/>
              </a:ext>
            </a:extLst>
          </p:cNvPr>
          <p:cNvSpPr>
            <a:spLocks noGrp="1"/>
          </p:cNvSpPr>
          <p:nvPr/>
        </p:nvSpPr>
        <p:spPr>
          <a:xfrm>
            <a:off x="533400" y="3124200"/>
            <a:ext cx="10382250" cy="514350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AD1DB417-AAA7-4D36-84D3-30FA05446F5D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talc_pct</a:t>
            </a:r>
          </a:p>
        </p:txBody>
      </p:sp>
      <p:sp>
        <p:nvSpPr>
          <p:cNvPr id="19" name="table-separator">
            <a:extLst>
              <a:ext uri="{FF2B5EF4-FFF2-40B4-BE49-F238E27FC236}">
                <a16:creationId xmlns:a16="http://schemas.microsoft.com/office/drawing/2014/main" id="{2BA67855-3111-4E59-BB33-9D24AE32F862}"/>
              </a:ext>
            </a:extLst>
          </p:cNvPr>
          <p:cNvSpPr>
            <a:spLocks noGrp="1"/>
          </p:cNvSpPr>
          <p:nvPr/>
        </p:nvSpPr>
        <p:spPr>
          <a:xfrm>
            <a:off x="3771900" y="312420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71B37137-B3DC-4EE7-B309-556DE01ED55D}"/>
              </a:ext>
            </a:extLst>
          </p:cNvPr>
          <p:cNvSpPr>
            <a:spLocks noGrp="1"/>
          </p:cNvSpPr>
          <p:nvPr/>
        </p:nvSpPr>
        <p:spPr>
          <a:xfrm>
            <a:off x="3924300" y="3267075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сравниваем долю с эталоном</a:t>
            </a:r>
          </a:p>
        </p:txBody>
      </p:sp>
      <p:sp>
        <p:nvSpPr>
          <p:cNvPr id="21" name="table-separator">
            <a:extLst>
              <a:ext uri="{FF2B5EF4-FFF2-40B4-BE49-F238E27FC236}">
                <a16:creationId xmlns:a16="http://schemas.microsoft.com/office/drawing/2014/main" id="{160AA4D0-6C5F-4545-A934-319C891EAA67}"/>
              </a:ext>
            </a:extLst>
          </p:cNvPr>
          <p:cNvSpPr>
            <a:spLocks noGrp="1"/>
          </p:cNvSpPr>
          <p:nvPr/>
        </p:nvSpPr>
        <p:spPr>
          <a:xfrm>
            <a:off x="8724900" y="312420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B1F105CF-03E4-4705-93F9-CC8312434DF0}"/>
              </a:ext>
            </a:extLst>
          </p:cNvPr>
          <p:cNvSpPr>
            <a:spLocks noGrp="1"/>
          </p:cNvSpPr>
          <p:nvPr/>
        </p:nvSpPr>
        <p:spPr>
          <a:xfrm>
            <a:off x="8877300" y="32670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подобрать пороги</a:t>
            </a:r>
          </a:p>
        </p:txBody>
      </p:sp>
      <p:sp>
        <p:nvSpPr>
          <p:cNvPr id="23" name="table-row">
            <a:extLst>
              <a:ext uri="{FF2B5EF4-FFF2-40B4-BE49-F238E27FC236}">
                <a16:creationId xmlns:a16="http://schemas.microsoft.com/office/drawing/2014/main" id="{A4C85C0E-36CE-4CEB-8AB0-6641254CE890}"/>
              </a:ext>
            </a:extLst>
          </p:cNvPr>
          <p:cNvSpPr>
            <a:spLocks noGrp="1"/>
          </p:cNvSpPr>
          <p:nvPr/>
        </p:nvSpPr>
        <p:spPr>
          <a:xfrm>
            <a:off x="533400" y="3638550"/>
            <a:ext cx="10382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table-cell">
            <a:extLst>
              <a:ext uri="{FF2B5EF4-FFF2-40B4-BE49-F238E27FC236}">
                <a16:creationId xmlns:a16="http://schemas.microsoft.com/office/drawing/2014/main" id="{6F216682-9EEF-4364-B1AC-48895D8E3E76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панорамы</a:t>
            </a:r>
          </a:p>
        </p:txBody>
      </p:sp>
      <p:sp>
        <p:nvSpPr>
          <p:cNvPr id="25" name="table-separator">
            <a:extLst>
              <a:ext uri="{FF2B5EF4-FFF2-40B4-BE49-F238E27FC236}">
                <a16:creationId xmlns:a16="http://schemas.microsoft.com/office/drawing/2014/main" id="{37ED6697-38FC-4786-8C7F-D556E7E15377}"/>
              </a:ext>
            </a:extLst>
          </p:cNvPr>
          <p:cNvSpPr>
            <a:spLocks noGrp="1"/>
          </p:cNvSpPr>
          <p:nvPr/>
        </p:nvSpPr>
        <p:spPr>
          <a:xfrm>
            <a:off x="3771900" y="363855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6" name="table-cell">
            <a:extLst>
              <a:ext uri="{FF2B5EF4-FFF2-40B4-BE49-F238E27FC236}">
                <a16:creationId xmlns:a16="http://schemas.microsoft.com/office/drawing/2014/main" id="{0FDBFC47-049A-4F52-B2C8-5250459119E9}"/>
              </a:ext>
            </a:extLst>
          </p:cNvPr>
          <p:cNvSpPr>
            <a:spLocks noGrp="1"/>
          </p:cNvSpPr>
          <p:nvPr/>
        </p:nvSpPr>
        <p:spPr>
          <a:xfrm>
            <a:off x="3924300" y="3781425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укладываемся в бюджет до 5 минут</a:t>
            </a:r>
          </a:p>
        </p:txBody>
      </p:sp>
      <p:sp>
        <p:nvSpPr>
          <p:cNvPr id="27" name="table-separator">
            <a:extLst>
              <a:ext uri="{FF2B5EF4-FFF2-40B4-BE49-F238E27FC236}">
                <a16:creationId xmlns:a16="http://schemas.microsoft.com/office/drawing/2014/main" id="{5054F585-503D-490F-B599-3DDD05A598FE}"/>
              </a:ext>
            </a:extLst>
          </p:cNvPr>
          <p:cNvSpPr>
            <a:spLocks noGrp="1"/>
          </p:cNvSpPr>
          <p:nvPr/>
        </p:nvSpPr>
        <p:spPr>
          <a:xfrm>
            <a:off x="8724900" y="363855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8" name="table-cell">
            <a:extLst>
              <a:ext uri="{FF2B5EF4-FFF2-40B4-BE49-F238E27FC236}">
                <a16:creationId xmlns:a16="http://schemas.microsoft.com/office/drawing/2014/main" id="{A4FA14E5-7EDB-4FA7-8CCE-291C66CEEE56}"/>
              </a:ext>
            </a:extLst>
          </p:cNvPr>
          <p:cNvSpPr>
            <a:spLocks noGrp="1"/>
          </p:cNvSpPr>
          <p:nvPr/>
        </p:nvSpPr>
        <p:spPr>
          <a:xfrm>
            <a:off x="8877300" y="378142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проверить</a:t>
            </a:r>
          </a:p>
        </p:txBody>
      </p:sp>
      <p:sp>
        <p:nvSpPr>
          <p:cNvPr id="29" name="table-row">
            <a:extLst>
              <a:ext uri="{FF2B5EF4-FFF2-40B4-BE49-F238E27FC236}">
                <a16:creationId xmlns:a16="http://schemas.microsoft.com/office/drawing/2014/main" id="{F985D8A2-BC9D-4A1D-A6D2-A082744B4EEB}"/>
              </a:ext>
            </a:extLst>
          </p:cNvPr>
          <p:cNvSpPr>
            <a:spLocks noGrp="1"/>
          </p:cNvSpPr>
          <p:nvPr/>
        </p:nvSpPr>
        <p:spPr>
          <a:xfrm>
            <a:off x="533400" y="4152900"/>
            <a:ext cx="10382250" cy="514350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table-cell">
            <a:extLst>
              <a:ext uri="{FF2B5EF4-FFF2-40B4-BE49-F238E27FC236}">
                <a16:creationId xmlns:a16="http://schemas.microsoft.com/office/drawing/2014/main" id="{324B521E-C627-4591-9156-410579F2022D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ошибки</a:t>
            </a:r>
          </a:p>
        </p:txBody>
      </p:sp>
      <p:sp>
        <p:nvSpPr>
          <p:cNvPr id="31" name="table-separator">
            <a:extLst>
              <a:ext uri="{FF2B5EF4-FFF2-40B4-BE49-F238E27FC236}">
                <a16:creationId xmlns:a16="http://schemas.microsoft.com/office/drawing/2014/main" id="{E383D857-0B61-4F3E-8D6B-24374F0810F8}"/>
              </a:ext>
            </a:extLst>
          </p:cNvPr>
          <p:cNvSpPr>
            <a:spLocks noGrp="1"/>
          </p:cNvSpPr>
          <p:nvPr/>
        </p:nvSpPr>
        <p:spPr>
          <a:xfrm>
            <a:off x="3771900" y="415290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32" name="table-cell">
            <a:extLst>
              <a:ext uri="{FF2B5EF4-FFF2-40B4-BE49-F238E27FC236}">
                <a16:creationId xmlns:a16="http://schemas.microsoft.com/office/drawing/2014/main" id="{3D00568F-AC8C-4423-8317-9FEF0E4EBF5A}"/>
              </a:ext>
            </a:extLst>
          </p:cNvPr>
          <p:cNvSpPr>
            <a:spLocks noGrp="1"/>
          </p:cNvSpPr>
          <p:nvPr/>
        </p:nvSpPr>
        <p:spPr>
          <a:xfrm>
            <a:off x="3924300" y="4295775"/>
            <a:ext cx="468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не сегментируем срастания без разметки</a:t>
            </a:r>
          </a:p>
        </p:txBody>
      </p:sp>
      <p:sp>
        <p:nvSpPr>
          <p:cNvPr id="33" name="table-separator">
            <a:extLst>
              <a:ext uri="{FF2B5EF4-FFF2-40B4-BE49-F238E27FC236}">
                <a16:creationId xmlns:a16="http://schemas.microsoft.com/office/drawing/2014/main" id="{A4DA26D7-CA36-4D96-82CF-D4EA20FD46AA}"/>
              </a:ext>
            </a:extLst>
          </p:cNvPr>
          <p:cNvSpPr>
            <a:spLocks noGrp="1"/>
          </p:cNvSpPr>
          <p:nvPr/>
        </p:nvSpPr>
        <p:spPr>
          <a:xfrm>
            <a:off x="8724900" y="4152900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34" name="table-cell">
            <a:extLst>
              <a:ext uri="{FF2B5EF4-FFF2-40B4-BE49-F238E27FC236}">
                <a16:creationId xmlns:a16="http://schemas.microsoft.com/office/drawing/2014/main" id="{EAA7ACDA-93E8-4EE8-9895-1929DD13FB6E}"/>
              </a:ext>
            </a:extLst>
          </p:cNvPr>
          <p:cNvSpPr>
            <a:spLocks noGrp="1"/>
          </p:cNvSpPr>
          <p:nvPr/>
        </p:nvSpPr>
        <p:spPr>
          <a:xfrm>
            <a:off x="8877300" y="42957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зафиксировано</a:t>
            </a:r>
          </a:p>
        </p:txBody>
      </p:sp>
      <p:sp>
        <p:nvSpPr>
          <p:cNvPr id="35" name="callout">
            <a:extLst>
              <a:ext uri="{FF2B5EF4-FFF2-40B4-BE49-F238E27FC236}">
                <a16:creationId xmlns:a16="http://schemas.microsoft.com/office/drawing/2014/main" id="{1C6AEB68-A859-43B2-A1FB-ABBDED1EF3B7}"/>
              </a:ext>
            </a:extLst>
          </p:cNvPr>
          <p:cNvSpPr>
            <a:spLocks noGrp="1"/>
          </p:cNvSpPr>
          <p:nvPr/>
        </p:nvSpPr>
        <p:spPr>
          <a:xfrm>
            <a:off x="533400" y="5286375"/>
            <a:ext cx="10382250" cy="666750"/>
          </a:xfrm>
          <a:prstGeom prst="roundRect">
            <a:avLst>
              <a:gd name="adj" fmla="val 17143"/>
            </a:avLst>
          </a:prstGeom>
          <a:solidFill>
            <a:srgbClr val="EAF1FF"/>
          </a:solidFill>
          <a:ln w="9525">
            <a:solidFill>
              <a:srgbClr val="B8CDF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callout-text">
            <a:extLst>
              <a:ext uri="{FF2B5EF4-FFF2-40B4-BE49-F238E27FC236}">
                <a16:creationId xmlns:a16="http://schemas.microsoft.com/office/drawing/2014/main" id="{F5254162-E8DB-479F-8D37-47C72C3A3971}"/>
              </a:ext>
            </a:extLst>
          </p:cNvPr>
          <p:cNvSpPr>
            <a:spLocks noGrp="1"/>
          </p:cNvSpPr>
          <p:nvPr/>
        </p:nvSpPr>
        <p:spPr>
          <a:xfrm>
            <a:off x="762000" y="5495925"/>
            <a:ext cx="979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Смысл P1 для жюри: показать, что тальк не просто влияет на вердикт, а виден на конкретных участках фотографии.</a:t>
            </a:r>
          </a:p>
        </p:txBody>
      </p:sp>
    </p:spTree>
    <p:extLst>
      <p:ext uri="{BB962C8B-B14F-4D97-AF65-F5344CB8AC3E}">
        <p14:creationId xmlns:p14="http://schemas.microsoft.com/office/powerpoint/2010/main" val="70466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F3601DAB-6B6C-4DE2-97FA-CCE68B0ED7F6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P2 даёт финальный сорт по всему изображению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B2DB86E-68BC-4722-9A1C-417EBCCB7AA7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AAB6C7"/>
                </a:solidFill>
              </a:defRPr>
            </a:pPr>
            <a:r>
              <a:rPr sz="1575">
                <a:solidFill>
                  <a:srgbClr val="AAB6C7"/>
                </a:solidFill>
              </a:rPr>
              <a:t>Именно классификатор должен различать рядовую, труднообогатимую и оталькованную руду.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330DBA3D-D926-49FC-8A02-0B802CA52AAD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FA9E5542-D30D-46E4-8157-16B8419E02F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09</a:t>
            </a:r>
          </a:p>
        </p:txBody>
      </p:sp>
      <p:sp>
        <p:nvSpPr>
          <p:cNvPr id="5" name="dark-card">
            <a:extLst>
              <a:ext uri="{FF2B5EF4-FFF2-40B4-BE49-F238E27FC236}">
                <a16:creationId xmlns:a16="http://schemas.microsoft.com/office/drawing/2014/main" id="{B4D61D25-F732-4312-9AA4-A688CC2C10F6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857500" cy="1257300"/>
          </a:xfrm>
          <a:prstGeom prst="roundRect">
            <a:avLst>
              <a:gd name="adj" fmla="val 909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dark-heading">
            <a:extLst>
              <a:ext uri="{FF2B5EF4-FFF2-40B4-BE49-F238E27FC236}">
                <a16:creationId xmlns:a16="http://schemas.microsoft.com/office/drawing/2014/main" id="{7108FF07-9054-47B4-AE36-B6D3324F8AA7}"/>
              </a:ext>
            </a:extLst>
          </p:cNvPr>
          <p:cNvSpPr>
            <a:spLocks noGrp="1"/>
          </p:cNvSpPr>
          <p:nvPr/>
        </p:nvSpPr>
        <p:spPr>
          <a:xfrm>
            <a:off x="895350" y="2371725"/>
            <a:ext cx="2400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EfficientNet-B0</a:t>
            </a:r>
          </a:p>
        </p:txBody>
      </p:sp>
      <p:sp>
        <p:nvSpPr>
          <p:cNvPr id="7" name="dark-body">
            <a:extLst>
              <a:ext uri="{FF2B5EF4-FFF2-40B4-BE49-F238E27FC236}">
                <a16:creationId xmlns:a16="http://schemas.microsoft.com/office/drawing/2014/main" id="{7B84B4D7-14A6-4AFA-A947-931CA7B6308A}"/>
              </a:ext>
            </a:extLst>
          </p:cNvPr>
          <p:cNvSpPr>
            <a:spLocks noGrp="1"/>
          </p:cNvSpPr>
          <p:nvPr/>
        </p:nvSpPr>
        <p:spPr>
          <a:xfrm>
            <a:off x="895350" y="286702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быстрый baseline transfer learning на ImageNet-весах</a:t>
            </a:r>
          </a:p>
        </p:txBody>
      </p:sp>
      <p:sp>
        <p:nvSpPr>
          <p:cNvPr id="8" name="dark-card">
            <a:extLst>
              <a:ext uri="{FF2B5EF4-FFF2-40B4-BE49-F238E27FC236}">
                <a16:creationId xmlns:a16="http://schemas.microsoft.com/office/drawing/2014/main" id="{9FFBE504-A6B6-4585-B3A7-D57E3094A11D}"/>
              </a:ext>
            </a:extLst>
          </p:cNvPr>
          <p:cNvSpPr>
            <a:spLocks noGrp="1"/>
          </p:cNvSpPr>
          <p:nvPr/>
        </p:nvSpPr>
        <p:spPr>
          <a:xfrm>
            <a:off x="4667250" y="2143125"/>
            <a:ext cx="2857500" cy="1257300"/>
          </a:xfrm>
          <a:prstGeom prst="roundRect">
            <a:avLst>
              <a:gd name="adj" fmla="val 909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dark-heading">
            <a:extLst>
              <a:ext uri="{FF2B5EF4-FFF2-40B4-BE49-F238E27FC236}">
                <a16:creationId xmlns:a16="http://schemas.microsoft.com/office/drawing/2014/main" id="{2CEB0F9C-1E30-4065-B566-F1C2211189EA}"/>
              </a:ext>
            </a:extLst>
          </p:cNvPr>
          <p:cNvSpPr>
            <a:spLocks noGrp="1"/>
          </p:cNvSpPr>
          <p:nvPr/>
        </p:nvSpPr>
        <p:spPr>
          <a:xfrm>
            <a:off x="4895850" y="2371725"/>
            <a:ext cx="2400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ResNet50</a:t>
            </a:r>
          </a:p>
        </p:txBody>
      </p:sp>
      <p:sp>
        <p:nvSpPr>
          <p:cNvPr id="10" name="dark-body">
            <a:extLst>
              <a:ext uri="{FF2B5EF4-FFF2-40B4-BE49-F238E27FC236}">
                <a16:creationId xmlns:a16="http://schemas.microsoft.com/office/drawing/2014/main" id="{98C3A94F-49F7-46CF-895D-FBA0B3BDAC75}"/>
              </a:ext>
            </a:extLst>
          </p:cNvPr>
          <p:cNvSpPr>
            <a:spLocks noGrp="1"/>
          </p:cNvSpPr>
          <p:nvPr/>
        </p:nvSpPr>
        <p:spPr>
          <a:xfrm>
            <a:off x="4895850" y="286702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альтернативный backbone для сравнения качества</a:t>
            </a:r>
          </a:p>
        </p:txBody>
      </p:sp>
      <p:sp>
        <p:nvSpPr>
          <p:cNvPr id="11" name="dark-card">
            <a:extLst>
              <a:ext uri="{FF2B5EF4-FFF2-40B4-BE49-F238E27FC236}">
                <a16:creationId xmlns:a16="http://schemas.microsoft.com/office/drawing/2014/main" id="{F1C5CB5A-9173-4DDD-946C-3FE3655F020D}"/>
              </a:ext>
            </a:extLst>
          </p:cNvPr>
          <p:cNvSpPr>
            <a:spLocks noGrp="1"/>
          </p:cNvSpPr>
          <p:nvPr/>
        </p:nvSpPr>
        <p:spPr>
          <a:xfrm>
            <a:off x="8667750" y="2143125"/>
            <a:ext cx="2857500" cy="1257300"/>
          </a:xfrm>
          <a:prstGeom prst="roundRect">
            <a:avLst>
              <a:gd name="adj" fmla="val 9091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dark-heading">
            <a:extLst>
              <a:ext uri="{FF2B5EF4-FFF2-40B4-BE49-F238E27FC236}">
                <a16:creationId xmlns:a16="http://schemas.microsoft.com/office/drawing/2014/main" id="{078FE308-AB11-4431-9E79-99983B6DD862}"/>
              </a:ext>
            </a:extLst>
          </p:cNvPr>
          <p:cNvSpPr>
            <a:spLocks noGrp="1"/>
          </p:cNvSpPr>
          <p:nvPr/>
        </p:nvSpPr>
        <p:spPr>
          <a:xfrm>
            <a:off x="8896350" y="2371725"/>
            <a:ext cx="2400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3 класса</a:t>
            </a:r>
          </a:p>
        </p:txBody>
      </p:sp>
      <p:sp>
        <p:nvSpPr>
          <p:cNvPr id="13" name="dark-body">
            <a:extLst>
              <a:ext uri="{FF2B5EF4-FFF2-40B4-BE49-F238E27FC236}">
                <a16:creationId xmlns:a16="http://schemas.microsoft.com/office/drawing/2014/main" id="{3B1CA0E4-E1A4-4A7F-A61D-0410A1B6605E}"/>
              </a:ext>
            </a:extLst>
          </p:cNvPr>
          <p:cNvSpPr>
            <a:spLocks noGrp="1"/>
          </p:cNvSpPr>
          <p:nvPr/>
        </p:nvSpPr>
        <p:spPr>
          <a:xfrm>
            <a:off x="8896350" y="286702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ordinary, hard_to_process, talc</a:t>
            </a:r>
          </a:p>
        </p:txBody>
      </p:sp>
      <p:sp>
        <p:nvSpPr>
          <p:cNvPr id="14" name="note">
            <a:extLst>
              <a:ext uri="{FF2B5EF4-FFF2-40B4-BE49-F238E27FC236}">
                <a16:creationId xmlns:a16="http://schemas.microsoft.com/office/drawing/2014/main" id="{96614940-A318-44BC-B296-3B3F818FBC6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P2 смотрит не на один признак, а на общий рисунок шлифа. Поэтому talc_pct не должен подменять классификатор.</a:t>
            </a:r>
          </a:p>
        </p:txBody>
      </p:sp>
    </p:spTree>
    <p:extLst>
      <p:ext uri="{BB962C8B-B14F-4D97-AF65-F5344CB8AC3E}">
        <p14:creationId xmlns:p14="http://schemas.microsoft.com/office/powerpoint/2010/main" val="497106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E2154D01-48E1-441D-89D0-7692358FE6CA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P2 обучается без утечки между шлифами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6D3CA95-3D9C-4066-882E-D0B66D5E2513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Если картинки одного шлифа попадут и в train, и в val, качество будет фальшиво высоким.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41FED7CE-1260-4EB2-9726-E80D6A840BB4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0CDFFB6A-A7D7-480D-AC8B-4F7E4C7EFAA8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4379EED3-F8A5-4C06-89AE-0F3DC07997D7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Ключевое правило: split делается по ID шлифа, а не по отдельным изображениям.</a:t>
            </a:r>
          </a:p>
        </p:txBody>
      </p:sp>
      <p:sp>
        <p:nvSpPr>
          <p:cNvPr id="6" name="step">
            <a:extLst>
              <a:ext uri="{FF2B5EF4-FFF2-40B4-BE49-F238E27FC236}">
                <a16:creationId xmlns:a16="http://schemas.microsoft.com/office/drawing/2014/main" id="{639A981E-D854-4C8A-AFFD-3A5CB82E69C2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3714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chip">
            <a:extLst>
              <a:ext uri="{FF2B5EF4-FFF2-40B4-BE49-F238E27FC236}">
                <a16:creationId xmlns:a16="http://schemas.microsoft.com/office/drawing/2014/main" id="{E969C36A-5D40-472E-8734-C50E20B5A953}"/>
              </a:ext>
            </a:extLst>
          </p:cNvPr>
          <p:cNvSpPr>
            <a:spLocks noGrp="1"/>
          </p:cNvSpPr>
          <p:nvPr/>
        </p:nvSpPr>
        <p:spPr>
          <a:xfrm>
            <a:off x="6591300" y="2190750"/>
            <a:ext cx="704850" cy="361950"/>
          </a:xfrm>
          <a:prstGeom prst="roundRect">
            <a:avLst>
              <a:gd name="adj" fmla="val 31579"/>
            </a:avLst>
          </a:prstGeom>
          <a:solidFill>
            <a:srgbClr val="E8F6EE"/>
          </a:solidFill>
          <a:ln w="9525">
            <a:solidFill>
              <a:srgbClr val="16965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chip-text">
            <a:extLst>
              <a:ext uri="{FF2B5EF4-FFF2-40B4-BE49-F238E27FC236}">
                <a16:creationId xmlns:a16="http://schemas.microsoft.com/office/drawing/2014/main" id="{15E3B5D0-2E1A-44FF-9BA1-C0842CAB2F4B}"/>
              </a:ext>
            </a:extLst>
          </p:cNvPr>
          <p:cNvSpPr>
            <a:spLocks noGrp="1"/>
          </p:cNvSpPr>
          <p:nvPr/>
        </p:nvSpPr>
        <p:spPr>
          <a:xfrm>
            <a:off x="6724650" y="22669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69653"/>
                </a:solidFill>
              </a:defRPr>
            </a:pPr>
            <a:r>
              <a:rPr sz="1125" b="1">
                <a:solidFill>
                  <a:srgbClr val="169653"/>
                </a:solidFill>
              </a:rPr>
              <a:t>01</a:t>
            </a:r>
          </a:p>
        </p:txBody>
      </p:sp>
      <p:sp>
        <p:nvSpPr>
          <p:cNvPr id="9" name="step-heading">
            <a:extLst>
              <a:ext uri="{FF2B5EF4-FFF2-40B4-BE49-F238E27FC236}">
                <a16:creationId xmlns:a16="http://schemas.microsoft.com/office/drawing/2014/main" id="{036580BC-5426-4474-92CD-63F2196A6EA7}"/>
              </a:ext>
            </a:extLst>
          </p:cNvPr>
          <p:cNvSpPr>
            <a:spLocks noGrp="1"/>
          </p:cNvSpPr>
          <p:nvPr/>
        </p:nvSpPr>
        <p:spPr>
          <a:xfrm>
            <a:off x="6591300" y="26479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GroupShuffleSplit</a:t>
            </a:r>
          </a:p>
        </p:txBody>
      </p:sp>
      <p:sp>
        <p:nvSpPr>
          <p:cNvPr id="10" name="step-body">
            <a:extLst>
              <a:ext uri="{FF2B5EF4-FFF2-40B4-BE49-F238E27FC236}">
                <a16:creationId xmlns:a16="http://schemas.microsoft.com/office/drawing/2014/main" id="{B577EE56-68ED-4CFB-9E01-FE181ABD1D7E}"/>
              </a:ext>
            </a:extLst>
          </p:cNvPr>
          <p:cNvSpPr>
            <a:spLocks noGrp="1"/>
          </p:cNvSpPr>
          <p:nvPr/>
        </p:nvSpPr>
        <p:spPr>
          <a:xfrm>
            <a:off x="6591300" y="3009900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4748B"/>
                </a:solidFill>
              </a:defRPr>
            </a:pPr>
            <a:r>
              <a:rPr sz="1163">
                <a:solidFill>
                  <a:srgbClr val="64748B"/>
                </a:solidFill>
              </a:rPr>
              <a:t>гарантирует, что один шлиф не протекает в обе выборки</a:t>
            </a:r>
          </a:p>
        </p:txBody>
      </p:sp>
      <p:sp>
        <p:nvSpPr>
          <p:cNvPr id="11" name="step">
            <a:extLst>
              <a:ext uri="{FF2B5EF4-FFF2-40B4-BE49-F238E27FC236}">
                <a16:creationId xmlns:a16="http://schemas.microsoft.com/office/drawing/2014/main" id="{65CE1595-0340-45BC-A8A6-7777F0B9FE34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3714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chip">
            <a:extLst>
              <a:ext uri="{FF2B5EF4-FFF2-40B4-BE49-F238E27FC236}">
                <a16:creationId xmlns:a16="http://schemas.microsoft.com/office/drawing/2014/main" id="{CB5519CE-EB13-4B77-9E3F-04CB250512BC}"/>
              </a:ext>
            </a:extLst>
          </p:cNvPr>
          <p:cNvSpPr>
            <a:spLocks noGrp="1"/>
          </p:cNvSpPr>
          <p:nvPr/>
        </p:nvSpPr>
        <p:spPr>
          <a:xfrm>
            <a:off x="6591300" y="3905250"/>
            <a:ext cx="704850" cy="361950"/>
          </a:xfrm>
          <a:prstGeom prst="roundRect">
            <a:avLst>
              <a:gd name="adj" fmla="val 31579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chip-text">
            <a:extLst>
              <a:ext uri="{FF2B5EF4-FFF2-40B4-BE49-F238E27FC236}">
                <a16:creationId xmlns:a16="http://schemas.microsoft.com/office/drawing/2014/main" id="{FA3704D4-A2AC-4198-9F3D-9EAE483CD793}"/>
              </a:ext>
            </a:extLst>
          </p:cNvPr>
          <p:cNvSpPr>
            <a:spLocks noGrp="1"/>
          </p:cNvSpPr>
          <p:nvPr/>
        </p:nvSpPr>
        <p:spPr>
          <a:xfrm>
            <a:off x="6724650" y="39814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step-heading">
            <a:extLst>
              <a:ext uri="{FF2B5EF4-FFF2-40B4-BE49-F238E27FC236}">
                <a16:creationId xmlns:a16="http://schemas.microsoft.com/office/drawing/2014/main" id="{65A8E6A8-D9AB-429C-80DC-DC616D7B5571}"/>
              </a:ext>
            </a:extLst>
          </p:cNvPr>
          <p:cNvSpPr>
            <a:spLocks noGrp="1"/>
          </p:cNvSpPr>
          <p:nvPr/>
        </p:nvSpPr>
        <p:spPr>
          <a:xfrm>
            <a:off x="6591300" y="43624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Проверка assert</a:t>
            </a:r>
          </a:p>
        </p:txBody>
      </p:sp>
      <p:sp>
        <p:nvSpPr>
          <p:cNvPr id="15" name="step-body">
            <a:extLst>
              <a:ext uri="{FF2B5EF4-FFF2-40B4-BE49-F238E27FC236}">
                <a16:creationId xmlns:a16="http://schemas.microsoft.com/office/drawing/2014/main" id="{2AE1EC11-535D-4E8E-9DA3-29246B09EF43}"/>
              </a:ext>
            </a:extLst>
          </p:cNvPr>
          <p:cNvSpPr>
            <a:spLocks noGrp="1"/>
          </p:cNvSpPr>
          <p:nvPr/>
        </p:nvSpPr>
        <p:spPr>
          <a:xfrm>
            <a:off x="6591300" y="4724400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4748B"/>
                </a:solidFill>
              </a:defRPr>
            </a:pPr>
            <a:r>
              <a:rPr sz="1163">
                <a:solidFill>
                  <a:srgbClr val="64748B"/>
                </a:solidFill>
              </a:rPr>
              <a:t>код явно падает, если slide_id оказался в train и val</a:t>
            </a:r>
          </a:p>
        </p:txBody>
      </p:sp>
      <p:sp>
        <p:nvSpPr>
          <p:cNvPr id="16" name="bullet">
            <a:extLst>
              <a:ext uri="{FF2B5EF4-FFF2-40B4-BE49-F238E27FC236}">
                <a16:creationId xmlns:a16="http://schemas.microsoft.com/office/drawing/2014/main" id="{D9D4C360-0A31-40E7-BDBD-C6C132261EBC}"/>
              </a:ext>
            </a:extLst>
          </p:cNvPr>
          <p:cNvSpPr>
            <a:spLocks noGrp="1"/>
          </p:cNvSpPr>
          <p:nvPr/>
        </p:nvSpPr>
        <p:spPr>
          <a:xfrm>
            <a:off x="533400" y="3990975"/>
            <a:ext cx="133350" cy="1333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7" name="bullet-text">
            <a:extLst>
              <a:ext uri="{FF2B5EF4-FFF2-40B4-BE49-F238E27FC236}">
                <a16:creationId xmlns:a16="http://schemas.microsoft.com/office/drawing/2014/main" id="{A8E51473-9D67-4510-9595-5ACEF0ECF796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ColorJitter и RandomGrayscale защищают от обучения на цвете</a:t>
            </a:r>
          </a:p>
        </p:txBody>
      </p:sp>
      <p:sp>
        <p:nvSpPr>
          <p:cNvPr id="18" name="bullet">
            <a:extLst>
              <a:ext uri="{FF2B5EF4-FFF2-40B4-BE49-F238E27FC236}">
                <a16:creationId xmlns:a16="http://schemas.microsoft.com/office/drawing/2014/main" id="{61A2DAD9-6AFD-4391-BEA2-B862BE242FEE}"/>
              </a:ext>
            </a:extLst>
          </p:cNvPr>
          <p:cNvSpPr>
            <a:spLocks noGrp="1"/>
          </p:cNvSpPr>
          <p:nvPr/>
        </p:nvSpPr>
        <p:spPr>
          <a:xfrm>
            <a:off x="533400" y="4562475"/>
            <a:ext cx="133350" cy="13335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19" name="bullet-text">
            <a:extLst>
              <a:ext uri="{FF2B5EF4-FFF2-40B4-BE49-F238E27FC236}">
                <a16:creationId xmlns:a16="http://schemas.microsoft.com/office/drawing/2014/main" id="{A6EE0D42-3D8B-41E1-8AFD-070C74D6E6EB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class weights и oversampling помогают редкому talc-классу</a:t>
            </a:r>
          </a:p>
        </p:txBody>
      </p:sp>
    </p:spTree>
    <p:extLst>
      <p:ext uri="{BB962C8B-B14F-4D97-AF65-F5344CB8AC3E}">
        <p14:creationId xmlns:p14="http://schemas.microsoft.com/office/powerpoint/2010/main" val="62056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D3FF04F6-240C-4EA9-8030-1D5DAC6FCD2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Качество P2 доказывается macro-F1 и матрицей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93EED56-7B59-40F6-B1E7-57CEB531DF83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Для сдачи нужен честный отчёт по каждому классу, а не только общая accuracy.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9C2E06DC-BC21-4D04-8D8A-4B76EF42D12F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385A6B71-FCA6-4E0D-89E8-75F5F9C0CAE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4BBC0F07-F731-4687-AD94-3E455D4AC336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A380F7AE-3328-4EEA-A206-DB93E8FF8B92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66675" cy="171450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7" name="card-kicker">
            <a:extLst>
              <a:ext uri="{FF2B5EF4-FFF2-40B4-BE49-F238E27FC236}">
                <a16:creationId xmlns:a16="http://schemas.microsoft.com/office/drawing/2014/main" id="{33FB8BD6-85C2-4082-89C5-CD425739303D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метрика</a:t>
            </a:r>
          </a:p>
        </p:txBody>
      </p:sp>
      <p:sp>
        <p:nvSpPr>
          <p:cNvPr id="8" name="card-heading">
            <a:extLst>
              <a:ext uri="{FF2B5EF4-FFF2-40B4-BE49-F238E27FC236}">
                <a16:creationId xmlns:a16="http://schemas.microsoft.com/office/drawing/2014/main" id="{8838F917-E184-4954-A6B4-2BC0BB985A65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Macro-F1</a:t>
            </a:r>
          </a:p>
        </p:txBody>
      </p:sp>
      <p:sp>
        <p:nvSpPr>
          <p:cNvPr id="9" name="card-body">
            <a:extLst>
              <a:ext uri="{FF2B5EF4-FFF2-40B4-BE49-F238E27FC236}">
                <a16:creationId xmlns:a16="http://schemas.microsoft.com/office/drawing/2014/main" id="{79AFD24E-7F35-48FD-93A8-F5283F2E1F2B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одинаково учитывает все три класса, включая редкую оталькованную руду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4F3900F5-47C6-48EB-8393-5892791FB336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C19FED1F-E09E-476E-9D97-2BFF7364F3E2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66675" cy="17145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card-kicker">
            <a:extLst>
              <a:ext uri="{FF2B5EF4-FFF2-40B4-BE49-F238E27FC236}">
                <a16:creationId xmlns:a16="http://schemas.microsoft.com/office/drawing/2014/main" id="{016DF1D9-B85F-415A-8229-178F043E244A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диагностика</a:t>
            </a:r>
          </a:p>
        </p:txBody>
      </p:sp>
      <p:sp>
        <p:nvSpPr>
          <p:cNvPr id="13" name="card-heading">
            <a:extLst>
              <a:ext uri="{FF2B5EF4-FFF2-40B4-BE49-F238E27FC236}">
                <a16:creationId xmlns:a16="http://schemas.microsoft.com/office/drawing/2014/main" id="{FBC18118-6C16-4AA1-9283-63B0C5B40986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Confusion matrix</a:t>
            </a:r>
          </a:p>
        </p:txBody>
      </p:sp>
      <p:sp>
        <p:nvSpPr>
          <p:cNvPr id="14" name="card-body">
            <a:extLst>
              <a:ext uri="{FF2B5EF4-FFF2-40B4-BE49-F238E27FC236}">
                <a16:creationId xmlns:a16="http://schemas.microsoft.com/office/drawing/2014/main" id="{6C7AD42D-BD0F-4924-82ED-B1AE4C0650FB}"/>
              </a:ext>
            </a:extLst>
          </p:cNvPr>
          <p:cNvSpPr>
            <a:spLocks noGrp="1"/>
          </p:cNvSpPr>
          <p:nvPr/>
        </p:nvSpPr>
        <p:spPr>
          <a:xfrm>
            <a:off x="4610100" y="29718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показывает, какие сорта модель путает между собой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F5CDB912-CABA-4C66-AEFA-D6C4D35D8B1D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card-accent">
            <a:extLst>
              <a:ext uri="{FF2B5EF4-FFF2-40B4-BE49-F238E27FC236}">
                <a16:creationId xmlns:a16="http://schemas.microsoft.com/office/drawing/2014/main" id="{2EF9D7B8-6961-46F5-8A9F-4CBBF0468916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66675" cy="17145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7" name="card-kicker">
            <a:extLst>
              <a:ext uri="{FF2B5EF4-FFF2-40B4-BE49-F238E27FC236}">
                <a16:creationId xmlns:a16="http://schemas.microsoft.com/office/drawing/2014/main" id="{F64CDDB7-A9A8-4E0A-9591-56937CD6A3CC}"/>
              </a:ext>
            </a:extLst>
          </p:cNvPr>
          <p:cNvSpPr>
            <a:spLocks noGrp="1"/>
          </p:cNvSpPr>
          <p:nvPr/>
        </p:nvSpPr>
        <p:spPr>
          <a:xfrm>
            <a:off x="8458200" y="22669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артефакт</a:t>
            </a:r>
          </a:p>
        </p:txBody>
      </p:sp>
      <p:sp>
        <p:nvSpPr>
          <p:cNvPr id="18" name="card-heading">
            <a:extLst>
              <a:ext uri="{FF2B5EF4-FFF2-40B4-BE49-F238E27FC236}">
                <a16:creationId xmlns:a16="http://schemas.microsoft.com/office/drawing/2014/main" id="{92D91B9E-641E-4B2A-9676-EFF45A67A951}"/>
              </a:ext>
            </a:extLst>
          </p:cNvPr>
          <p:cNvSpPr>
            <a:spLocks noGrp="1"/>
          </p:cNvSpPr>
          <p:nvPr/>
        </p:nvSpPr>
        <p:spPr>
          <a:xfrm>
            <a:off x="8458200" y="25336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weights.pt</a:t>
            </a:r>
          </a:p>
        </p:txBody>
      </p:sp>
      <p:sp>
        <p:nvSpPr>
          <p:cNvPr id="19" name="card-body">
            <a:extLst>
              <a:ext uri="{FF2B5EF4-FFF2-40B4-BE49-F238E27FC236}">
                <a16:creationId xmlns:a16="http://schemas.microsoft.com/office/drawing/2014/main" id="{4B54D436-E156-4D09-B90B-F99B7E5D657D}"/>
              </a:ext>
            </a:extLst>
          </p:cNvPr>
          <p:cNvSpPr>
            <a:spLocks noGrp="1"/>
          </p:cNvSpPr>
          <p:nvPr/>
        </p:nvSpPr>
        <p:spPr>
          <a:xfrm>
            <a:off x="8458200" y="2971800"/>
            <a:ext cx="2971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после обучения P3 автоматически перестанет использовать fallback</a:t>
            </a:r>
          </a:p>
        </p:txBody>
      </p:sp>
      <p:sp>
        <p:nvSpPr>
          <p:cNvPr id="20" name="bars-title">
            <a:extLst>
              <a:ext uri="{FF2B5EF4-FFF2-40B4-BE49-F238E27FC236}">
                <a16:creationId xmlns:a16="http://schemas.microsoft.com/office/drawing/2014/main" id="{6C6EDAD9-3669-4FB4-BA5E-ED89B740DBEF}"/>
              </a:ext>
            </a:extLst>
          </p:cNvPr>
          <p:cNvSpPr>
            <a:spLocks noGrp="1"/>
          </p:cNvSpPr>
          <p:nvPr/>
        </p:nvSpPr>
        <p:spPr>
          <a:xfrm>
            <a:off x="533400" y="45720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Ожидаемый отчёт после обучения</a:t>
            </a:r>
          </a:p>
        </p:txBody>
      </p:sp>
      <p:sp>
        <p:nvSpPr>
          <p:cNvPr id="21" name="bar-label">
            <a:extLst>
              <a:ext uri="{FF2B5EF4-FFF2-40B4-BE49-F238E27FC236}">
                <a16:creationId xmlns:a16="http://schemas.microsoft.com/office/drawing/2014/main" id="{D572CC5D-2901-4E2D-B7A7-F93356ED77C7}"/>
              </a:ext>
            </a:extLst>
          </p:cNvPr>
          <p:cNvSpPr>
            <a:spLocks noGrp="1"/>
          </p:cNvSpPr>
          <p:nvPr/>
        </p:nvSpPr>
        <p:spPr>
          <a:xfrm>
            <a:off x="533400" y="50958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ordinary</a:t>
            </a:r>
          </a:p>
        </p:txBody>
      </p:sp>
      <p:sp>
        <p:nvSpPr>
          <p:cNvPr id="22" name="bar-bg">
            <a:extLst>
              <a:ext uri="{FF2B5EF4-FFF2-40B4-BE49-F238E27FC236}">
                <a16:creationId xmlns:a16="http://schemas.microsoft.com/office/drawing/2014/main" id="{F83B0E29-C1E1-481E-BAFD-6F40E4B0BBD4}"/>
              </a:ext>
            </a:extLst>
          </p:cNvPr>
          <p:cNvSpPr>
            <a:spLocks noGrp="1"/>
          </p:cNvSpPr>
          <p:nvPr/>
        </p:nvSpPr>
        <p:spPr>
          <a:xfrm>
            <a:off x="2343150" y="5143500"/>
            <a:ext cx="2476500" cy="133350"/>
          </a:xfrm>
          <a:prstGeom prst="roundRect">
            <a:avLst>
              <a:gd name="adj" fmla="val 50000"/>
            </a:avLst>
          </a:prstGeom>
          <a:solidFill>
            <a:srgbClr val="E6EAF1"/>
          </a:solidFill>
          <a:ln w="9525">
            <a:solidFill>
              <a:srgbClr val="E6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bar-fill">
            <a:extLst>
              <a:ext uri="{FF2B5EF4-FFF2-40B4-BE49-F238E27FC236}">
                <a16:creationId xmlns:a16="http://schemas.microsoft.com/office/drawing/2014/main" id="{75643290-35D8-43DF-B20A-17BD371EB9EB}"/>
              </a:ext>
            </a:extLst>
          </p:cNvPr>
          <p:cNvSpPr>
            <a:spLocks noGrp="1"/>
          </p:cNvSpPr>
          <p:nvPr/>
        </p:nvSpPr>
        <p:spPr>
          <a:xfrm>
            <a:off x="2343150" y="5143500"/>
            <a:ext cx="1931670" cy="133350"/>
          </a:xfrm>
          <a:prstGeom prst="roundRect">
            <a:avLst>
              <a:gd name="adj" fmla="val 50000"/>
            </a:avLst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24" name="bar-label">
            <a:extLst>
              <a:ext uri="{FF2B5EF4-FFF2-40B4-BE49-F238E27FC236}">
                <a16:creationId xmlns:a16="http://schemas.microsoft.com/office/drawing/2014/main" id="{DF58F8CB-3CB9-4E69-A0F4-23386DB89289}"/>
              </a:ext>
            </a:extLst>
          </p:cNvPr>
          <p:cNvSpPr>
            <a:spLocks noGrp="1"/>
          </p:cNvSpPr>
          <p:nvPr/>
        </p:nvSpPr>
        <p:spPr>
          <a:xfrm>
            <a:off x="4953000" y="50958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hard_to_process</a:t>
            </a:r>
          </a:p>
        </p:txBody>
      </p:sp>
      <p:sp>
        <p:nvSpPr>
          <p:cNvPr id="25" name="bar-bg">
            <a:extLst>
              <a:ext uri="{FF2B5EF4-FFF2-40B4-BE49-F238E27FC236}">
                <a16:creationId xmlns:a16="http://schemas.microsoft.com/office/drawing/2014/main" id="{B809FFE6-3D33-40D8-872A-CA75858A2741}"/>
              </a:ext>
            </a:extLst>
          </p:cNvPr>
          <p:cNvSpPr>
            <a:spLocks noGrp="1"/>
          </p:cNvSpPr>
          <p:nvPr/>
        </p:nvSpPr>
        <p:spPr>
          <a:xfrm>
            <a:off x="6762750" y="5143500"/>
            <a:ext cx="2476500" cy="133350"/>
          </a:xfrm>
          <a:prstGeom prst="roundRect">
            <a:avLst>
              <a:gd name="adj" fmla="val 50000"/>
            </a:avLst>
          </a:prstGeom>
          <a:solidFill>
            <a:srgbClr val="E6EAF1"/>
          </a:solidFill>
          <a:ln w="9525">
            <a:solidFill>
              <a:srgbClr val="E6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bar-fill">
            <a:extLst>
              <a:ext uri="{FF2B5EF4-FFF2-40B4-BE49-F238E27FC236}">
                <a16:creationId xmlns:a16="http://schemas.microsoft.com/office/drawing/2014/main" id="{5C733AEC-DF8E-4FEF-B325-6ECEC77966CA}"/>
              </a:ext>
            </a:extLst>
          </p:cNvPr>
          <p:cNvSpPr>
            <a:spLocks noGrp="1"/>
          </p:cNvSpPr>
          <p:nvPr/>
        </p:nvSpPr>
        <p:spPr>
          <a:xfrm>
            <a:off x="6762750" y="5143500"/>
            <a:ext cx="1584960" cy="1333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7" name="bar-label">
            <a:extLst>
              <a:ext uri="{FF2B5EF4-FFF2-40B4-BE49-F238E27FC236}">
                <a16:creationId xmlns:a16="http://schemas.microsoft.com/office/drawing/2014/main" id="{FB65FB41-AA17-4B22-B7F3-8AC763F575B9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talc</a:t>
            </a:r>
          </a:p>
        </p:txBody>
      </p:sp>
      <p:sp>
        <p:nvSpPr>
          <p:cNvPr id="28" name="bar-bg">
            <a:extLst>
              <a:ext uri="{FF2B5EF4-FFF2-40B4-BE49-F238E27FC236}">
                <a16:creationId xmlns:a16="http://schemas.microsoft.com/office/drawing/2014/main" id="{94C4A1C9-069A-4EBB-AA7F-1ADA0453BD37}"/>
              </a:ext>
            </a:extLst>
          </p:cNvPr>
          <p:cNvSpPr>
            <a:spLocks noGrp="1"/>
          </p:cNvSpPr>
          <p:nvPr/>
        </p:nvSpPr>
        <p:spPr>
          <a:xfrm>
            <a:off x="2343150" y="5667375"/>
            <a:ext cx="2476500" cy="133350"/>
          </a:xfrm>
          <a:prstGeom prst="roundRect">
            <a:avLst>
              <a:gd name="adj" fmla="val 50000"/>
            </a:avLst>
          </a:prstGeom>
          <a:solidFill>
            <a:srgbClr val="E6EAF1"/>
          </a:solidFill>
          <a:ln w="9525">
            <a:solidFill>
              <a:srgbClr val="E6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bar-fill">
            <a:extLst>
              <a:ext uri="{FF2B5EF4-FFF2-40B4-BE49-F238E27FC236}">
                <a16:creationId xmlns:a16="http://schemas.microsoft.com/office/drawing/2014/main" id="{002408FE-BDA8-4F34-BA7A-3637B08A77F3}"/>
              </a:ext>
            </a:extLst>
          </p:cNvPr>
          <p:cNvSpPr>
            <a:spLocks noGrp="1"/>
          </p:cNvSpPr>
          <p:nvPr/>
        </p:nvSpPr>
        <p:spPr>
          <a:xfrm>
            <a:off x="2343150" y="5667375"/>
            <a:ext cx="17335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0" name="bar-note">
            <a:extLst>
              <a:ext uri="{FF2B5EF4-FFF2-40B4-BE49-F238E27FC236}">
                <a16:creationId xmlns:a16="http://schemas.microsoft.com/office/drawing/2014/main" id="{B2B8BBAF-9C05-4FC8-B794-E4BB7DE89340}"/>
              </a:ext>
            </a:extLst>
          </p:cNvPr>
          <p:cNvSpPr>
            <a:spLocks noGrp="1"/>
          </p:cNvSpPr>
          <p:nvPr/>
        </p:nvSpPr>
        <p:spPr>
          <a:xfrm>
            <a:off x="4953000" y="556260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Числа на этом слайде показаны как формат отчёта; финальные значения появятся после обучения P2 на DATA_DIR.</a:t>
            </a:r>
          </a:p>
        </p:txBody>
      </p:sp>
    </p:spTree>
    <p:extLst>
      <p:ext uri="{BB962C8B-B14F-4D97-AF65-F5344CB8AC3E}">
        <p14:creationId xmlns:p14="http://schemas.microsoft.com/office/powerpoint/2010/main" val="72020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5D23660D-2DC4-41B1-8A59-AA2C2DC2BFC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P3 превращает модели в стабильный контракт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E8EF3AA-57D5-4A81-9C69-98D66A1077A4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AAB6C7"/>
                </a:solidFill>
              </a:defRPr>
            </a:pPr>
            <a:r>
              <a:rPr sz="1575">
                <a:solidFill>
                  <a:srgbClr val="AAB6C7"/>
                </a:solidFill>
              </a:rPr>
              <a:t>UI, API и отчёты получают один и тот же словарь результата.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CE2BC70F-A07E-4864-9F08-F752DEB9A3C8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07E55FDD-EAF8-4DB3-AA7F-8EB5186E2231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12</a:t>
            </a:r>
          </a:p>
        </p:txBody>
      </p:sp>
      <p:sp>
        <p:nvSpPr>
          <p:cNvPr id="5" name="table-row">
            <a:extLst>
              <a:ext uri="{FF2B5EF4-FFF2-40B4-BE49-F238E27FC236}">
                <a16:creationId xmlns:a16="http://schemas.microsoft.com/office/drawing/2014/main" id="{4DAE9C30-ED56-4A7D-B5F5-352BF1BEE9D3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096500" cy="514350"/>
          </a:xfrm>
          <a:prstGeom prst="rect">
            <a:avLst/>
          </a:prstGeom>
          <a:solidFill>
            <a:srgbClr val="6D5BD0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table-cell">
            <a:extLst>
              <a:ext uri="{FF2B5EF4-FFF2-40B4-BE49-F238E27FC236}">
                <a16:creationId xmlns:a16="http://schemas.microsoft.com/office/drawing/2014/main" id="{109D07DA-0B6C-4C03-BF43-68232CDF15F8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7" name="table-separator">
            <a:extLst>
              <a:ext uri="{FF2B5EF4-FFF2-40B4-BE49-F238E27FC236}">
                <a16:creationId xmlns:a16="http://schemas.microsoft.com/office/drawing/2014/main" id="{0487677E-5C5E-41F5-91B0-BF4F5D0FBB7C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8" name="table-cell">
            <a:extLst>
              <a:ext uri="{FF2B5EF4-FFF2-40B4-BE49-F238E27FC236}">
                <a16:creationId xmlns:a16="http://schemas.microsoft.com/office/drawing/2014/main" id="{C868DB05-8CEA-4C84-ABB3-6538C273FFD3}"/>
              </a:ext>
            </a:extLst>
          </p:cNvPr>
          <p:cNvSpPr>
            <a:spLocks noGrp="1"/>
          </p:cNvSpPr>
          <p:nvPr/>
        </p:nvSpPr>
        <p:spPr>
          <a:xfrm>
            <a:off x="3676650" y="209550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Что означает</a:t>
            </a:r>
          </a:p>
        </p:txBody>
      </p:sp>
      <p:sp>
        <p:nvSpPr>
          <p:cNvPr id="9" name="table-row">
            <a:extLst>
              <a:ext uri="{FF2B5EF4-FFF2-40B4-BE49-F238E27FC236}">
                <a16:creationId xmlns:a16="http://schemas.microsoft.com/office/drawing/2014/main" id="{7F371751-EFF4-4493-82C8-37105557CF0A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009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DEC8FD40-8028-4CC6-8B8A-542D1FC57D69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verdict</a:t>
            </a:r>
          </a:p>
        </p:txBody>
      </p:sp>
      <p:sp>
        <p:nvSpPr>
          <p:cNvPr id="11" name="table-separator">
            <a:extLst>
              <a:ext uri="{FF2B5EF4-FFF2-40B4-BE49-F238E27FC236}">
                <a16:creationId xmlns:a16="http://schemas.microsoft.com/office/drawing/2014/main" id="{CE7EA3BE-426B-4CFD-AEAE-B9F8B46CEDA4}"/>
              </a:ext>
            </a:extLst>
          </p:cNvPr>
          <p:cNvSpPr>
            <a:spLocks noGrp="1"/>
          </p:cNvSpPr>
          <p:nvPr/>
        </p:nvSpPr>
        <p:spPr>
          <a:xfrm>
            <a:off x="3524250" y="246697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12" name="table-cell">
            <a:extLst>
              <a:ext uri="{FF2B5EF4-FFF2-40B4-BE49-F238E27FC236}">
                <a16:creationId xmlns:a16="http://schemas.microsoft.com/office/drawing/2014/main" id="{E323028C-DE14-46E6-8BD9-28C548E18F68}"/>
              </a:ext>
            </a:extLst>
          </p:cNvPr>
          <p:cNvSpPr>
            <a:spLocks noGrp="1"/>
          </p:cNvSpPr>
          <p:nvPr/>
        </p:nvSpPr>
        <p:spPr>
          <a:xfrm>
            <a:off x="3676650" y="260985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сорт руды: ordinary / hard_to_process / talc</a:t>
            </a:r>
          </a:p>
        </p:txBody>
      </p:sp>
      <p:sp>
        <p:nvSpPr>
          <p:cNvPr id="13" name="table-row">
            <a:extLst>
              <a:ext uri="{FF2B5EF4-FFF2-40B4-BE49-F238E27FC236}">
                <a16:creationId xmlns:a16="http://schemas.microsoft.com/office/drawing/2014/main" id="{198DBC31-E149-40FB-A278-BCF118686491}"/>
              </a:ext>
            </a:extLst>
          </p:cNvPr>
          <p:cNvSpPr>
            <a:spLocks noGrp="1"/>
          </p:cNvSpPr>
          <p:nvPr/>
        </p:nvSpPr>
        <p:spPr>
          <a:xfrm>
            <a:off x="666750" y="2981325"/>
            <a:ext cx="10096500" cy="514350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4F2F19D2-BFDD-49FB-ABF8-C89DF36F42A1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talc_pct</a:t>
            </a:r>
          </a:p>
        </p:txBody>
      </p:sp>
      <p:sp>
        <p:nvSpPr>
          <p:cNvPr id="15" name="table-separator">
            <a:extLst>
              <a:ext uri="{FF2B5EF4-FFF2-40B4-BE49-F238E27FC236}">
                <a16:creationId xmlns:a16="http://schemas.microsoft.com/office/drawing/2014/main" id="{085C972C-F2C1-4740-8920-A28393ADD77C}"/>
              </a:ext>
            </a:extLst>
          </p:cNvPr>
          <p:cNvSpPr>
            <a:spLocks noGrp="1"/>
          </p:cNvSpPr>
          <p:nvPr/>
        </p:nvSpPr>
        <p:spPr>
          <a:xfrm>
            <a:off x="3524250" y="298132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827BA780-3F7E-44FB-A996-FE1CE5156E6F}"/>
              </a:ext>
            </a:extLst>
          </p:cNvPr>
          <p:cNvSpPr>
            <a:spLocks noGrp="1"/>
          </p:cNvSpPr>
          <p:nvPr/>
        </p:nvSpPr>
        <p:spPr>
          <a:xfrm>
            <a:off x="3676650" y="312420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процент талька от всей площади снимка</a:t>
            </a:r>
          </a:p>
        </p:txBody>
      </p:sp>
      <p:sp>
        <p:nvSpPr>
          <p:cNvPr id="17" name="table-row">
            <a:extLst>
              <a:ext uri="{FF2B5EF4-FFF2-40B4-BE49-F238E27FC236}">
                <a16:creationId xmlns:a16="http://schemas.microsoft.com/office/drawing/2014/main" id="{98830775-1629-4897-BD8D-F2D2DB190CDB}"/>
              </a:ext>
            </a:extLst>
          </p:cNvPr>
          <p:cNvSpPr>
            <a:spLocks noGrp="1"/>
          </p:cNvSpPr>
          <p:nvPr/>
        </p:nvSpPr>
        <p:spPr>
          <a:xfrm>
            <a:off x="666750" y="3495675"/>
            <a:ext cx="1009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4858AAB1-103F-4FD7-828B-439F1D2CC34C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talc_mask_png_b64</a:t>
            </a:r>
          </a:p>
        </p:txBody>
      </p:sp>
      <p:sp>
        <p:nvSpPr>
          <p:cNvPr id="19" name="table-separator">
            <a:extLst>
              <a:ext uri="{FF2B5EF4-FFF2-40B4-BE49-F238E27FC236}">
                <a16:creationId xmlns:a16="http://schemas.microsoft.com/office/drawing/2014/main" id="{6AC8083D-C4A1-49B9-B354-EC264ACEFA00}"/>
              </a:ext>
            </a:extLst>
          </p:cNvPr>
          <p:cNvSpPr>
            <a:spLocks noGrp="1"/>
          </p:cNvSpPr>
          <p:nvPr/>
        </p:nvSpPr>
        <p:spPr>
          <a:xfrm>
            <a:off x="3524250" y="349567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73E34D6C-D43D-427B-A68F-7FAF6E553447}"/>
              </a:ext>
            </a:extLst>
          </p:cNvPr>
          <p:cNvSpPr>
            <a:spLocks noGrp="1"/>
          </p:cNvSpPr>
          <p:nvPr/>
        </p:nvSpPr>
        <p:spPr>
          <a:xfrm>
            <a:off x="3676650" y="363855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картинка с синей маской талька</a:t>
            </a:r>
          </a:p>
        </p:txBody>
      </p:sp>
      <p:sp>
        <p:nvSpPr>
          <p:cNvPr id="21" name="table-row">
            <a:extLst>
              <a:ext uri="{FF2B5EF4-FFF2-40B4-BE49-F238E27FC236}">
                <a16:creationId xmlns:a16="http://schemas.microsoft.com/office/drawing/2014/main" id="{10CDFC90-F574-4946-94CF-72823CE84686}"/>
              </a:ext>
            </a:extLst>
          </p:cNvPr>
          <p:cNvSpPr>
            <a:spLocks noGrp="1"/>
          </p:cNvSpPr>
          <p:nvPr/>
        </p:nvSpPr>
        <p:spPr>
          <a:xfrm>
            <a:off x="666750" y="4010025"/>
            <a:ext cx="10096500" cy="514350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49E1D41D-05EF-4DB6-8D3D-7DCFC4FA3419}"/>
              </a:ext>
            </a:extLst>
          </p:cNvPr>
          <p:cNvSpPr>
            <a:spLocks noGrp="1"/>
          </p:cNvSpPr>
          <p:nvPr/>
        </p:nvSpPr>
        <p:spPr>
          <a:xfrm>
            <a:off x="819150" y="41529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consistency_check</a:t>
            </a:r>
          </a:p>
        </p:txBody>
      </p:sp>
      <p:sp>
        <p:nvSpPr>
          <p:cNvPr id="23" name="table-separator">
            <a:extLst>
              <a:ext uri="{FF2B5EF4-FFF2-40B4-BE49-F238E27FC236}">
                <a16:creationId xmlns:a16="http://schemas.microsoft.com/office/drawing/2014/main" id="{5D75630E-08C2-4276-9FC1-A634DF7C3B84}"/>
              </a:ext>
            </a:extLst>
          </p:cNvPr>
          <p:cNvSpPr>
            <a:spLocks noGrp="1"/>
          </p:cNvSpPr>
          <p:nvPr/>
        </p:nvSpPr>
        <p:spPr>
          <a:xfrm>
            <a:off x="3524250" y="401002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4" name="table-cell">
            <a:extLst>
              <a:ext uri="{FF2B5EF4-FFF2-40B4-BE49-F238E27FC236}">
                <a16:creationId xmlns:a16="http://schemas.microsoft.com/office/drawing/2014/main" id="{D545D0F4-5A71-401D-95FE-5B3BBA369266}"/>
              </a:ext>
            </a:extLst>
          </p:cNvPr>
          <p:cNvSpPr>
            <a:spLocks noGrp="1"/>
          </p:cNvSpPr>
          <p:nvPr/>
        </p:nvSpPr>
        <p:spPr>
          <a:xfrm>
            <a:off x="3676650" y="415290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проверка согласованности сорта и доли талька</a:t>
            </a:r>
          </a:p>
        </p:txBody>
      </p:sp>
      <p:sp>
        <p:nvSpPr>
          <p:cNvPr id="25" name="table-row">
            <a:extLst>
              <a:ext uri="{FF2B5EF4-FFF2-40B4-BE49-F238E27FC236}">
                <a16:creationId xmlns:a16="http://schemas.microsoft.com/office/drawing/2014/main" id="{246F661B-C86B-4069-999A-A6667DDF2D5B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1009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table-cell">
            <a:extLst>
              <a:ext uri="{FF2B5EF4-FFF2-40B4-BE49-F238E27FC236}">
                <a16:creationId xmlns:a16="http://schemas.microsoft.com/office/drawing/2014/main" id="{35D28588-EDFA-445E-865A-58E1CD43D43D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classifier_confidence</a:t>
            </a:r>
          </a:p>
        </p:txBody>
      </p:sp>
      <p:sp>
        <p:nvSpPr>
          <p:cNvPr id="27" name="table-separator">
            <a:extLst>
              <a:ext uri="{FF2B5EF4-FFF2-40B4-BE49-F238E27FC236}">
                <a16:creationId xmlns:a16="http://schemas.microsoft.com/office/drawing/2014/main" id="{B0B138E3-DFA4-4D63-A161-EC46C492696F}"/>
              </a:ext>
            </a:extLst>
          </p:cNvPr>
          <p:cNvSpPr>
            <a:spLocks noGrp="1"/>
          </p:cNvSpPr>
          <p:nvPr/>
        </p:nvSpPr>
        <p:spPr>
          <a:xfrm>
            <a:off x="3524250" y="452437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28" name="table-cell">
            <a:extLst>
              <a:ext uri="{FF2B5EF4-FFF2-40B4-BE49-F238E27FC236}">
                <a16:creationId xmlns:a16="http://schemas.microsoft.com/office/drawing/2014/main" id="{8DA214A7-8FBF-4E93-B66D-DCE33CF532EF}"/>
              </a:ext>
            </a:extLst>
          </p:cNvPr>
          <p:cNvSpPr>
            <a:spLocks noGrp="1"/>
          </p:cNvSpPr>
          <p:nvPr/>
        </p:nvSpPr>
        <p:spPr>
          <a:xfrm>
            <a:off x="3676650" y="466725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уверенность P2, когда веса уже обучены</a:t>
            </a:r>
          </a:p>
        </p:txBody>
      </p:sp>
      <p:sp>
        <p:nvSpPr>
          <p:cNvPr id="29" name="table-row">
            <a:extLst>
              <a:ext uri="{FF2B5EF4-FFF2-40B4-BE49-F238E27FC236}">
                <a16:creationId xmlns:a16="http://schemas.microsoft.com/office/drawing/2014/main" id="{E2093509-762F-4CFD-AAEF-0AB9AAA7ABD4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10096500" cy="514350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table-cell">
            <a:extLst>
              <a:ext uri="{FF2B5EF4-FFF2-40B4-BE49-F238E27FC236}">
                <a16:creationId xmlns:a16="http://schemas.microsoft.com/office/drawing/2014/main" id="{37FA033D-20FB-44C1-BC67-A81917CD145B}"/>
              </a:ext>
            </a:extLst>
          </p:cNvPr>
          <p:cNvSpPr>
            <a:spLocks noGrp="1"/>
          </p:cNvSpPr>
          <p:nvPr/>
        </p:nvSpPr>
        <p:spPr>
          <a:xfrm>
            <a:off x="819150" y="51816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1">
                <a:solidFill>
                  <a:srgbClr val="111827"/>
                </a:solidFill>
              </a:defRPr>
            </a:pPr>
            <a:r>
              <a:rPr sz="1163" b="1">
                <a:solidFill>
                  <a:srgbClr val="111827"/>
                </a:solidFill>
              </a:rPr>
              <a:t>processing_time_sec</a:t>
            </a:r>
          </a:p>
        </p:txBody>
      </p:sp>
      <p:sp>
        <p:nvSpPr>
          <p:cNvPr id="31" name="table-separator">
            <a:extLst>
              <a:ext uri="{FF2B5EF4-FFF2-40B4-BE49-F238E27FC236}">
                <a16:creationId xmlns:a16="http://schemas.microsoft.com/office/drawing/2014/main" id="{918C1056-93AA-4CCE-B9E8-C698FDC91847}"/>
              </a:ext>
            </a:extLst>
          </p:cNvPr>
          <p:cNvSpPr>
            <a:spLocks noGrp="1"/>
          </p:cNvSpPr>
          <p:nvPr/>
        </p:nvSpPr>
        <p:spPr>
          <a:xfrm>
            <a:off x="3524250" y="5038725"/>
            <a:ext cx="9525" cy="514350"/>
          </a:xfrm>
          <a:prstGeom prst="rect">
            <a:avLst/>
          </a:prstGeom>
          <a:solidFill>
            <a:srgbClr val="D7DEE9"/>
          </a:solidFill>
          <a:ln w="0">
            <a:solidFill>
              <a:srgbClr val="D7DEE9"/>
            </a:solidFill>
            <a:prstDash val="solid"/>
          </a:ln>
        </p:spPr>
      </p:sp>
      <p:sp>
        <p:nvSpPr>
          <p:cNvPr id="32" name="table-cell">
            <a:extLst>
              <a:ext uri="{FF2B5EF4-FFF2-40B4-BE49-F238E27FC236}">
                <a16:creationId xmlns:a16="http://schemas.microsoft.com/office/drawing/2014/main" id="{83363D5F-F070-407B-85EF-6A67DA762C1B}"/>
              </a:ext>
            </a:extLst>
          </p:cNvPr>
          <p:cNvSpPr>
            <a:spLocks noGrp="1"/>
          </p:cNvSpPr>
          <p:nvPr/>
        </p:nvSpPr>
        <p:spPr>
          <a:xfrm>
            <a:off x="3676650" y="5181600"/>
            <a:ext cx="697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время обработки снимка</a:t>
            </a:r>
          </a:p>
        </p:txBody>
      </p:sp>
      <p:sp>
        <p:nvSpPr>
          <p:cNvPr id="33" name="dark-card">
            <a:extLst>
              <a:ext uri="{FF2B5EF4-FFF2-40B4-BE49-F238E27FC236}">
                <a16:creationId xmlns:a16="http://schemas.microsoft.com/office/drawing/2014/main" id="{D82A55F0-A76F-4559-B59A-8C1359E9CC0C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476500" cy="857250"/>
          </a:xfrm>
          <a:prstGeom prst="roundRect">
            <a:avLst>
              <a:gd name="adj" fmla="val 13333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dark-heading">
            <a:extLst>
              <a:ext uri="{FF2B5EF4-FFF2-40B4-BE49-F238E27FC236}">
                <a16:creationId xmlns:a16="http://schemas.microsoft.com/office/drawing/2014/main" id="{4E48210A-5CEC-45CD-87FF-0F88D5EB7718}"/>
              </a:ext>
            </a:extLst>
          </p:cNvPr>
          <p:cNvSpPr>
            <a:spLocks noGrp="1"/>
          </p:cNvSpPr>
          <p:nvPr/>
        </p:nvSpPr>
        <p:spPr>
          <a:xfrm>
            <a:off x="8562975" y="5181600"/>
            <a:ext cx="201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Fallback</a:t>
            </a:r>
          </a:p>
        </p:txBody>
      </p:sp>
      <p:sp>
        <p:nvSpPr>
          <p:cNvPr id="35" name="dark-body">
            <a:extLst>
              <a:ext uri="{FF2B5EF4-FFF2-40B4-BE49-F238E27FC236}">
                <a16:creationId xmlns:a16="http://schemas.microsoft.com/office/drawing/2014/main" id="{6F543EEE-5AD2-4285-93AF-7FDA0B9D1ADB}"/>
              </a:ext>
            </a:extLst>
          </p:cNvPr>
          <p:cNvSpPr>
            <a:spLocks noGrp="1"/>
          </p:cNvSpPr>
          <p:nvPr/>
        </p:nvSpPr>
        <p:spPr>
          <a:xfrm>
            <a:off x="8562975" y="5676900"/>
            <a:ext cx="20193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если весов P2 ещё нет, демо всё равно не ломается</a:t>
            </a:r>
          </a:p>
        </p:txBody>
      </p:sp>
    </p:spTree>
    <p:extLst>
      <p:ext uri="{BB962C8B-B14F-4D97-AF65-F5344CB8AC3E}">
        <p14:creationId xmlns:p14="http://schemas.microsoft.com/office/powerpoint/2010/main" val="119642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0087FB02-12C4-44A3-A613-3D7B099F02F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API и Docker удерживают демо живым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7669377-AED5-4829-964D-CE0A65778A1A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P3 закрывает не только код, но и стабильность запуска.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FE3261A7-363F-4C09-9664-476DA3A3018B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4FB969DB-93A2-4F03-B86E-445AF6A3521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8435B3A5-2852-433F-90D8-92144D6A536D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FD7765C3-56EC-49F8-9120-7645B393E733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66675" cy="14287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card-kicker">
            <a:extLst>
              <a:ext uri="{FF2B5EF4-FFF2-40B4-BE49-F238E27FC236}">
                <a16:creationId xmlns:a16="http://schemas.microsoft.com/office/drawing/2014/main" id="{9F30AB06-44DD-40F7-8C22-C9EAC346B397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FastAPI</a:t>
            </a:r>
          </a:p>
        </p:txBody>
      </p:sp>
      <p:sp>
        <p:nvSpPr>
          <p:cNvPr id="8" name="card-heading">
            <a:extLst>
              <a:ext uri="{FF2B5EF4-FFF2-40B4-BE49-F238E27FC236}">
                <a16:creationId xmlns:a16="http://schemas.microsoft.com/office/drawing/2014/main" id="{1259189C-C2C7-49FB-AA12-D4DC76C6606D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/analyze</a:t>
            </a:r>
          </a:p>
        </p:txBody>
      </p:sp>
      <p:sp>
        <p:nvSpPr>
          <p:cNvPr id="9" name="card-body">
            <a:extLst>
              <a:ext uri="{FF2B5EF4-FFF2-40B4-BE49-F238E27FC236}">
                <a16:creationId xmlns:a16="http://schemas.microsoft.com/office/drawing/2014/main" id="{0E1F37BE-439E-4DE7-BC53-E3B33046DD1E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один файл превращается в JSON контракта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0C473142-7AAC-4B07-98DE-B972B6ADC83F}"/>
              </a:ext>
            </a:extLst>
          </p:cNvPr>
          <p:cNvSpPr>
            <a:spLocks noGrp="1"/>
          </p:cNvSpPr>
          <p:nvPr/>
        </p:nvSpPr>
        <p:spPr>
          <a:xfrm>
            <a:off x="4514850" y="20955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3162F286-D55F-412B-A942-E0FCDA298F93}"/>
              </a:ext>
            </a:extLst>
          </p:cNvPr>
          <p:cNvSpPr>
            <a:spLocks noGrp="1"/>
          </p:cNvSpPr>
          <p:nvPr/>
        </p:nvSpPr>
        <p:spPr>
          <a:xfrm>
            <a:off x="4514850" y="2095500"/>
            <a:ext cx="66675" cy="142875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12" name="card-kicker">
            <a:extLst>
              <a:ext uri="{FF2B5EF4-FFF2-40B4-BE49-F238E27FC236}">
                <a16:creationId xmlns:a16="http://schemas.microsoft.com/office/drawing/2014/main" id="{88C15819-CD1D-4774-BB7F-D41326D1EB3D}"/>
              </a:ext>
            </a:extLst>
          </p:cNvPr>
          <p:cNvSpPr>
            <a:spLocks noGrp="1"/>
          </p:cNvSpPr>
          <p:nvPr/>
        </p:nvSpPr>
        <p:spPr>
          <a:xfrm>
            <a:off x="4743450" y="226695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Batch</a:t>
            </a:r>
          </a:p>
        </p:txBody>
      </p:sp>
      <p:sp>
        <p:nvSpPr>
          <p:cNvPr id="13" name="card-heading">
            <a:extLst>
              <a:ext uri="{FF2B5EF4-FFF2-40B4-BE49-F238E27FC236}">
                <a16:creationId xmlns:a16="http://schemas.microsoft.com/office/drawing/2014/main" id="{CFDA2594-0417-435E-9811-AD774F750D08}"/>
              </a:ext>
            </a:extLst>
          </p:cNvPr>
          <p:cNvSpPr>
            <a:spLocks noGrp="1"/>
          </p:cNvSpPr>
          <p:nvPr/>
        </p:nvSpPr>
        <p:spPr>
          <a:xfrm>
            <a:off x="4743450" y="25336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/analyze/batch</a:t>
            </a:r>
          </a:p>
        </p:txBody>
      </p:sp>
      <p:sp>
        <p:nvSpPr>
          <p:cNvPr id="14" name="card-body">
            <a:extLst>
              <a:ext uri="{FF2B5EF4-FFF2-40B4-BE49-F238E27FC236}">
                <a16:creationId xmlns:a16="http://schemas.microsoft.com/office/drawing/2014/main" id="{870E7FDC-51D9-4205-B942-7C516AD4E7F6}"/>
              </a:ext>
            </a:extLst>
          </p:cNvPr>
          <p:cNvSpPr>
            <a:spLocks noGrp="1"/>
          </p:cNvSpPr>
          <p:nvPr/>
        </p:nvSpPr>
        <p:spPr>
          <a:xfrm>
            <a:off x="4743450" y="29718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ошибка одного файла не валит всю пачку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7F5C4746-9438-434E-B9E3-8BE6BDEB5EE8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card-accent">
            <a:extLst>
              <a:ext uri="{FF2B5EF4-FFF2-40B4-BE49-F238E27FC236}">
                <a16:creationId xmlns:a16="http://schemas.microsoft.com/office/drawing/2014/main" id="{C631EC3E-B74F-43A3-A141-8CB9D92DCCB6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7" name="card-kicker">
            <a:extLst>
              <a:ext uri="{FF2B5EF4-FFF2-40B4-BE49-F238E27FC236}">
                <a16:creationId xmlns:a16="http://schemas.microsoft.com/office/drawing/2014/main" id="{5F083FFE-BCAD-4E05-AB03-A21FF1CCA417}"/>
              </a:ext>
            </a:extLst>
          </p:cNvPr>
          <p:cNvSpPr>
            <a:spLocks noGrp="1"/>
          </p:cNvSpPr>
          <p:nvPr/>
        </p:nvSpPr>
        <p:spPr>
          <a:xfrm>
            <a:off x="8724900" y="226695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Export</a:t>
            </a:r>
          </a:p>
        </p:txBody>
      </p:sp>
      <p:sp>
        <p:nvSpPr>
          <p:cNvPr id="18" name="card-heading">
            <a:extLst>
              <a:ext uri="{FF2B5EF4-FFF2-40B4-BE49-F238E27FC236}">
                <a16:creationId xmlns:a16="http://schemas.microsoft.com/office/drawing/2014/main" id="{3897744D-FB5F-4F8F-AAD2-C032C2DE110B}"/>
              </a:ext>
            </a:extLst>
          </p:cNvPr>
          <p:cNvSpPr>
            <a:spLocks noGrp="1"/>
          </p:cNvSpPr>
          <p:nvPr/>
        </p:nvSpPr>
        <p:spPr>
          <a:xfrm>
            <a:off x="8724900" y="25336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CSV и PDF</a:t>
            </a:r>
          </a:p>
        </p:txBody>
      </p:sp>
      <p:sp>
        <p:nvSpPr>
          <p:cNvPr id="19" name="card-body">
            <a:extLst>
              <a:ext uri="{FF2B5EF4-FFF2-40B4-BE49-F238E27FC236}">
                <a16:creationId xmlns:a16="http://schemas.microsoft.com/office/drawing/2014/main" id="{59200227-4543-42FB-84E2-7E088C00249C}"/>
              </a:ext>
            </a:extLst>
          </p:cNvPr>
          <p:cNvSpPr>
            <a:spLocks noGrp="1"/>
          </p:cNvSpPr>
          <p:nvPr/>
        </p:nvSpPr>
        <p:spPr>
          <a:xfrm>
            <a:off x="8724900" y="29718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метрики и отчёт можно скачать</a:t>
            </a:r>
          </a:p>
        </p:txBody>
      </p:sp>
      <p:sp>
        <p:nvSpPr>
          <p:cNvPr id="20" name="docker">
            <a:extLst>
              <a:ext uri="{FF2B5EF4-FFF2-40B4-BE49-F238E27FC236}">
                <a16:creationId xmlns:a16="http://schemas.microsoft.com/office/drawing/2014/main" id="{C7EE9544-5AE6-4F81-ABAB-3985D7A473AD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06150" cy="1047750"/>
          </a:xfrm>
          <a:prstGeom prst="roundRect">
            <a:avLst>
              <a:gd name="adj" fmla="val 10909"/>
            </a:avLst>
          </a:prstGeom>
          <a:solidFill>
            <a:srgbClr val="F5F7FB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docker-text">
            <a:extLst>
              <a:ext uri="{FF2B5EF4-FFF2-40B4-BE49-F238E27FC236}">
                <a16:creationId xmlns:a16="http://schemas.microsoft.com/office/drawing/2014/main" id="{99ECF303-CA19-4FE8-9EB5-38EACABA1019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Dockerfile фиксирует CUDA 12.2 и проверяет GPU. Для живого деплоя главное правило простое: новые правки не должны ломать Streamlit + API.</a:t>
            </a:r>
          </a:p>
        </p:txBody>
      </p:sp>
    </p:spTree>
    <p:extLst>
      <p:ext uri="{BB962C8B-B14F-4D97-AF65-F5344CB8AC3E}">
        <p14:creationId xmlns:p14="http://schemas.microsoft.com/office/powerpoint/2010/main" val="47348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7B7C17BB-889E-4628-A7FE-9FACE7658CB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P4 ведёт геолога от загрузки до вердикта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5E90BCD-96AA-4F81-B3AF-1075393E45A3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AAB6C7"/>
                </a:solidFill>
              </a:defRPr>
            </a:pPr>
            <a:r>
              <a:rPr sz="1575">
                <a:solidFill>
                  <a:srgbClr val="AAB6C7"/>
                </a:solidFill>
              </a:rPr>
              <a:t>Интерфейс локально собирает весь пользовательский путь для демо.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20F19C46-1043-472C-B0D2-6B03AE3E58CB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0A2D321E-357B-4C82-8EF5-37344960F6B1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14</a:t>
            </a:r>
          </a:p>
        </p:txBody>
      </p:sp>
      <p:sp>
        <p:nvSpPr>
          <p:cNvPr id="5" name="image-frame">
            <a:extLst>
              <a:ext uri="{FF2B5EF4-FFF2-40B4-BE49-F238E27FC236}">
                <a16:creationId xmlns:a16="http://schemas.microsoft.com/office/drawing/2014/main" id="{109AE9E3-4BB8-4AF7-9A1D-ABCE97CFAC1E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191000" cy="4000500"/>
          </a:xfrm>
          <a:prstGeom prst="roundRect">
            <a:avLst>
              <a:gd name="adj" fmla="val 2857"/>
            </a:avLst>
          </a:prstGeom>
          <a:solidFill>
            <a:srgbClr val="0B0F17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rcRect t="18648" b="18648"/>
          <a:stretch>
            <a:fillRect/>
          </a:stretch>
        </p:blipFill>
        <p:spPr>
          <a:xfrm>
            <a:off x="762000" y="1905000"/>
            <a:ext cx="4000500" cy="3505200"/>
          </a:xfrm>
          <a:prstGeom prst="rect">
            <a:avLst/>
          </a:prstGeom>
        </p:spPr>
      </p:pic>
      <p:sp>
        <p:nvSpPr>
          <p:cNvPr id="7" name="image-caption">
            <a:extLst>
              <a:ext uri="{FF2B5EF4-FFF2-40B4-BE49-F238E27FC236}">
                <a16:creationId xmlns:a16="http://schemas.microsoft.com/office/drawing/2014/main" id="{EF223F3E-BB8F-41A2-94EE-CF05734CD813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384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C6D0DF"/>
                </a:solidFill>
              </a:defRPr>
            </a:pPr>
            <a:r>
              <a:rPr sz="1050">
                <a:solidFill>
                  <a:srgbClr val="C6D0DF"/>
                </a:solidFill>
              </a:rPr>
              <a:t>первый экран Streamlit</a:t>
            </a:r>
          </a:p>
        </p:txBody>
      </p:sp>
      <p:sp>
        <p:nvSpPr>
          <p:cNvPr id="8" name="dark-card">
            <a:extLst>
              <a:ext uri="{FF2B5EF4-FFF2-40B4-BE49-F238E27FC236}">
                <a16:creationId xmlns:a16="http://schemas.microsoft.com/office/drawing/2014/main" id="{9331B3AC-B92E-4DCB-AB7D-886C12AD3347}"/>
              </a:ext>
            </a:extLst>
          </p:cNvPr>
          <p:cNvSpPr>
            <a:spLocks noGrp="1"/>
          </p:cNvSpPr>
          <p:nvPr/>
        </p:nvSpPr>
        <p:spPr>
          <a:xfrm>
            <a:off x="5524500" y="1952625"/>
            <a:ext cx="2724150" cy="1123950"/>
          </a:xfrm>
          <a:prstGeom prst="roundRect">
            <a:avLst>
              <a:gd name="adj" fmla="val 10169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dark-heading">
            <a:extLst>
              <a:ext uri="{FF2B5EF4-FFF2-40B4-BE49-F238E27FC236}">
                <a16:creationId xmlns:a16="http://schemas.microsoft.com/office/drawing/2014/main" id="{930F99BA-6658-4C5D-8A18-AE84914F80B4}"/>
              </a:ext>
            </a:extLst>
          </p:cNvPr>
          <p:cNvSpPr>
            <a:spLocks noGrp="1"/>
          </p:cNvSpPr>
          <p:nvPr/>
        </p:nvSpPr>
        <p:spPr>
          <a:xfrm>
            <a:off x="5753100" y="2181225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Загрузка</a:t>
            </a:r>
          </a:p>
        </p:txBody>
      </p:sp>
      <p:sp>
        <p:nvSpPr>
          <p:cNvPr id="10" name="dark-body">
            <a:extLst>
              <a:ext uri="{FF2B5EF4-FFF2-40B4-BE49-F238E27FC236}">
                <a16:creationId xmlns:a16="http://schemas.microsoft.com/office/drawing/2014/main" id="{66F2E51C-311B-4D55-8B18-CD0E2AD8B8F2}"/>
              </a:ext>
            </a:extLst>
          </p:cNvPr>
          <p:cNvSpPr>
            <a:spLocks noGrp="1"/>
          </p:cNvSpPr>
          <p:nvPr/>
        </p:nvSpPr>
        <p:spPr>
          <a:xfrm>
            <a:off x="5753100" y="2676525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TIFF, PNG, JPG, BMP; один файл или пачка</a:t>
            </a:r>
          </a:p>
        </p:txBody>
      </p:sp>
      <p:sp>
        <p:nvSpPr>
          <p:cNvPr id="11" name="dark-card">
            <a:extLst>
              <a:ext uri="{FF2B5EF4-FFF2-40B4-BE49-F238E27FC236}">
                <a16:creationId xmlns:a16="http://schemas.microsoft.com/office/drawing/2014/main" id="{7ABBAEDB-2E25-4915-A801-5727DECF84B6}"/>
              </a:ext>
            </a:extLst>
          </p:cNvPr>
          <p:cNvSpPr>
            <a:spLocks noGrp="1"/>
          </p:cNvSpPr>
          <p:nvPr/>
        </p:nvSpPr>
        <p:spPr>
          <a:xfrm>
            <a:off x="8763000" y="1952625"/>
            <a:ext cx="2724150" cy="1123950"/>
          </a:xfrm>
          <a:prstGeom prst="roundRect">
            <a:avLst>
              <a:gd name="adj" fmla="val 10169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dark-heading">
            <a:extLst>
              <a:ext uri="{FF2B5EF4-FFF2-40B4-BE49-F238E27FC236}">
                <a16:creationId xmlns:a16="http://schemas.microsoft.com/office/drawing/2014/main" id="{2FDF34AA-AC78-416E-8AD7-2F04AFD17FD1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Вердикт</a:t>
            </a:r>
          </a:p>
        </p:txBody>
      </p:sp>
      <p:sp>
        <p:nvSpPr>
          <p:cNvPr id="13" name="dark-body">
            <a:extLst>
              <a:ext uri="{FF2B5EF4-FFF2-40B4-BE49-F238E27FC236}">
                <a16:creationId xmlns:a16="http://schemas.microsoft.com/office/drawing/2014/main" id="{02D1D793-4830-4FC2-A5A5-5E4E8B79B577}"/>
              </a:ext>
            </a:extLst>
          </p:cNvPr>
          <p:cNvSpPr>
            <a:spLocks noGrp="1"/>
          </p:cNvSpPr>
          <p:nvPr/>
        </p:nvSpPr>
        <p:spPr>
          <a:xfrm>
            <a:off x="8991600" y="2676525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крупная карточка сорта с проверкой согласованности</a:t>
            </a:r>
          </a:p>
        </p:txBody>
      </p:sp>
      <p:sp>
        <p:nvSpPr>
          <p:cNvPr id="14" name="dark-card">
            <a:extLst>
              <a:ext uri="{FF2B5EF4-FFF2-40B4-BE49-F238E27FC236}">
                <a16:creationId xmlns:a16="http://schemas.microsoft.com/office/drawing/2014/main" id="{7B784995-7D78-4DB9-8834-47439B09AB3E}"/>
              </a:ext>
            </a:extLst>
          </p:cNvPr>
          <p:cNvSpPr>
            <a:spLocks noGrp="1"/>
          </p:cNvSpPr>
          <p:nvPr/>
        </p:nvSpPr>
        <p:spPr>
          <a:xfrm>
            <a:off x="5524500" y="3714750"/>
            <a:ext cx="2724150" cy="1123950"/>
          </a:xfrm>
          <a:prstGeom prst="roundRect">
            <a:avLst>
              <a:gd name="adj" fmla="val 10169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dark-heading">
            <a:extLst>
              <a:ext uri="{FF2B5EF4-FFF2-40B4-BE49-F238E27FC236}">
                <a16:creationId xmlns:a16="http://schemas.microsoft.com/office/drawing/2014/main" id="{07EFB025-6EA6-4984-A370-A461E7982264}"/>
              </a:ext>
            </a:extLst>
          </p:cNvPr>
          <p:cNvSpPr>
            <a:spLocks noGrp="1"/>
          </p:cNvSpPr>
          <p:nvPr/>
        </p:nvSpPr>
        <p:spPr>
          <a:xfrm>
            <a:off x="5753100" y="39433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Метрики</a:t>
            </a:r>
          </a:p>
        </p:txBody>
      </p:sp>
      <p:sp>
        <p:nvSpPr>
          <p:cNvPr id="16" name="dark-body">
            <a:extLst>
              <a:ext uri="{FF2B5EF4-FFF2-40B4-BE49-F238E27FC236}">
                <a16:creationId xmlns:a16="http://schemas.microsoft.com/office/drawing/2014/main" id="{A5942FB9-CEE9-450C-B5AF-1D3BA22DC301}"/>
              </a:ext>
            </a:extLst>
          </p:cNvPr>
          <p:cNvSpPr>
            <a:spLocks noGrp="1"/>
          </p:cNvSpPr>
          <p:nvPr/>
        </p:nvSpPr>
        <p:spPr>
          <a:xfrm>
            <a:off x="5753100" y="443865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talc_pct, confidence, source, processing_time</a:t>
            </a:r>
          </a:p>
        </p:txBody>
      </p:sp>
      <p:sp>
        <p:nvSpPr>
          <p:cNvPr id="17" name="dark-card">
            <a:extLst>
              <a:ext uri="{FF2B5EF4-FFF2-40B4-BE49-F238E27FC236}">
                <a16:creationId xmlns:a16="http://schemas.microsoft.com/office/drawing/2014/main" id="{2F3D0DD5-4F96-4FC2-892C-E6BFFCE72B5D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2724150" cy="1123950"/>
          </a:xfrm>
          <a:prstGeom prst="roundRect">
            <a:avLst>
              <a:gd name="adj" fmla="val 10169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dark-heading">
            <a:extLst>
              <a:ext uri="{FF2B5EF4-FFF2-40B4-BE49-F238E27FC236}">
                <a16:creationId xmlns:a16="http://schemas.microsoft.com/office/drawing/2014/main" id="{1798ADD3-C815-430F-AC00-DD59FB58CEC8}"/>
              </a:ext>
            </a:extLst>
          </p:cNvPr>
          <p:cNvSpPr>
            <a:spLocks noGrp="1"/>
          </p:cNvSpPr>
          <p:nvPr/>
        </p:nvSpPr>
        <p:spPr>
          <a:xfrm>
            <a:off x="8991600" y="39433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Экспорт</a:t>
            </a:r>
          </a:p>
        </p:txBody>
      </p:sp>
      <p:sp>
        <p:nvSpPr>
          <p:cNvPr id="19" name="dark-body">
            <a:extLst>
              <a:ext uri="{FF2B5EF4-FFF2-40B4-BE49-F238E27FC236}">
                <a16:creationId xmlns:a16="http://schemas.microsoft.com/office/drawing/2014/main" id="{47C38A88-C372-4102-B6A7-4B7E7E9D1CF3}"/>
              </a:ext>
            </a:extLst>
          </p:cNvPr>
          <p:cNvSpPr>
            <a:spLocks noGrp="1"/>
          </p:cNvSpPr>
          <p:nvPr/>
        </p:nvSpPr>
        <p:spPr>
          <a:xfrm>
            <a:off x="8991600" y="4438650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PDF, JSON результата, JSON правки, общий CSV</a:t>
            </a:r>
          </a:p>
        </p:txBody>
      </p:sp>
    </p:spTree>
    <p:extLst>
      <p:ext uri="{BB962C8B-B14F-4D97-AF65-F5344CB8AC3E}">
        <p14:creationId xmlns:p14="http://schemas.microsoft.com/office/powerpoint/2010/main" val="1672240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E136804F-7044-432F-B775-6F4FA9BBF87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Маску теперь можно двигать мышью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A309FE6-2EAB-43C7-A0EA-C4E012DE72EB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Старые оси X/Y заменены на привычное взаимодействие с картинкой.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12D9BA8C-5226-4088-A733-7F50A56C9E73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19E8E954-48B3-49BC-8F16-D82BE5EE036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5" name="image-frame">
            <a:extLst>
              <a:ext uri="{FF2B5EF4-FFF2-40B4-BE49-F238E27FC236}">
                <a16:creationId xmlns:a16="http://schemas.microsoft.com/office/drawing/2014/main" id="{3C679CBC-05A3-469E-835E-4689A5601FD7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4953000" cy="3048000"/>
          </a:xfrm>
          <a:prstGeom prst="roundRect">
            <a:avLst>
              <a:gd name="adj" fmla="val 3750"/>
            </a:avLst>
          </a:prstGeom>
          <a:solidFill>
            <a:srgbClr val="0B0F17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2641467"/>
            <a:ext cx="4762500" cy="1460767"/>
          </a:xfrm>
          <a:prstGeom prst="rect">
            <a:avLst/>
          </a:prstGeom>
        </p:spPr>
      </p:pic>
      <p:sp>
        <p:nvSpPr>
          <p:cNvPr id="7" name="image-caption">
            <a:extLst>
              <a:ext uri="{FF2B5EF4-FFF2-40B4-BE49-F238E27FC236}">
                <a16:creationId xmlns:a16="http://schemas.microsoft.com/office/drawing/2014/main" id="{C7699490-485B-41BA-BFD4-B47BEB2C4FD6}"/>
              </a:ext>
            </a:extLst>
          </p:cNvPr>
          <p:cNvSpPr>
            <a:spLocks noGrp="1"/>
          </p:cNvSpPr>
          <p:nvPr/>
        </p:nvSpPr>
        <p:spPr>
          <a:xfrm>
            <a:off x="704850" y="4724400"/>
            <a:ext cx="461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C6D0DF"/>
                </a:solidFill>
              </a:defRPr>
            </a:pPr>
            <a:r>
              <a:rPr sz="1050">
                <a:solidFill>
                  <a:srgbClr val="C6D0DF"/>
                </a:solidFill>
              </a:rPr>
              <a:t>верхняя карточка результата</a:t>
            </a:r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06FACDBD-D3EA-44F3-A000-309CDA8BDF56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476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card-accent">
            <a:extLst>
              <a:ext uri="{FF2B5EF4-FFF2-40B4-BE49-F238E27FC236}">
                <a16:creationId xmlns:a16="http://schemas.microsoft.com/office/drawing/2014/main" id="{D23D536D-6B3D-496B-A99C-A7C83A110E4A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66675" cy="91440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10" name="card-heading">
            <a:extLst>
              <a:ext uri="{FF2B5EF4-FFF2-40B4-BE49-F238E27FC236}">
                <a16:creationId xmlns:a16="http://schemas.microsoft.com/office/drawing/2014/main" id="{FB4EEC3C-47DD-4A82-910E-025A159ACEB4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401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Перемещение</a:t>
            </a:r>
          </a:p>
        </p:txBody>
      </p:sp>
      <p:sp>
        <p:nvSpPr>
          <p:cNvPr id="11" name="card-body">
            <a:extLst>
              <a:ext uri="{FF2B5EF4-FFF2-40B4-BE49-F238E27FC236}">
                <a16:creationId xmlns:a16="http://schemas.microsoft.com/office/drawing/2014/main" id="{2424C0CF-192C-41BC-AAC7-94DAA60C68EA}"/>
              </a:ext>
            </a:extLst>
          </p:cNvPr>
          <p:cNvSpPr>
            <a:spLocks noGrp="1"/>
          </p:cNvSpPr>
          <p:nvPr/>
        </p:nvSpPr>
        <p:spPr>
          <a:xfrm>
            <a:off x="6419850" y="2819400"/>
            <a:ext cx="40195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drag мышью двигает изображение внутри viewer</a:t>
            </a:r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D4DB1B84-DCDF-43D4-A9C4-5407D94B2CEA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4476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card-accent">
            <a:extLst>
              <a:ext uri="{FF2B5EF4-FFF2-40B4-BE49-F238E27FC236}">
                <a16:creationId xmlns:a16="http://schemas.microsoft.com/office/drawing/2014/main" id="{56E54717-353B-40F1-AE3A-86FDB7AA3F38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66675" cy="9144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card-heading">
            <a:extLst>
              <a:ext uri="{FF2B5EF4-FFF2-40B4-BE49-F238E27FC236}">
                <a16:creationId xmlns:a16="http://schemas.microsoft.com/office/drawing/2014/main" id="{C80480D6-FBCE-4DD6-BA6B-37459E330A68}"/>
              </a:ext>
            </a:extLst>
          </p:cNvPr>
          <p:cNvSpPr>
            <a:spLocks noGrp="1"/>
          </p:cNvSpPr>
          <p:nvPr/>
        </p:nvSpPr>
        <p:spPr>
          <a:xfrm>
            <a:off x="6419850" y="3514725"/>
            <a:ext cx="401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Зум</a:t>
            </a:r>
          </a:p>
        </p:txBody>
      </p:sp>
      <p:sp>
        <p:nvSpPr>
          <p:cNvPr id="15" name="card-body">
            <a:extLst>
              <a:ext uri="{FF2B5EF4-FFF2-40B4-BE49-F238E27FC236}">
                <a16:creationId xmlns:a16="http://schemas.microsoft.com/office/drawing/2014/main" id="{3A121453-2D7A-418A-B34B-6D5289B0A012}"/>
              </a:ext>
            </a:extLst>
          </p:cNvPr>
          <p:cNvSpPr>
            <a:spLocks noGrp="1"/>
          </p:cNvSpPr>
          <p:nvPr/>
        </p:nvSpPr>
        <p:spPr>
          <a:xfrm>
            <a:off x="6419850" y="4010025"/>
            <a:ext cx="40195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колесо мыши увеличивает точку под курсором</a:t>
            </a:r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EC2E7A8A-9C81-4DD3-B8C8-B125F7557C9C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4476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card-accent">
            <a:extLst>
              <a:ext uri="{FF2B5EF4-FFF2-40B4-BE49-F238E27FC236}">
                <a16:creationId xmlns:a16="http://schemas.microsoft.com/office/drawing/2014/main" id="{55277106-1EC7-482A-AD91-07665295D8DC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66675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8" name="card-heading">
            <a:extLst>
              <a:ext uri="{FF2B5EF4-FFF2-40B4-BE49-F238E27FC236}">
                <a16:creationId xmlns:a16="http://schemas.microsoft.com/office/drawing/2014/main" id="{676F5D87-DDA6-45CC-A735-F7B8E242136F}"/>
              </a:ext>
            </a:extLst>
          </p:cNvPr>
          <p:cNvSpPr>
            <a:spLocks noGrp="1"/>
          </p:cNvSpPr>
          <p:nvPr/>
        </p:nvSpPr>
        <p:spPr>
          <a:xfrm>
            <a:off x="6419850" y="4705350"/>
            <a:ext cx="401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Сброс</a:t>
            </a:r>
          </a:p>
        </p:txBody>
      </p:sp>
      <p:sp>
        <p:nvSpPr>
          <p:cNvPr id="19" name="card-body">
            <a:extLst>
              <a:ext uri="{FF2B5EF4-FFF2-40B4-BE49-F238E27FC236}">
                <a16:creationId xmlns:a16="http://schemas.microsoft.com/office/drawing/2014/main" id="{1CD33858-840F-4CFB-A82D-1B396CF8ED42}"/>
              </a:ext>
            </a:extLst>
          </p:cNvPr>
          <p:cNvSpPr>
            <a:spLocks noGrp="1"/>
          </p:cNvSpPr>
          <p:nvPr/>
        </p:nvSpPr>
        <p:spPr>
          <a:xfrm>
            <a:off x="6419850" y="5200650"/>
            <a:ext cx="40195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двойной клик или кнопка возвращают начальный вид</a:t>
            </a:r>
          </a:p>
        </p:txBody>
      </p:sp>
    </p:spTree>
    <p:extLst>
      <p:ext uri="{BB962C8B-B14F-4D97-AF65-F5344CB8AC3E}">
        <p14:creationId xmlns:p14="http://schemas.microsoft.com/office/powerpoint/2010/main" val="122806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930C3CC9-802B-4097-9FAC-C88F6EEDD31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Отчёты превращают результат в сдаваемый артефакт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57BFCED-B331-46A2-8CE3-1852CF128574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После анализа можно отдать не только экран, но и файлы для проверки.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81888699-FCEB-4DE3-B415-FB724427C61F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EC4B1599-548C-44D2-96CF-71B04FD3707F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D06DCBD4-D61E-4712-B740-87865BFDE9EA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1BB9DB41-9D2C-43FA-B37F-FFD1E775642B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66675" cy="17145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card-kicker">
            <a:extLst>
              <a:ext uri="{FF2B5EF4-FFF2-40B4-BE49-F238E27FC236}">
                <a16:creationId xmlns:a16="http://schemas.microsoft.com/office/drawing/2014/main" id="{ECE98EE8-5778-4087-B346-65BC660A364A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PDF</a:t>
            </a:r>
          </a:p>
        </p:txBody>
      </p:sp>
      <p:sp>
        <p:nvSpPr>
          <p:cNvPr id="8" name="card-heading">
            <a:extLst>
              <a:ext uri="{FF2B5EF4-FFF2-40B4-BE49-F238E27FC236}">
                <a16:creationId xmlns:a16="http://schemas.microsoft.com/office/drawing/2014/main" id="{499AF3BF-3AE6-4967-896D-64A20B936846}"/>
              </a:ext>
            </a:extLst>
          </p:cNvPr>
          <p:cNvSpPr>
            <a:spLocks noGrp="1"/>
          </p:cNvSpPr>
          <p:nvPr/>
        </p:nvSpPr>
        <p:spPr>
          <a:xfrm>
            <a:off x="762000" y="248602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Отчёт по снимку</a:t>
            </a:r>
          </a:p>
        </p:txBody>
      </p:sp>
      <p:sp>
        <p:nvSpPr>
          <p:cNvPr id="9" name="card-body">
            <a:extLst>
              <a:ext uri="{FF2B5EF4-FFF2-40B4-BE49-F238E27FC236}">
                <a16:creationId xmlns:a16="http://schemas.microsoft.com/office/drawing/2014/main" id="{AFBB925A-683A-4B6B-9486-0BB81785AD82}"/>
              </a:ext>
            </a:extLst>
          </p:cNvPr>
          <p:cNvSpPr>
            <a:spLocks noGrp="1"/>
          </p:cNvSpPr>
          <p:nvPr/>
        </p:nvSpPr>
        <p:spPr>
          <a:xfrm>
            <a:off x="762000" y="2924175"/>
            <a:ext cx="1924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вердикт, таблица метрик, исходник и маска талька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2F91C96B-C7A9-4FBA-BDCF-E8F648361403}"/>
              </a:ext>
            </a:extLst>
          </p:cNvPr>
          <p:cNvSpPr>
            <a:spLocks noGrp="1"/>
          </p:cNvSpPr>
          <p:nvPr/>
        </p:nvSpPr>
        <p:spPr>
          <a:xfrm>
            <a:off x="3333750" y="2047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19A7DE3C-33BD-4099-83D4-D3F5F41A4688}"/>
              </a:ext>
            </a:extLst>
          </p:cNvPr>
          <p:cNvSpPr>
            <a:spLocks noGrp="1"/>
          </p:cNvSpPr>
          <p:nvPr/>
        </p:nvSpPr>
        <p:spPr>
          <a:xfrm>
            <a:off x="3333750" y="2047875"/>
            <a:ext cx="66675" cy="171450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12" name="card-kicker">
            <a:extLst>
              <a:ext uri="{FF2B5EF4-FFF2-40B4-BE49-F238E27FC236}">
                <a16:creationId xmlns:a16="http://schemas.microsoft.com/office/drawing/2014/main" id="{DB417EB8-66EF-4CB7-A441-E3849E322E43}"/>
              </a:ext>
            </a:extLst>
          </p:cNvPr>
          <p:cNvSpPr>
            <a:spLocks noGrp="1"/>
          </p:cNvSpPr>
          <p:nvPr/>
        </p:nvSpPr>
        <p:spPr>
          <a:xfrm>
            <a:off x="3562350" y="221932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JSON</a:t>
            </a:r>
          </a:p>
        </p:txBody>
      </p:sp>
      <p:sp>
        <p:nvSpPr>
          <p:cNvPr id="13" name="card-heading">
            <a:extLst>
              <a:ext uri="{FF2B5EF4-FFF2-40B4-BE49-F238E27FC236}">
                <a16:creationId xmlns:a16="http://schemas.microsoft.com/office/drawing/2014/main" id="{9B878F65-107D-475D-83BE-435E6A6F84E6}"/>
              </a:ext>
            </a:extLst>
          </p:cNvPr>
          <p:cNvSpPr>
            <a:spLocks noGrp="1"/>
          </p:cNvSpPr>
          <p:nvPr/>
        </p:nvSpPr>
        <p:spPr>
          <a:xfrm>
            <a:off x="3562350" y="248602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Результат</a:t>
            </a:r>
          </a:p>
        </p:txBody>
      </p:sp>
      <p:sp>
        <p:nvSpPr>
          <p:cNvPr id="14" name="card-body">
            <a:extLst>
              <a:ext uri="{FF2B5EF4-FFF2-40B4-BE49-F238E27FC236}">
                <a16:creationId xmlns:a16="http://schemas.microsoft.com/office/drawing/2014/main" id="{916EF12A-7AAC-4C93-A2BB-B2D3756AC5B3}"/>
              </a:ext>
            </a:extLst>
          </p:cNvPr>
          <p:cNvSpPr>
            <a:spLocks noGrp="1"/>
          </p:cNvSpPr>
          <p:nvPr/>
        </p:nvSpPr>
        <p:spPr>
          <a:xfrm>
            <a:off x="3562350" y="2924175"/>
            <a:ext cx="1924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сырой контракт analyze() для интеграции и отладки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15F27703-C88B-4E1C-BBE7-D5291615E844}"/>
              </a:ext>
            </a:extLst>
          </p:cNvPr>
          <p:cNvSpPr>
            <a:spLocks noGrp="1"/>
          </p:cNvSpPr>
          <p:nvPr/>
        </p:nvSpPr>
        <p:spPr>
          <a:xfrm>
            <a:off x="6134100" y="2047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card-accent">
            <a:extLst>
              <a:ext uri="{FF2B5EF4-FFF2-40B4-BE49-F238E27FC236}">
                <a16:creationId xmlns:a16="http://schemas.microsoft.com/office/drawing/2014/main" id="{012A388A-3265-44D3-8DE7-001C81CBFAE7}"/>
              </a:ext>
            </a:extLst>
          </p:cNvPr>
          <p:cNvSpPr>
            <a:spLocks noGrp="1"/>
          </p:cNvSpPr>
          <p:nvPr/>
        </p:nvSpPr>
        <p:spPr>
          <a:xfrm>
            <a:off x="6134100" y="2047875"/>
            <a:ext cx="66675" cy="17145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7" name="card-kicker">
            <a:extLst>
              <a:ext uri="{FF2B5EF4-FFF2-40B4-BE49-F238E27FC236}">
                <a16:creationId xmlns:a16="http://schemas.microsoft.com/office/drawing/2014/main" id="{89D8583A-89D0-409F-A335-576AAC71BFD9}"/>
              </a:ext>
            </a:extLst>
          </p:cNvPr>
          <p:cNvSpPr>
            <a:spLocks noGrp="1"/>
          </p:cNvSpPr>
          <p:nvPr/>
        </p:nvSpPr>
        <p:spPr>
          <a:xfrm>
            <a:off x="6362700" y="221932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JSON</a:t>
            </a:r>
          </a:p>
        </p:txBody>
      </p:sp>
      <p:sp>
        <p:nvSpPr>
          <p:cNvPr id="18" name="card-heading">
            <a:extLst>
              <a:ext uri="{FF2B5EF4-FFF2-40B4-BE49-F238E27FC236}">
                <a16:creationId xmlns:a16="http://schemas.microsoft.com/office/drawing/2014/main" id="{0CC0D867-8597-4A6B-A57B-BC00E061638D}"/>
              </a:ext>
            </a:extLst>
          </p:cNvPr>
          <p:cNvSpPr>
            <a:spLocks noGrp="1"/>
          </p:cNvSpPr>
          <p:nvPr/>
        </p:nvSpPr>
        <p:spPr>
          <a:xfrm>
            <a:off x="6362700" y="248602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Правка геолога</a:t>
            </a:r>
          </a:p>
        </p:txBody>
      </p:sp>
      <p:sp>
        <p:nvSpPr>
          <p:cNvPr id="19" name="card-body">
            <a:extLst>
              <a:ext uri="{FF2B5EF4-FFF2-40B4-BE49-F238E27FC236}">
                <a16:creationId xmlns:a16="http://schemas.microsoft.com/office/drawing/2014/main" id="{7D19AE52-4121-4511-A00C-7774E4B1F6A3}"/>
              </a:ext>
            </a:extLst>
          </p:cNvPr>
          <p:cNvSpPr>
            <a:spLocks noGrp="1"/>
          </p:cNvSpPr>
          <p:nvPr/>
        </p:nvSpPr>
        <p:spPr>
          <a:xfrm>
            <a:off x="6362700" y="2924175"/>
            <a:ext cx="1924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подтверждение или исправленный сорт с комментарием</a:t>
            </a:r>
          </a:p>
        </p:txBody>
      </p:sp>
      <p:sp>
        <p:nvSpPr>
          <p:cNvPr id="20" name="card">
            <a:extLst>
              <a:ext uri="{FF2B5EF4-FFF2-40B4-BE49-F238E27FC236}">
                <a16:creationId xmlns:a16="http://schemas.microsoft.com/office/drawing/2014/main" id="{F6ABC3BF-7150-4BF1-ADE9-361E3A64B086}"/>
              </a:ext>
            </a:extLst>
          </p:cNvPr>
          <p:cNvSpPr>
            <a:spLocks noGrp="1"/>
          </p:cNvSpPr>
          <p:nvPr/>
        </p:nvSpPr>
        <p:spPr>
          <a:xfrm>
            <a:off x="8934450" y="2047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card-accent">
            <a:extLst>
              <a:ext uri="{FF2B5EF4-FFF2-40B4-BE49-F238E27FC236}">
                <a16:creationId xmlns:a16="http://schemas.microsoft.com/office/drawing/2014/main" id="{E5F8D76B-EF68-4653-B262-AE9F0FB6AA8F}"/>
              </a:ext>
            </a:extLst>
          </p:cNvPr>
          <p:cNvSpPr>
            <a:spLocks noGrp="1"/>
          </p:cNvSpPr>
          <p:nvPr/>
        </p:nvSpPr>
        <p:spPr>
          <a:xfrm>
            <a:off x="8934450" y="2047875"/>
            <a:ext cx="66675" cy="1714500"/>
          </a:xfrm>
          <a:prstGeom prst="rect">
            <a:avLst/>
          </a:prstGeom>
          <a:solidFill>
            <a:srgbClr val="6D5BD0"/>
          </a:solidFill>
          <a:ln w="0">
            <a:solidFill>
              <a:srgbClr val="6D5BD0"/>
            </a:solidFill>
            <a:prstDash val="solid"/>
          </a:ln>
        </p:spPr>
      </p:sp>
      <p:sp>
        <p:nvSpPr>
          <p:cNvPr id="22" name="card-kicker">
            <a:extLst>
              <a:ext uri="{FF2B5EF4-FFF2-40B4-BE49-F238E27FC236}">
                <a16:creationId xmlns:a16="http://schemas.microsoft.com/office/drawing/2014/main" id="{CDD9FACD-3DEE-42EF-9129-11295CAFD4F3}"/>
              </a:ext>
            </a:extLst>
          </p:cNvPr>
          <p:cNvSpPr>
            <a:spLocks noGrp="1"/>
          </p:cNvSpPr>
          <p:nvPr/>
        </p:nvSpPr>
        <p:spPr>
          <a:xfrm>
            <a:off x="9163050" y="221932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CSV</a:t>
            </a:r>
          </a:p>
        </p:txBody>
      </p:sp>
      <p:sp>
        <p:nvSpPr>
          <p:cNvPr id="23" name="card-heading">
            <a:extLst>
              <a:ext uri="{FF2B5EF4-FFF2-40B4-BE49-F238E27FC236}">
                <a16:creationId xmlns:a16="http://schemas.microsoft.com/office/drawing/2014/main" id="{54EC2C7B-024E-457F-B76D-3FCC15AD67E7}"/>
              </a:ext>
            </a:extLst>
          </p:cNvPr>
          <p:cNvSpPr>
            <a:spLocks noGrp="1"/>
          </p:cNvSpPr>
          <p:nvPr/>
        </p:nvSpPr>
        <p:spPr>
          <a:xfrm>
            <a:off x="9163050" y="248602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6D5BD0"/>
                </a:solidFill>
              </a:defRPr>
            </a:pPr>
            <a:r>
              <a:rPr sz="1800" b="1">
                <a:solidFill>
                  <a:srgbClr val="6D5BD0"/>
                </a:solidFill>
              </a:rPr>
              <a:t>Batch</a:t>
            </a:r>
          </a:p>
        </p:txBody>
      </p:sp>
      <p:sp>
        <p:nvSpPr>
          <p:cNvPr id="24" name="card-body">
            <a:extLst>
              <a:ext uri="{FF2B5EF4-FFF2-40B4-BE49-F238E27FC236}">
                <a16:creationId xmlns:a16="http://schemas.microsoft.com/office/drawing/2014/main" id="{B34B87A1-62A4-4340-B302-D1BB0173368E}"/>
              </a:ext>
            </a:extLst>
          </p:cNvPr>
          <p:cNvSpPr>
            <a:spLocks noGrp="1"/>
          </p:cNvSpPr>
          <p:nvPr/>
        </p:nvSpPr>
        <p:spPr>
          <a:xfrm>
            <a:off x="9163050" y="2924175"/>
            <a:ext cx="1924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сводка по всем загруженным изображениям</a:t>
            </a:r>
          </a:p>
        </p:txBody>
      </p:sp>
      <p:sp>
        <p:nvSpPr>
          <p:cNvPr id="25" name="submission">
            <a:extLst>
              <a:ext uri="{FF2B5EF4-FFF2-40B4-BE49-F238E27FC236}">
                <a16:creationId xmlns:a16="http://schemas.microsoft.com/office/drawing/2014/main" id="{788F4775-B6B1-4E0B-9815-7F026D652B28}"/>
              </a:ext>
            </a:extLst>
          </p:cNvPr>
          <p:cNvSpPr>
            <a:spLocks noGrp="1"/>
          </p:cNvSpPr>
          <p:nvPr/>
        </p:nvSpPr>
        <p:spPr>
          <a:xfrm>
            <a:off x="533400" y="4572000"/>
            <a:ext cx="10782300" cy="895350"/>
          </a:xfrm>
          <a:prstGeom prst="roundRect">
            <a:avLst>
              <a:gd name="adj" fmla="val 12766"/>
            </a:avLst>
          </a:prstGeom>
          <a:solidFill>
            <a:srgbClr val="F5F7FB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submission-text">
            <a:extLst>
              <a:ext uri="{FF2B5EF4-FFF2-40B4-BE49-F238E27FC236}">
                <a16:creationId xmlns:a16="http://schemas.microsoft.com/office/drawing/2014/main" id="{8AA75534-B758-4405-9CD2-BF87E6B00D4C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10172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Для финальной сдачи подготовлены: репозиторий, облако с материалами, презентация, живая ссылка на деплой, README и сценарий демо-видео.</a:t>
            </a:r>
          </a:p>
        </p:txBody>
      </p:sp>
    </p:spTree>
    <p:extLst>
      <p:ext uri="{BB962C8B-B14F-4D97-AF65-F5344CB8AC3E}">
        <p14:creationId xmlns:p14="http://schemas.microsoft.com/office/powerpoint/2010/main" val="366564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title">
            <a:extLst>
              <a:ext uri="{FF2B5EF4-FFF2-40B4-BE49-F238E27FC236}">
                <a16:creationId xmlns:a16="http://schemas.microsoft.com/office/drawing/2014/main" id="{9EC86B2C-14E6-4A82-83BD-4D45272B679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Команда видит, что готово и что осталось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4952D60-D8BF-427B-8AE5-4050A18F81DA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64748B"/>
                </a:solidFill>
              </a:defRPr>
            </a:pPr>
            <a:r>
              <a:rPr sz="1575">
                <a:solidFill>
                  <a:srgbClr val="64748B"/>
                </a:solidFill>
              </a:rPr>
              <a:t>Сдача собрана вокруг владельцев P1-P4, поэтому финальные действия не смешиваются.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7309B291-D2F0-4C6D-B967-03110BBC60E4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CAEF59C0-EAEF-4501-B4ED-248C5F45DE8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5" name="section-band">
            <a:extLst>
              <a:ext uri="{FF2B5EF4-FFF2-40B4-BE49-F238E27FC236}">
                <a16:creationId xmlns:a16="http://schemas.microsoft.com/office/drawing/2014/main" id="{29191E7E-C151-4C15-996B-4EF1B0B4E97A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section-label">
            <a:extLst>
              <a:ext uri="{FF2B5EF4-FFF2-40B4-BE49-F238E27FC236}">
                <a16:creationId xmlns:a16="http://schemas.microsoft.com/office/drawing/2014/main" id="{A76CF904-7D13-4A34-A4DF-D9B7B1529F4A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" name="section-band">
            <a:extLst>
              <a:ext uri="{FF2B5EF4-FFF2-40B4-BE49-F238E27FC236}">
                <a16:creationId xmlns:a16="http://schemas.microsoft.com/office/drawing/2014/main" id="{26297922-05B0-429E-8D1A-B9CDBADD0020}"/>
              </a:ext>
            </a:extLst>
          </p:cNvPr>
          <p:cNvSpPr>
            <a:spLocks noGrp="1"/>
          </p:cNvSpPr>
          <p:nvPr/>
        </p:nvSpPr>
        <p:spPr>
          <a:xfrm>
            <a:off x="3295650" y="209550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169653"/>
          </a:solidFill>
          <a:ln w="9525">
            <a:solidFill>
              <a:srgbClr val="16965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section-label">
            <a:extLst>
              <a:ext uri="{FF2B5EF4-FFF2-40B4-BE49-F238E27FC236}">
                <a16:creationId xmlns:a16="http://schemas.microsoft.com/office/drawing/2014/main" id="{13D8358F-9866-4240-A74E-7EF288CD6E89}"/>
              </a:ext>
            </a:extLst>
          </p:cNvPr>
          <p:cNvSpPr>
            <a:spLocks noGrp="1"/>
          </p:cNvSpPr>
          <p:nvPr/>
        </p:nvSpPr>
        <p:spPr>
          <a:xfrm>
            <a:off x="3467100" y="22098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" name="section-band">
            <a:extLst>
              <a:ext uri="{FF2B5EF4-FFF2-40B4-BE49-F238E27FC236}">
                <a16:creationId xmlns:a16="http://schemas.microsoft.com/office/drawing/2014/main" id="{A2AC527B-9D55-4E95-8EE4-8C39255DE85E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section-label">
            <a:extLst>
              <a:ext uri="{FF2B5EF4-FFF2-40B4-BE49-F238E27FC236}">
                <a16:creationId xmlns:a16="http://schemas.microsoft.com/office/drawing/2014/main" id="{521EBA99-91E1-4E7E-912F-63FC5DA6530A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1" name="section-band">
            <a:extLst>
              <a:ext uri="{FF2B5EF4-FFF2-40B4-BE49-F238E27FC236}">
                <a16:creationId xmlns:a16="http://schemas.microsoft.com/office/drawing/2014/main" id="{9555B2FB-570A-4250-BCA5-89FC7ABD1E61}"/>
              </a:ext>
            </a:extLst>
          </p:cNvPr>
          <p:cNvSpPr>
            <a:spLocks noGrp="1"/>
          </p:cNvSpPr>
          <p:nvPr/>
        </p:nvSpPr>
        <p:spPr>
          <a:xfrm>
            <a:off x="8820150" y="2095500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ection-label">
            <a:extLst>
              <a:ext uri="{FF2B5EF4-FFF2-40B4-BE49-F238E27FC236}">
                <a16:creationId xmlns:a16="http://schemas.microsoft.com/office/drawing/2014/main" id="{083E270B-A28A-4726-856F-DE1B76A099B9}"/>
              </a:ext>
            </a:extLst>
          </p:cNvPr>
          <p:cNvSpPr>
            <a:spLocks noGrp="1"/>
          </p:cNvSpPr>
          <p:nvPr/>
        </p:nvSpPr>
        <p:spPr>
          <a:xfrm>
            <a:off x="8991600" y="22098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C50C305B-B7BB-469C-9803-29179EDEAF0B}"/>
              </a:ext>
            </a:extLst>
          </p:cNvPr>
          <p:cNvSpPr>
            <a:spLocks noGrp="1"/>
          </p:cNvSpPr>
          <p:nvPr/>
        </p:nvSpPr>
        <p:spPr>
          <a:xfrm>
            <a:off x="533400" y="2809875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card-accent">
            <a:extLst>
              <a:ext uri="{FF2B5EF4-FFF2-40B4-BE49-F238E27FC236}">
                <a16:creationId xmlns:a16="http://schemas.microsoft.com/office/drawing/2014/main" id="{3B6A66F0-44B4-45CB-835A-EB2250108CEE}"/>
              </a:ext>
            </a:extLst>
          </p:cNvPr>
          <p:cNvSpPr>
            <a:spLocks noGrp="1"/>
          </p:cNvSpPr>
          <p:nvPr/>
        </p:nvSpPr>
        <p:spPr>
          <a:xfrm>
            <a:off x="533400" y="2809875"/>
            <a:ext cx="66675" cy="1905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card-heading">
            <a:extLst>
              <a:ext uri="{FF2B5EF4-FFF2-40B4-BE49-F238E27FC236}">
                <a16:creationId xmlns:a16="http://schemas.microsoft.com/office/drawing/2014/main" id="{390EA893-2348-4B7B-9EFC-1F6CD4AA6846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Тальк</a:t>
            </a:r>
          </a:p>
        </p:txBody>
      </p:sp>
      <p:sp>
        <p:nvSpPr>
          <p:cNvPr id="16" name="card-body">
            <a:extLst>
              <a:ext uri="{FF2B5EF4-FFF2-40B4-BE49-F238E27FC236}">
                <a16:creationId xmlns:a16="http://schemas.microsoft.com/office/drawing/2014/main" id="{3D59B21A-DC4B-433A-9DAC-5C7FF48C3FB8}"/>
              </a:ext>
            </a:extLst>
          </p:cNvPr>
          <p:cNvSpPr>
            <a:spLocks noGrp="1"/>
          </p:cNvSpPr>
          <p:nvPr/>
        </p:nvSpPr>
        <p:spPr>
          <a:xfrm>
            <a:off x="762000" y="3533775"/>
            <a:ext cx="1828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готов каркас; осталось откалибровать пороги и проверить панорамы</a:t>
            </a:r>
          </a:p>
        </p:txBody>
      </p:sp>
      <p:sp>
        <p:nvSpPr>
          <p:cNvPr id="17" name="card">
            <a:extLst>
              <a:ext uri="{FF2B5EF4-FFF2-40B4-BE49-F238E27FC236}">
                <a16:creationId xmlns:a16="http://schemas.microsoft.com/office/drawing/2014/main" id="{912F54F9-34A2-4D22-8EE0-E53905AA5253}"/>
              </a:ext>
            </a:extLst>
          </p:cNvPr>
          <p:cNvSpPr>
            <a:spLocks noGrp="1"/>
          </p:cNvSpPr>
          <p:nvPr/>
        </p:nvSpPr>
        <p:spPr>
          <a:xfrm>
            <a:off x="3009900" y="2809875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card-accent">
            <a:extLst>
              <a:ext uri="{FF2B5EF4-FFF2-40B4-BE49-F238E27FC236}">
                <a16:creationId xmlns:a16="http://schemas.microsoft.com/office/drawing/2014/main" id="{2AF287C7-9853-4EF4-BF51-B591858858F3}"/>
              </a:ext>
            </a:extLst>
          </p:cNvPr>
          <p:cNvSpPr>
            <a:spLocks noGrp="1"/>
          </p:cNvSpPr>
          <p:nvPr/>
        </p:nvSpPr>
        <p:spPr>
          <a:xfrm>
            <a:off x="3009900" y="2809875"/>
            <a:ext cx="66675" cy="1905000"/>
          </a:xfrm>
          <a:prstGeom prst="rect">
            <a:avLst/>
          </a:prstGeom>
          <a:solidFill>
            <a:srgbClr val="169653"/>
          </a:solidFill>
          <a:ln w="0">
            <a:solidFill>
              <a:srgbClr val="169653"/>
            </a:solidFill>
            <a:prstDash val="solid"/>
          </a:ln>
        </p:spPr>
      </p:sp>
      <p:sp>
        <p:nvSpPr>
          <p:cNvPr id="19" name="card-heading">
            <a:extLst>
              <a:ext uri="{FF2B5EF4-FFF2-40B4-BE49-F238E27FC236}">
                <a16:creationId xmlns:a16="http://schemas.microsoft.com/office/drawing/2014/main" id="{1BD0F42C-7BBC-4F11-B34E-CA6731D0FD45}"/>
              </a:ext>
            </a:extLst>
          </p:cNvPr>
          <p:cNvSpPr>
            <a:spLocks noGrp="1"/>
          </p:cNvSpPr>
          <p:nvPr/>
        </p:nvSpPr>
        <p:spPr>
          <a:xfrm>
            <a:off x="3238500" y="3038475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Классификатор</a:t>
            </a:r>
          </a:p>
        </p:txBody>
      </p:sp>
      <p:sp>
        <p:nvSpPr>
          <p:cNvPr id="20" name="card-body">
            <a:extLst>
              <a:ext uri="{FF2B5EF4-FFF2-40B4-BE49-F238E27FC236}">
                <a16:creationId xmlns:a16="http://schemas.microsoft.com/office/drawing/2014/main" id="{43CA36E3-0456-4117-8019-675B55C92E75}"/>
              </a:ext>
            </a:extLst>
          </p:cNvPr>
          <p:cNvSpPr>
            <a:spLocks noGrp="1"/>
          </p:cNvSpPr>
          <p:nvPr/>
        </p:nvSpPr>
        <p:spPr>
          <a:xfrm>
            <a:off x="3238500" y="3533775"/>
            <a:ext cx="1828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код готов; осталось обучить веса и приложить macro-F1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9CAFA8BF-A9E8-487B-AB69-9328C1142FEB}"/>
              </a:ext>
            </a:extLst>
          </p:cNvPr>
          <p:cNvSpPr>
            <a:spLocks noGrp="1"/>
          </p:cNvSpPr>
          <p:nvPr/>
        </p:nvSpPr>
        <p:spPr>
          <a:xfrm>
            <a:off x="5772150" y="2809875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card-accent">
            <a:extLst>
              <a:ext uri="{FF2B5EF4-FFF2-40B4-BE49-F238E27FC236}">
                <a16:creationId xmlns:a16="http://schemas.microsoft.com/office/drawing/2014/main" id="{08D27DB7-D245-4DD2-8367-91AA3EFDBF80}"/>
              </a:ext>
            </a:extLst>
          </p:cNvPr>
          <p:cNvSpPr>
            <a:spLocks noGrp="1"/>
          </p:cNvSpPr>
          <p:nvPr/>
        </p:nvSpPr>
        <p:spPr>
          <a:xfrm>
            <a:off x="5772150" y="2809875"/>
            <a:ext cx="66675" cy="1905000"/>
          </a:xfrm>
          <a:prstGeom prst="rect">
            <a:avLst/>
          </a:prstGeom>
          <a:solidFill>
            <a:srgbClr val="6D5BD0"/>
          </a:solidFill>
          <a:ln w="0">
            <a:solidFill>
              <a:srgbClr val="6D5BD0"/>
            </a:solidFill>
            <a:prstDash val="solid"/>
          </a:ln>
        </p:spPr>
      </p:sp>
      <p:sp>
        <p:nvSpPr>
          <p:cNvPr id="23" name="card-heading">
            <a:extLst>
              <a:ext uri="{FF2B5EF4-FFF2-40B4-BE49-F238E27FC236}">
                <a16:creationId xmlns:a16="http://schemas.microsoft.com/office/drawing/2014/main" id="{7BD8822A-F184-4F47-8649-1DFEF49CBDF6}"/>
              </a:ext>
            </a:extLst>
          </p:cNvPr>
          <p:cNvSpPr>
            <a:spLocks noGrp="1"/>
          </p:cNvSpPr>
          <p:nvPr/>
        </p:nvSpPr>
        <p:spPr>
          <a:xfrm>
            <a:off x="6000750" y="3038475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6D5BD0"/>
                </a:solidFill>
              </a:defRPr>
            </a:pPr>
            <a:r>
              <a:rPr sz="1800" b="1">
                <a:solidFill>
                  <a:srgbClr val="6D5BD0"/>
                </a:solidFill>
              </a:rPr>
              <a:t>Интеграция</a:t>
            </a:r>
          </a:p>
        </p:txBody>
      </p:sp>
      <p:sp>
        <p:nvSpPr>
          <p:cNvPr id="24" name="card-body">
            <a:extLst>
              <a:ext uri="{FF2B5EF4-FFF2-40B4-BE49-F238E27FC236}">
                <a16:creationId xmlns:a16="http://schemas.microsoft.com/office/drawing/2014/main" id="{E0EEFD9F-8562-488E-9EEE-FC6AF97987C1}"/>
              </a:ext>
            </a:extLst>
          </p:cNvPr>
          <p:cNvSpPr>
            <a:spLocks noGrp="1"/>
          </p:cNvSpPr>
          <p:nvPr/>
        </p:nvSpPr>
        <p:spPr>
          <a:xfrm>
            <a:off x="6000750" y="3533775"/>
            <a:ext cx="1828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API/Docker готовы; проверить PDF/CSV на реальных снимках</a:t>
            </a:r>
          </a:p>
        </p:txBody>
      </p:sp>
      <p:sp>
        <p:nvSpPr>
          <p:cNvPr id="25" name="card">
            <a:extLst>
              <a:ext uri="{FF2B5EF4-FFF2-40B4-BE49-F238E27FC236}">
                <a16:creationId xmlns:a16="http://schemas.microsoft.com/office/drawing/2014/main" id="{4D4ADD09-3F5F-417B-AAD6-574E01953640}"/>
              </a:ext>
            </a:extLst>
          </p:cNvPr>
          <p:cNvSpPr>
            <a:spLocks noGrp="1"/>
          </p:cNvSpPr>
          <p:nvPr/>
        </p:nvSpPr>
        <p:spPr>
          <a:xfrm>
            <a:off x="8534400" y="2809875"/>
            <a:ext cx="2286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card-accent">
            <a:extLst>
              <a:ext uri="{FF2B5EF4-FFF2-40B4-BE49-F238E27FC236}">
                <a16:creationId xmlns:a16="http://schemas.microsoft.com/office/drawing/2014/main" id="{3ED4C467-B943-4231-8D57-FD2B5CA9652C}"/>
              </a:ext>
            </a:extLst>
          </p:cNvPr>
          <p:cNvSpPr>
            <a:spLocks noGrp="1"/>
          </p:cNvSpPr>
          <p:nvPr/>
        </p:nvSpPr>
        <p:spPr>
          <a:xfrm>
            <a:off x="8534400" y="2809875"/>
            <a:ext cx="66675" cy="1905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7" name="card-heading">
            <a:extLst>
              <a:ext uri="{FF2B5EF4-FFF2-40B4-BE49-F238E27FC236}">
                <a16:creationId xmlns:a16="http://schemas.microsoft.com/office/drawing/2014/main" id="{793C12C5-8426-48FF-9A9D-7C3C89E8B880}"/>
              </a:ext>
            </a:extLst>
          </p:cNvPr>
          <p:cNvSpPr>
            <a:spLocks noGrp="1"/>
          </p:cNvSpPr>
          <p:nvPr/>
        </p:nvSpPr>
        <p:spPr>
          <a:xfrm>
            <a:off x="8763000" y="3038475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Сдача</a:t>
            </a:r>
          </a:p>
        </p:txBody>
      </p:sp>
      <p:sp>
        <p:nvSpPr>
          <p:cNvPr id="28" name="card-body">
            <a:extLst>
              <a:ext uri="{FF2B5EF4-FFF2-40B4-BE49-F238E27FC236}">
                <a16:creationId xmlns:a16="http://schemas.microsoft.com/office/drawing/2014/main" id="{FE0F4DDA-A23F-4AC0-B1D9-5BAEEB878154}"/>
              </a:ext>
            </a:extLst>
          </p:cNvPr>
          <p:cNvSpPr>
            <a:spLocks noGrp="1"/>
          </p:cNvSpPr>
          <p:nvPr/>
        </p:nvSpPr>
        <p:spPr>
          <a:xfrm>
            <a:off x="8763000" y="3533775"/>
            <a:ext cx="18288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63244"/>
                </a:solidFill>
              </a:defRPr>
            </a:pPr>
            <a:r>
              <a:rPr sz="1275">
                <a:solidFill>
                  <a:srgbClr val="263244"/>
                </a:solidFill>
              </a:rPr>
              <a:t>UI, README, ноутбук, презентация и сценарий видео собраны</a:t>
            </a:r>
          </a:p>
        </p:txBody>
      </p:sp>
    </p:spTree>
    <p:extLst>
      <p:ext uri="{BB962C8B-B14F-4D97-AF65-F5344CB8AC3E}">
        <p14:creationId xmlns:p14="http://schemas.microsoft.com/office/powerpoint/2010/main" val="190585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935DD651-1E2A-4BE6-B95A-BB1F5C9E285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990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Финальный эффект: быстрее, одинаковее, проверяемо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07331DC-A3CB-4D15-8C4F-8B7EFFA20D42}"/>
              </a:ext>
            </a:extLst>
          </p:cNvPr>
          <p:cNvSpPr>
            <a:spLocks noGrp="1"/>
          </p:cNvSpPr>
          <p:nvPr/>
        </p:nvSpPr>
        <p:spPr>
          <a:xfrm>
            <a:off x="533400" y="12763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AAB6C7"/>
                </a:solidFill>
              </a:defRPr>
            </a:pPr>
            <a:r>
              <a:rPr sz="1575">
                <a:solidFill>
                  <a:srgbClr val="AAB6C7"/>
                </a:solidFill>
              </a:rPr>
              <a:t>Геолог остаётся в контуре принятия решения, но рутина становится автоматической.</a:t>
            </a:r>
          </a:p>
        </p:txBody>
      </p:sp>
      <p:sp>
        <p:nvSpPr>
          <p:cNvPr id="3" name="footer-left">
            <a:extLst>
              <a:ext uri="{FF2B5EF4-FFF2-40B4-BE49-F238E27FC236}">
                <a16:creationId xmlns:a16="http://schemas.microsoft.com/office/drawing/2014/main" id="{2A3F1EED-8C2C-4937-9133-94917F7F08BB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4" name="footer-number">
            <a:extLst>
              <a:ext uri="{FF2B5EF4-FFF2-40B4-BE49-F238E27FC236}">
                <a16:creationId xmlns:a16="http://schemas.microsoft.com/office/drawing/2014/main" id="{74CFD322-8B43-4961-B1D2-D9D2CCC32E20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18</a:t>
            </a:r>
          </a:p>
        </p:txBody>
      </p:sp>
      <p:sp>
        <p:nvSpPr>
          <p:cNvPr id="5" name="big">
            <a:extLst>
              <a:ext uri="{FF2B5EF4-FFF2-40B4-BE49-F238E27FC236}">
                <a16:creationId xmlns:a16="http://schemas.microsoft.com/office/drawing/2014/main" id="{999ACD01-70FA-4699-9832-D6199FB458A6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981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Фото аншлифа → сорт руды → карта талька → подтверждённый отчёт</a:t>
            </a:r>
          </a:p>
        </p:txBody>
      </p:sp>
      <p:sp>
        <p:nvSpPr>
          <p:cNvPr id="6" name="dark-card">
            <a:extLst>
              <a:ext uri="{FF2B5EF4-FFF2-40B4-BE49-F238E27FC236}">
                <a16:creationId xmlns:a16="http://schemas.microsoft.com/office/drawing/2014/main" id="{49C25C72-E116-4675-8C6F-2E6D3AD0F80B}"/>
              </a:ext>
            </a:extLst>
          </p:cNvPr>
          <p:cNvSpPr>
            <a:spLocks noGrp="1"/>
          </p:cNvSpPr>
          <p:nvPr/>
        </p:nvSpPr>
        <p:spPr>
          <a:xfrm>
            <a:off x="1381125" y="3905250"/>
            <a:ext cx="2667000" cy="1066800"/>
          </a:xfrm>
          <a:prstGeom prst="roundRect">
            <a:avLst>
              <a:gd name="adj" fmla="val 10714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dark-heading">
            <a:extLst>
              <a:ext uri="{FF2B5EF4-FFF2-40B4-BE49-F238E27FC236}">
                <a16:creationId xmlns:a16="http://schemas.microsoft.com/office/drawing/2014/main" id="{66D90F05-CA74-49EF-9C4E-4770AE0B1822}"/>
              </a:ext>
            </a:extLst>
          </p:cNvPr>
          <p:cNvSpPr>
            <a:spLocks noGrp="1"/>
          </p:cNvSpPr>
          <p:nvPr/>
        </p:nvSpPr>
        <p:spPr>
          <a:xfrm>
            <a:off x="1609725" y="4133850"/>
            <a:ext cx="2209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9653"/>
                </a:solidFill>
              </a:defRPr>
            </a:pPr>
            <a:r>
              <a:rPr sz="1800" b="1">
                <a:solidFill>
                  <a:srgbClr val="169653"/>
                </a:solidFill>
              </a:rPr>
              <a:t>Для геолога</a:t>
            </a:r>
          </a:p>
        </p:txBody>
      </p:sp>
      <p:sp>
        <p:nvSpPr>
          <p:cNvPr id="8" name="dark-body">
            <a:extLst>
              <a:ext uri="{FF2B5EF4-FFF2-40B4-BE49-F238E27FC236}">
                <a16:creationId xmlns:a16="http://schemas.microsoft.com/office/drawing/2014/main" id="{EF2226CE-DF46-45BC-B8C0-A159E360C8EC}"/>
              </a:ext>
            </a:extLst>
          </p:cNvPr>
          <p:cNvSpPr>
            <a:spLocks noGrp="1"/>
          </p:cNvSpPr>
          <p:nvPr/>
        </p:nvSpPr>
        <p:spPr>
          <a:xfrm>
            <a:off x="1609725" y="46291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меньше ручной рутины и больше проверяемости</a:t>
            </a:r>
          </a:p>
        </p:txBody>
      </p:sp>
      <p:sp>
        <p:nvSpPr>
          <p:cNvPr id="9" name="dark-card">
            <a:extLst>
              <a:ext uri="{FF2B5EF4-FFF2-40B4-BE49-F238E27FC236}">
                <a16:creationId xmlns:a16="http://schemas.microsoft.com/office/drawing/2014/main" id="{1E5B4A8E-C6A6-4CAF-91E4-0F9A6054B0B2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2667000" cy="1066800"/>
          </a:xfrm>
          <a:prstGeom prst="roundRect">
            <a:avLst>
              <a:gd name="adj" fmla="val 10714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dark-heading">
            <a:extLst>
              <a:ext uri="{FF2B5EF4-FFF2-40B4-BE49-F238E27FC236}">
                <a16:creationId xmlns:a16="http://schemas.microsoft.com/office/drawing/2014/main" id="{09E64CC9-9091-4F5D-9429-DFD314685961}"/>
              </a:ext>
            </a:extLst>
          </p:cNvPr>
          <p:cNvSpPr>
            <a:spLocks noGrp="1"/>
          </p:cNvSpPr>
          <p:nvPr/>
        </p:nvSpPr>
        <p:spPr>
          <a:xfrm>
            <a:off x="4991100" y="4133850"/>
            <a:ext cx="2209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Для команды</a:t>
            </a:r>
          </a:p>
        </p:txBody>
      </p:sp>
      <p:sp>
        <p:nvSpPr>
          <p:cNvPr id="11" name="dark-body">
            <a:extLst>
              <a:ext uri="{FF2B5EF4-FFF2-40B4-BE49-F238E27FC236}">
                <a16:creationId xmlns:a16="http://schemas.microsoft.com/office/drawing/2014/main" id="{04971A83-2BA4-495B-AF2F-6919950A2C42}"/>
              </a:ext>
            </a:extLst>
          </p:cNvPr>
          <p:cNvSpPr>
            <a:spLocks noGrp="1"/>
          </p:cNvSpPr>
          <p:nvPr/>
        </p:nvSpPr>
        <p:spPr>
          <a:xfrm>
            <a:off x="4991100" y="46291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единый контракт между P1, P2, P3 и P4</a:t>
            </a:r>
          </a:p>
        </p:txBody>
      </p:sp>
      <p:sp>
        <p:nvSpPr>
          <p:cNvPr id="12" name="dark-card">
            <a:extLst>
              <a:ext uri="{FF2B5EF4-FFF2-40B4-BE49-F238E27FC236}">
                <a16:creationId xmlns:a16="http://schemas.microsoft.com/office/drawing/2014/main" id="{4D1B68AE-BA0D-48E7-BA9F-40FB3087ECFB}"/>
              </a:ext>
            </a:extLst>
          </p:cNvPr>
          <p:cNvSpPr>
            <a:spLocks noGrp="1"/>
          </p:cNvSpPr>
          <p:nvPr/>
        </p:nvSpPr>
        <p:spPr>
          <a:xfrm>
            <a:off x="8143875" y="3905250"/>
            <a:ext cx="2667000" cy="1066800"/>
          </a:xfrm>
          <a:prstGeom prst="roundRect">
            <a:avLst>
              <a:gd name="adj" fmla="val 10714"/>
            </a:avLst>
          </a:prstGeom>
          <a:solidFill>
            <a:srgbClr val="192132"/>
          </a:solidFill>
          <a:ln w="9525">
            <a:solidFill>
              <a:srgbClr val="2E3A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dark-heading">
            <a:extLst>
              <a:ext uri="{FF2B5EF4-FFF2-40B4-BE49-F238E27FC236}">
                <a16:creationId xmlns:a16="http://schemas.microsoft.com/office/drawing/2014/main" id="{83C838FD-361A-4CFD-A12E-3F0AFBBBD118}"/>
              </a:ext>
            </a:extLst>
          </p:cNvPr>
          <p:cNvSpPr>
            <a:spLocks noGrp="1"/>
          </p:cNvSpPr>
          <p:nvPr/>
        </p:nvSpPr>
        <p:spPr>
          <a:xfrm>
            <a:off x="8372475" y="4133850"/>
            <a:ext cx="2209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Для сдачи</a:t>
            </a:r>
          </a:p>
        </p:txBody>
      </p:sp>
      <p:sp>
        <p:nvSpPr>
          <p:cNvPr id="14" name="dark-body">
            <a:extLst>
              <a:ext uri="{FF2B5EF4-FFF2-40B4-BE49-F238E27FC236}">
                <a16:creationId xmlns:a16="http://schemas.microsoft.com/office/drawing/2014/main" id="{14D4994D-F273-4FD4-B526-232DF451BA00}"/>
              </a:ext>
            </a:extLst>
          </p:cNvPr>
          <p:cNvSpPr>
            <a:spLocks noGrp="1"/>
          </p:cNvSpPr>
          <p:nvPr/>
        </p:nvSpPr>
        <p:spPr>
          <a:xfrm>
            <a:off x="8372475" y="46291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DDE7F5"/>
                </a:solidFill>
              </a:defRPr>
            </a:pPr>
            <a:r>
              <a:rPr sz="1275">
                <a:solidFill>
                  <a:srgbClr val="DDE7F5"/>
                </a:solidFill>
              </a:rPr>
              <a:t>живой UI, презентация, README и отчётные файлы</a:t>
            </a:r>
          </a:p>
        </p:txBody>
      </p:sp>
      <p:sp>
        <p:nvSpPr>
          <p:cNvPr id="15" name="footer-left">
            <a:extLst>
              <a:ext uri="{FF2B5EF4-FFF2-40B4-BE49-F238E27FC236}">
                <a16:creationId xmlns:a16="http://schemas.microsoft.com/office/drawing/2014/main" id="{073D355B-BB17-4634-A037-E0060FC30457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AB6C7"/>
                </a:solidFill>
              </a:defRPr>
            </a:pPr>
            <a:r>
              <a:rPr sz="1125">
                <a:solidFill>
                  <a:srgbClr val="AAB6C7"/>
                </a:solidFill>
              </a:rPr>
              <a:t>Скажи мне, кто твой шлиф</a:t>
            </a:r>
          </a:p>
        </p:txBody>
      </p:sp>
      <p:sp>
        <p:nvSpPr>
          <p:cNvPr id="16" name="footer-number">
            <a:extLst>
              <a:ext uri="{FF2B5EF4-FFF2-40B4-BE49-F238E27FC236}">
                <a16:creationId xmlns:a16="http://schemas.microsoft.com/office/drawing/2014/main" id="{61685E23-E220-4189-8AB8-CFD34E2C9C00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AAB6C7"/>
                </a:solidFill>
              </a:defRPr>
            </a:pPr>
            <a:r>
              <a:rPr sz="1125" b="1">
                <a:solidFill>
                  <a:srgbClr val="AAB6C7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028246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Macintosh PowerPoint</Application>
  <DocSecurity>0</DocSecurity>
  <PresentationFormat>Широкоэкранный</PresentationFormat>
  <Paragraphs>263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0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2026-07-03T16:58:17Z</dcterms:created>
  <dcterms:modified xsi:type="dcterms:W3CDTF">2026-07-03T17:32:24Z</dcterms:modified>
</cp:coreProperties>
</file>